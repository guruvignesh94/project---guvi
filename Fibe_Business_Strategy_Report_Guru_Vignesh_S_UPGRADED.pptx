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dPt>
            <c:idx val="0"/>
            <c:bubble3D val="0"/>
            <c:spPr>
              <a:solidFill>
                <a:srgbClr val="00A67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0B3-4F06-80AE-F9E870A4BD3D}"/>
              </c:ext>
            </c:extLst>
          </c:dPt>
          <c:dPt>
            <c:idx val="1"/>
            <c:bubble3D val="0"/>
            <c:spPr>
              <a:solidFill>
                <a:srgbClr val="E8A31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0B3-4F06-80AE-F9E870A4BD3D}"/>
              </c:ext>
            </c:extLst>
          </c:dPt>
          <c:dPt>
            <c:idx val="2"/>
            <c:bubble3D val="0"/>
            <c:spPr>
              <a:solidFill>
                <a:srgbClr val="D948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0B3-4F06-80AE-F9E870A4BD3D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0B3-4F06-80AE-F9E870A4BD3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850">
          <a:solidFill>
            <a:srgbClr val="5C748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00A67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36B-44AE-9D66-7353DC67A12D}"/>
              </c:ext>
            </c:extLst>
          </c:dPt>
          <c:dPt>
            <c:idx val="1"/>
            <c:bubble3D val="0"/>
            <c:spPr>
              <a:solidFill>
                <a:srgbClr val="D4DEE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36B-44AE-9D66-7353DC67A12D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F22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Digital / NBFC fintech</c:v>
                </c:pt>
                <c:pt idx="1">
                  <c:v>Other NBFCs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36B-44AE-9D66-7353DC67A12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850">
          <a:solidFill>
            <a:srgbClr val="5C748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dPt>
            <c:idx val="0"/>
            <c:bubble3D val="0"/>
            <c:spPr>
              <a:solidFill>
                <a:srgbClr val="2D6CD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593-417D-BD09-6EA3EBA66950}"/>
              </c:ext>
            </c:extLst>
          </c:dPt>
          <c:dPt>
            <c:idx val="1"/>
            <c:bubble3D val="0"/>
            <c:spPr>
              <a:solidFill>
                <a:srgbClr val="9AA8B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593-417D-BD09-6EA3EBA66950}"/>
              </c:ext>
            </c:extLst>
          </c:dPt>
          <c:dPt>
            <c:idx val="2"/>
            <c:bubble3D val="0"/>
            <c:spPr>
              <a:solidFill>
                <a:srgbClr val="00A67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4593-417D-BD09-6EA3EBA66950}"/>
              </c:ext>
            </c:extLst>
          </c:dPt>
          <c:dPt>
            <c:idx val="3"/>
            <c:bubble3D val="0"/>
            <c:spPr>
              <a:solidFill>
                <a:srgbClr val="E8A31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4593-417D-BD09-6EA3EBA66950}"/>
              </c:ext>
            </c:extLst>
          </c:dPt>
          <c:dPt>
            <c:idx val="4"/>
            <c:bubble3D val="0"/>
            <c:spPr>
              <a:solidFill>
                <a:srgbClr val="7355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4593-417D-BD09-6EA3EBA66950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Navi</c:v>
                </c:pt>
                <c:pt idx="1">
                  <c:v>Moneyview</c:v>
                </c:pt>
                <c:pt idx="2">
                  <c:v>KreditBee</c:v>
                </c:pt>
                <c:pt idx="3">
                  <c:v>Fibe</c:v>
                </c:pt>
                <c:pt idx="4">
                  <c:v>Kissht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11695</c:v>
                </c:pt>
                <c:pt idx="1">
                  <c:v>10444</c:v>
                </c:pt>
                <c:pt idx="2">
                  <c:v>10102</c:v>
                </c:pt>
                <c:pt idx="3">
                  <c:v>5287</c:v>
                </c:pt>
                <c:pt idx="4">
                  <c:v>4200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593-417D-BD09-6EA3EBA6695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850">
          <a:solidFill>
            <a:srgbClr val="5C748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A67E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>
                    <a:solidFill>
                      <a:srgbClr val="0F22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</c:v>
                </c:pt>
                <c:pt idx="1">
                  <c:v>429</c:v>
                </c:pt>
                <c:pt idx="2">
                  <c:v>839</c:v>
                </c:pt>
                <c:pt idx="3">
                  <c:v>1076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8D3-4B51-8F87-727299EC0C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0"/>
          <c:min val="0"/>
        </c:scaling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50">
          <a:solidFill>
            <a:srgbClr val="5C748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5" Type="http://schemas.openxmlformats.org/officeDocument/2006/relationships/slide" Target="slide1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3.xml"/><Relationship Id="rId7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55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01168" cy="6858000"/>
          </a:xfrm>
          <a:prstGeom prst="roundRect">
            <a:avLst>
              <a:gd name="adj" fmla="val 55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2788920" cy="29260"/>
          </a:xfrm>
          <a:prstGeom prst="roundRect">
            <a:avLst>
              <a:gd name="adj" fmla="val 55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0A67E"/>
                </a:solidFill>
                <a:latin typeface="Arial"/>
              </a:rPr>
              <a:t>FINTECH  •  DIGITAL LENDING &amp; CONSUMER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91054"/>
            <a:ext cx="95097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6200" b="1" dirty="0">
                <a:solidFill>
                  <a:srgbClr val="FFFFFF"/>
                </a:solidFill>
                <a:latin typeface="Arial"/>
              </a:rPr>
              <a:t>Fibe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34054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 dirty="0">
                <a:solidFill>
                  <a:srgbClr val="7FC8B4"/>
                </a:solidFill>
                <a:latin typeface="Arial"/>
              </a:rPr>
              <a:t>formerly EarlySalary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2834640" cy="402336"/>
          </a:xfrm>
          <a:prstGeom prst="roundRect">
            <a:avLst>
              <a:gd name="adj" fmla="val 35000"/>
            </a:avLst>
          </a:prstGeom>
          <a:solidFill>
            <a:srgbClr val="14405A"/>
          </a:solidFill>
          <a:ln w="9525">
            <a:solidFill>
              <a:srgbClr val="225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0A67E"/>
                </a:solidFill>
                <a:latin typeface="Arial"/>
              </a:rPr>
              <a:t>Presented by:  Guru Vignesh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749039"/>
            <a:ext cx="2834640" cy="402336"/>
          </a:xfrm>
          <a:prstGeom prst="roundRect">
            <a:avLst>
              <a:gd name="adj" fmla="val 35000"/>
            </a:avLst>
          </a:prstGeom>
          <a:solidFill>
            <a:srgbClr val="14405A"/>
          </a:solidFill>
          <a:ln w="9525">
            <a:solidFill>
              <a:srgbClr val="225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D9C86"/>
                </a:solidFill>
                <a:latin typeface="Arial"/>
              </a:rPr>
              <a:t>Business Strategy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749039"/>
            <a:ext cx="2834640" cy="402336"/>
          </a:xfrm>
          <a:prstGeom prst="roundRect">
            <a:avLst>
              <a:gd name="adj" fmla="val 35000"/>
            </a:avLst>
          </a:prstGeom>
          <a:solidFill>
            <a:srgbClr val="14405A"/>
          </a:solidFill>
          <a:ln w="9525">
            <a:solidFill>
              <a:srgbClr val="225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6E8AA0"/>
                </a:solidFill>
                <a:latin typeface="Arial"/>
              </a:rPr>
              <a:t>Qualitative &amp; Quantitative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4748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46M+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68112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F97AC"/>
                </a:solidFill>
                <a:latin typeface="Arial"/>
              </a:rPr>
              <a:t>APP DOWNLOADS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504748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9.8M+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5468112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F97AC"/>
                </a:solidFill>
                <a:latin typeface="Arial"/>
              </a:rPr>
              <a:t>LOANS DISBURSED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4748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₹48,000Cr+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468112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F97AC"/>
                </a:solidFill>
                <a:latin typeface="Arial"/>
              </a:rPr>
              <a:t>CAPITAL DISBURSED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504748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4.6/5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5468112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F97AC"/>
                </a:solidFill>
                <a:latin typeface="Arial"/>
              </a:rPr>
              <a:t>APP RATING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937760"/>
            <a:ext cx="10561320" cy="18288"/>
          </a:xfrm>
          <a:prstGeom prst="roundRect">
            <a:avLst>
              <a:gd name="adj" fmla="val 5500"/>
            </a:avLst>
          </a:prstGeom>
          <a:solidFill>
            <a:srgbClr val="225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Jump to any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115568"/>
            <a:ext cx="11240719" cy="18288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28016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748A"/>
                </a:solidFill>
                <a:latin typeface="Arial"/>
              </a:rPr>
              <a:t>Every row below is a live link — click to jump straight to that slide.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70078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 dirty="0">
                <a:solidFill>
                  <a:srgbClr val="00A67E"/>
                </a:solidFill>
                <a:latin typeface="Arial"/>
                <a:hlinkClick r:id="rId2" action="ppaction://hlinksldjump"/>
              </a:rPr>
              <a:t>03</a:t>
            </a:r>
            <a:r>
              <a:rPr sz="1000" b="0" dirty="0">
                <a:solidFill>
                  <a:srgbClr val="0F2233"/>
                </a:solidFill>
                <a:latin typeface="Arial"/>
                <a:hlinkClick r:id="rId2" action="ppaction://hlinksldjump"/>
              </a:rPr>
              <a:t>     </a:t>
            </a:r>
            <a:r>
              <a:rPr sz="1150" b="1" dirty="0">
                <a:solidFill>
                  <a:srgbClr val="0F2233"/>
                </a:solidFill>
                <a:latin typeface="Arial"/>
                <a:hlinkClick r:id="rId2" action="ppaction://hlinksldjump"/>
              </a:rPr>
              <a:t>Company Overview &amp; Domain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 dirty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79222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5488" y="224942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  <a:hlinkClick r:id="rId3" action="ppaction://hlinksldjump"/>
              </a:rPr>
              <a:t>04</a:t>
            </a:r>
            <a:r>
              <a:rPr sz="1000" b="0">
                <a:solidFill>
                  <a:srgbClr val="0F2233"/>
                </a:solidFill>
                <a:latin typeface="Arial"/>
                <a:hlinkClick r:id="rId3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3" action="ppaction://hlinksldjump"/>
              </a:rPr>
              <a:t>Business Model &amp; Monetization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34086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5488" y="279806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  <a:hlinkClick r:id="rId4" action="ppaction://hlinksldjump"/>
              </a:rPr>
              <a:t>05</a:t>
            </a:r>
            <a:r>
              <a:rPr sz="1000" b="0">
                <a:solidFill>
                  <a:srgbClr val="0F2233"/>
                </a:solidFill>
                <a:latin typeface="Arial"/>
                <a:hlinkClick r:id="rId4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4" action="ppaction://hlinksldjump"/>
              </a:rPr>
              <a:t>Unique Selling Proposition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88950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5488" y="334670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  <a:hlinkClick r:id="rId5" action="ppaction://hlinksldjump"/>
              </a:rPr>
              <a:t>06</a:t>
            </a:r>
            <a:r>
              <a:rPr sz="1000" b="0">
                <a:solidFill>
                  <a:srgbClr val="0F2233"/>
                </a:solidFill>
                <a:latin typeface="Arial"/>
                <a:hlinkClick r:id="rId5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5" action="ppaction://hlinksldjump"/>
              </a:rPr>
              <a:t>Market Gap &amp; Problem Solved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343814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5488" y="389534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  <a:hlinkClick r:id="rId6" action="ppaction://hlinksldjump"/>
              </a:rPr>
              <a:t>07</a:t>
            </a:r>
            <a:r>
              <a:rPr sz="1000" b="0">
                <a:solidFill>
                  <a:srgbClr val="0F2233"/>
                </a:solidFill>
                <a:latin typeface="Arial"/>
                <a:hlinkClick r:id="rId6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6" action="ppaction://hlinksldjump"/>
              </a:rPr>
              <a:t>Technology &amp; AI/ML Capabilities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986783"/>
            <a:ext cx="4114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5488" y="444398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  <a:hlinkClick r:id="rId7" action="ppaction://hlinksldjump"/>
              </a:rPr>
              <a:t>08</a:t>
            </a:r>
            <a:r>
              <a:rPr sz="1000" b="0">
                <a:solidFill>
                  <a:srgbClr val="0F2233"/>
                </a:solidFill>
                <a:latin typeface="Arial"/>
                <a:hlinkClick r:id="rId7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7" action="ppaction://hlinksldjump"/>
              </a:rPr>
              <a:t>Customer Review &amp; Sentiment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453542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5488" y="499262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  <a:hlinkClick r:id="rId8" action="ppaction://hlinksldjump"/>
              </a:rPr>
              <a:t>09</a:t>
            </a:r>
            <a:r>
              <a:rPr sz="1000" b="0">
                <a:solidFill>
                  <a:srgbClr val="0F2233"/>
                </a:solidFill>
                <a:latin typeface="Arial"/>
                <a:hlinkClick r:id="rId8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8" action="ppaction://hlinksldjump"/>
              </a:rPr>
              <a:t>Competitor Benchmarking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508406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75488" y="554126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  <a:hlinkClick r:id="rId9" action="ppaction://hlinksldjump"/>
              </a:rPr>
              <a:t>10</a:t>
            </a:r>
            <a:r>
              <a:rPr sz="1000" b="0">
                <a:solidFill>
                  <a:srgbClr val="0F2233"/>
                </a:solidFill>
                <a:latin typeface="Arial"/>
                <a:hlinkClick r:id="rId9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9" action="ppaction://hlinksldjump"/>
              </a:rPr>
              <a:t>Sector / Product Coverage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63270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44768" y="170078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  <a:hlinkClick r:id="rId10" action="ppaction://hlinksldjump"/>
              </a:rPr>
              <a:t>11</a:t>
            </a:r>
            <a:r>
              <a:rPr sz="1000" b="0">
                <a:solidFill>
                  <a:srgbClr val="0F2233"/>
                </a:solidFill>
                <a:latin typeface="Arial"/>
                <a:hlinkClick r:id="rId10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10" action="ppaction://hlinksldjump"/>
              </a:rPr>
              <a:t>Market Share Comparison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179222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44768" y="224942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  <a:hlinkClick r:id="rId11" action="ppaction://hlinksldjump"/>
              </a:rPr>
              <a:t>12</a:t>
            </a:r>
            <a:r>
              <a:rPr sz="1000" b="0">
                <a:solidFill>
                  <a:srgbClr val="0F2233"/>
                </a:solidFill>
                <a:latin typeface="Arial"/>
                <a:hlinkClick r:id="rId11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11" action="ppaction://hlinksldjump"/>
              </a:rPr>
              <a:t>SWOT Analysis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234086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44768" y="279806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  <a:hlinkClick r:id="rId12" action="ppaction://hlinksldjump"/>
              </a:rPr>
              <a:t>13</a:t>
            </a:r>
            <a:r>
              <a:rPr sz="1000" b="0">
                <a:solidFill>
                  <a:srgbClr val="0F2233"/>
                </a:solidFill>
                <a:latin typeface="Arial"/>
                <a:hlinkClick r:id="rId12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12" action="ppaction://hlinksldjump"/>
              </a:rPr>
              <a:t>Key Insights &amp; Problem Areas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288950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144768" y="334670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  <a:hlinkClick r:id="rId13" action="ppaction://hlinksldjump"/>
              </a:rPr>
              <a:t>14</a:t>
            </a:r>
            <a:r>
              <a:rPr sz="1000" b="0">
                <a:solidFill>
                  <a:srgbClr val="0F2233"/>
                </a:solidFill>
                <a:latin typeface="Arial"/>
                <a:hlinkClick r:id="rId13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13" action="ppaction://hlinksldjump"/>
              </a:rPr>
              <a:t>Financial Performance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343814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44768" y="389534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  <a:hlinkClick r:id="rId14" action="ppaction://hlinksldjump"/>
              </a:rPr>
              <a:t>15</a:t>
            </a:r>
            <a:r>
              <a:rPr sz="1000" b="0">
                <a:solidFill>
                  <a:srgbClr val="0F2233"/>
                </a:solidFill>
                <a:latin typeface="Arial"/>
                <a:hlinkClick r:id="rId14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14" action="ppaction://hlinksldjump"/>
              </a:rPr>
              <a:t>Strategic Recommendations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3986783"/>
            <a:ext cx="4114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144768" y="444398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  <a:hlinkClick r:id="rId15" action="ppaction://hlinksldjump"/>
              </a:rPr>
              <a:t>16</a:t>
            </a:r>
            <a:r>
              <a:rPr sz="1000" b="0">
                <a:solidFill>
                  <a:srgbClr val="0F2233"/>
                </a:solidFill>
                <a:latin typeface="Arial"/>
                <a:hlinkClick r:id="rId15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15" action="ppaction://hlinksldjump"/>
              </a:rPr>
              <a:t>Strategic Equation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453542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44768" y="499262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31089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  <a:hlinkClick r:id="rId16" action="ppaction://hlinksldjump"/>
              </a:rPr>
              <a:t>17</a:t>
            </a:r>
            <a:r>
              <a:rPr sz="1000" b="0">
                <a:solidFill>
                  <a:srgbClr val="0F2233"/>
                </a:solidFill>
                <a:latin typeface="Arial"/>
                <a:hlinkClick r:id="rId16" action="ppaction://hlinksldjump"/>
              </a:rPr>
              <a:t>     </a:t>
            </a:r>
            <a:r>
              <a:rPr sz="1150" b="1">
                <a:solidFill>
                  <a:srgbClr val="0F2233"/>
                </a:solidFill>
                <a:latin typeface="Arial"/>
                <a:hlinkClick r:id="rId16" action="ppaction://hlinksldjump"/>
              </a:rPr>
              <a:t>Results &amp; Conclusion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5C748A"/>
                </a:solidFill>
                <a:latin typeface="Arial"/>
              </a:rPr>
              <a:t>Open section 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5084064"/>
            <a:ext cx="4114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Company Overview &amp;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FinTech → Digital Consumer Lending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70871" y="497061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42415"/>
            <a:ext cx="2670048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41148" cy="749808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88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A67E"/>
                </a:solidFill>
                <a:latin typeface="Arial"/>
              </a:rPr>
              <a:t>46M+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9105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5C748A"/>
                </a:solidFill>
                <a:latin typeface="Arial"/>
              </a:rPr>
              <a:t>App Downloads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1042415"/>
            <a:ext cx="2670048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00984" y="1133856"/>
            <a:ext cx="41148" cy="749808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3864" y="1188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D6CDF"/>
                </a:solidFill>
                <a:latin typeface="Arial"/>
              </a:rPr>
              <a:t>9.8M+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159105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5C748A"/>
                </a:solidFill>
                <a:latin typeface="Arial"/>
              </a:rPr>
              <a:t>Loans Disbursed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1042415"/>
            <a:ext cx="2670048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26479" y="1133856"/>
            <a:ext cx="41148" cy="74980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1188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8A317"/>
                </a:solidFill>
                <a:latin typeface="Arial"/>
              </a:rPr>
              <a:t>₹48,000Cr+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159105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5C748A"/>
                </a:solidFill>
                <a:latin typeface="Arial"/>
              </a:rPr>
              <a:t>Total Capital Disbursed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042415"/>
            <a:ext cx="2670048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51976" y="1133856"/>
            <a:ext cx="41148" cy="749808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4855" y="1188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7355C9"/>
                </a:solidFill>
                <a:latin typeface="Arial"/>
              </a:rPr>
              <a:t>$90M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159105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5C748A"/>
                </a:solidFill>
                <a:latin typeface="Arial"/>
              </a:rPr>
              <a:t>Series E funding in 2024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2157984"/>
            <a:ext cx="5532120" cy="38770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75488" y="2249424"/>
            <a:ext cx="41148" cy="3694176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232257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233"/>
                </a:solidFill>
                <a:latin typeface="Arial"/>
              </a:rPr>
              <a:t>Core Domain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" y="2651760"/>
            <a:ext cx="5120640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279806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278434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Domain:  </a:t>
            </a:r>
            <a:r>
              <a:rPr sz="1000" b="0">
                <a:solidFill>
                  <a:srgbClr val="5C748A"/>
                </a:solidFill>
                <a:latin typeface="Arial"/>
              </a:rPr>
              <a:t>FinTech → Digital Consumer Lending.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330098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" y="328726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Founded:  </a:t>
            </a:r>
            <a:r>
              <a:rPr sz="1000" b="0">
                <a:solidFill>
                  <a:srgbClr val="5C748A"/>
                </a:solidFill>
                <a:latin typeface="Arial"/>
              </a:rPr>
              <a:t>2015 by Akshay Mehrotra &amp; Ashish Goyal as EarlySalary.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380390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379018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Rebranded:  </a:t>
            </a:r>
            <a:r>
              <a:rPr sz="1000" b="0">
                <a:solidFill>
                  <a:srgbClr val="5C748A"/>
                </a:solidFill>
                <a:latin typeface="Arial"/>
              </a:rPr>
              <a:t>to Fibe in March 2023.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430682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" y="429310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Instant Liquidity:  </a:t>
            </a:r>
            <a:r>
              <a:rPr sz="1000" b="0">
                <a:solidFill>
                  <a:srgbClr val="5C748A"/>
                </a:solidFill>
                <a:latin typeface="Arial"/>
              </a:rPr>
              <a:t>High demand for short-term credit.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480974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" y="479602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RBI Compliance:  </a:t>
            </a:r>
            <a:r>
              <a:rPr sz="1000" b="0">
                <a:solidFill>
                  <a:srgbClr val="5C748A"/>
                </a:solidFill>
                <a:latin typeface="Arial"/>
              </a:rPr>
              <a:t>Operating under RBI digital lending rules.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531266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" y="529894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Smartphone Expansion:  </a:t>
            </a:r>
            <a:r>
              <a:rPr sz="1000" b="0">
                <a:solidFill>
                  <a:srgbClr val="5C748A"/>
                </a:solidFill>
                <a:latin typeface="Arial"/>
              </a:rPr>
              <a:t>Widespread UPI and app adoption.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2157984"/>
            <a:ext cx="5532120" cy="38770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90488" y="2249424"/>
            <a:ext cx="41148" cy="3694176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91656" y="232257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233"/>
                </a:solidFill>
                <a:latin typeface="Arial"/>
              </a:rPr>
              <a:t>Product Portfolio &amp; Target Segment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91656" y="2651760"/>
            <a:ext cx="5120640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91656" y="279806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278434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Key Products:  </a:t>
            </a:r>
            <a:r>
              <a:rPr sz="1000" b="0">
                <a:solidFill>
                  <a:srgbClr val="5C748A"/>
                </a:solidFill>
                <a:latin typeface="Arial"/>
              </a:rPr>
              <a:t>Instant Personal Loans, FDs, Cards, MF Loans.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1656" y="330098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328726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Impact Financing:  </a:t>
            </a:r>
            <a:r>
              <a:rPr sz="1000" b="0">
                <a:solidFill>
                  <a:srgbClr val="5C748A"/>
                </a:solidFill>
                <a:latin typeface="Arial"/>
              </a:rPr>
              <a:t>Healthcare, Education, Insurance BNPL.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1656" y="380390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4" y="379018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Core Target:  </a:t>
            </a:r>
            <a:r>
              <a:rPr sz="1000" b="0">
                <a:solidFill>
                  <a:srgbClr val="5C748A"/>
                </a:solidFill>
                <a:latin typeface="Arial"/>
              </a:rPr>
              <a:t>Young salaried working professionals.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1656" y="430682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7104" y="4293108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Emerging Segments:  </a:t>
            </a:r>
            <a:r>
              <a:rPr sz="1000" b="0">
                <a:solidFill>
                  <a:srgbClr val="5C748A"/>
                </a:solidFill>
                <a:latin typeface="Arial"/>
              </a:rPr>
              <a:t>New-to-credit digital consumers.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91656" y="4956048"/>
            <a:ext cx="987552" cy="292608"/>
          </a:xfrm>
          <a:prstGeom prst="roundRect">
            <a:avLst>
              <a:gd name="adj" fmla="val 40000"/>
            </a:avLst>
          </a:prstGeom>
          <a:solidFill>
            <a:srgbClr val="EAF1F7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00A67E"/>
                </a:solidFill>
                <a:latin typeface="Arial"/>
              </a:rPr>
              <a:t>Instant personal loans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34072" y="4956048"/>
            <a:ext cx="987552" cy="292608"/>
          </a:xfrm>
          <a:prstGeom prst="roundRect">
            <a:avLst>
              <a:gd name="adj" fmla="val 40000"/>
            </a:avLst>
          </a:prstGeom>
          <a:solidFill>
            <a:srgbClr val="EAF1F7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2D6CDF"/>
                </a:solidFill>
                <a:latin typeface="Arial"/>
              </a:rPr>
              <a:t>Fixed deposits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76488" y="4956048"/>
            <a:ext cx="987552" cy="292608"/>
          </a:xfrm>
          <a:prstGeom prst="roundRect">
            <a:avLst>
              <a:gd name="adj" fmla="val 40000"/>
            </a:avLst>
          </a:prstGeom>
          <a:solidFill>
            <a:srgbClr val="EAF1F7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7355C9"/>
                </a:solidFill>
                <a:latin typeface="Arial"/>
              </a:rPr>
              <a:t>Co-branded cards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18904" y="4956048"/>
            <a:ext cx="987552" cy="292608"/>
          </a:xfrm>
          <a:prstGeom prst="roundRect">
            <a:avLst>
              <a:gd name="adj" fmla="val 40000"/>
            </a:avLst>
          </a:prstGeom>
          <a:solidFill>
            <a:srgbClr val="EAF1F7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E8A317"/>
                </a:solidFill>
                <a:latin typeface="Arial"/>
              </a:rPr>
              <a:t>MF loans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61320" y="4956048"/>
            <a:ext cx="987552" cy="292608"/>
          </a:xfrm>
          <a:prstGeom prst="roundRect">
            <a:avLst>
              <a:gd name="adj" fmla="val 40000"/>
            </a:avLst>
          </a:prstGeom>
          <a:solidFill>
            <a:srgbClr val="EAF1F7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05705A"/>
                </a:solidFill>
                <a:latin typeface="Arial"/>
              </a:rPr>
              <a:t>Impact BNPL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3 / 16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Business Model &amp; Monetization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How money flows in and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1216" y="386949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00584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233"/>
                </a:solidFill>
                <a:latin typeface="Arial"/>
              </a:rPr>
              <a:t>Platform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280160"/>
            <a:ext cx="2468880" cy="566928"/>
          </a:xfrm>
          <a:prstGeom prst="roundRect">
            <a:avLst>
              <a:gd name="adj" fmla="val 14000"/>
            </a:avLst>
          </a:prstGeom>
          <a:solidFill>
            <a:srgbClr val="EAF2F8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Customer App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80944" y="1481328"/>
            <a:ext cx="310896" cy="182880"/>
          </a:xfrm>
          <a:prstGeom prst="rightArrow">
            <a:avLst/>
          </a:prstGeom>
          <a:solidFill>
            <a:srgbClr val="9F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46704" y="1280160"/>
            <a:ext cx="2468880" cy="566928"/>
          </a:xfrm>
          <a:prstGeom prst="roundRect">
            <a:avLst>
              <a:gd name="adj" fmla="val 14000"/>
            </a:avLst>
          </a:prstGeom>
          <a:solidFill>
            <a:srgbClr val="EAF2F8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Digital KYC &amp;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Underwriting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52160" y="1481328"/>
            <a:ext cx="310896" cy="182880"/>
          </a:xfrm>
          <a:prstGeom prst="rightArrow">
            <a:avLst/>
          </a:prstGeom>
          <a:solidFill>
            <a:srgbClr val="9F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468880" cy="566928"/>
          </a:xfrm>
          <a:prstGeom prst="roundRect">
            <a:avLst>
              <a:gd name="adj" fmla="val 14000"/>
            </a:avLst>
          </a:prstGeom>
          <a:solidFill>
            <a:srgbClr val="EAF2F8"/>
          </a:solidFill>
          <a:ln w="9525">
            <a:solidFill>
              <a:srgbClr val="735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Regulated NBFC /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Bank Partner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23376" y="1481328"/>
            <a:ext cx="310896" cy="182880"/>
          </a:xfrm>
          <a:prstGeom prst="rightArrow">
            <a:avLst/>
          </a:prstGeom>
          <a:solidFill>
            <a:srgbClr val="9F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89136" y="1280160"/>
            <a:ext cx="2468880" cy="566928"/>
          </a:xfrm>
          <a:prstGeom prst="roundRect">
            <a:avLst>
              <a:gd name="adj" fmla="val 14000"/>
            </a:avLst>
          </a:prstGeom>
          <a:solidFill>
            <a:srgbClr val="EAF2F8"/>
          </a:solidFill>
          <a:ln w="9525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Instant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Disbursement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103120"/>
            <a:ext cx="55321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5488" y="2194560"/>
            <a:ext cx="41148" cy="3749039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226771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233"/>
                </a:solidFill>
                <a:latin typeface="Arial"/>
              </a:rPr>
              <a:t>Revenue Drivers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2596896"/>
            <a:ext cx="5120640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274320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2729484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Interest Income:  </a:t>
            </a:r>
            <a:r>
              <a:rPr sz="1000" b="0">
                <a:solidFill>
                  <a:srgbClr val="5C748A"/>
                </a:solidFill>
                <a:latin typeface="Arial"/>
              </a:rPr>
              <a:t>Margins on co-lended or originated loans.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29184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3278124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Processing Fees:  </a:t>
            </a:r>
            <a:r>
              <a:rPr sz="1000" b="0">
                <a:solidFill>
                  <a:srgbClr val="5C748A"/>
                </a:solidFill>
                <a:latin typeface="Arial"/>
              </a:rPr>
              <a:t>Origination and digital documentation charges.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384048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3826764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Merchant Commissions:  </a:t>
            </a:r>
            <a:r>
              <a:rPr sz="1000" b="0">
                <a:solidFill>
                  <a:srgbClr val="5C748A"/>
                </a:solidFill>
                <a:latin typeface="Arial"/>
              </a:rPr>
              <a:t>Subsidies from checkout partners.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438912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" y="4375404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Distribution Yield:  </a:t>
            </a:r>
            <a:r>
              <a:rPr sz="1000" b="0">
                <a:solidFill>
                  <a:srgbClr val="5C748A"/>
                </a:solidFill>
                <a:latin typeface="Arial"/>
              </a:rPr>
              <a:t>Referral revenue on FDs &amp; Credit Cards.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513892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Four independent income lines — lending margin, origination fee, checkout subsidy and distribution yield.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2103120"/>
            <a:ext cx="55321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90488" y="2194560"/>
            <a:ext cx="41148" cy="3749039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226771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233"/>
                </a:solidFill>
                <a:latin typeface="Arial"/>
              </a:rPr>
              <a:t>Major Cost Drivers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91656" y="2596896"/>
            <a:ext cx="5120640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91656" y="274320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2729484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Capital Cost:  </a:t>
            </a:r>
            <a:r>
              <a:rPr sz="1000" b="0">
                <a:solidFill>
                  <a:srgbClr val="5C748A"/>
                </a:solidFill>
                <a:latin typeface="Arial"/>
              </a:rPr>
              <a:t>Borrowing rates for capital deployment.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329184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3278124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Credit Loss:  </a:t>
            </a:r>
            <a:r>
              <a:rPr sz="1000" b="0">
                <a:solidFill>
                  <a:srgbClr val="5C748A"/>
                </a:solidFill>
                <a:latin typeface="Arial"/>
              </a:rPr>
              <a:t>Default provisions &amp; bad debt write-offs.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384048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3826764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User Acquisition:  </a:t>
            </a:r>
            <a:r>
              <a:rPr sz="1000" b="0">
                <a:solidFill>
                  <a:srgbClr val="5C748A"/>
                </a:solidFill>
                <a:latin typeface="Arial"/>
              </a:rPr>
              <a:t>Performance marketing &amp; ads.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438912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7104" y="4375404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2233"/>
                </a:solidFill>
                <a:latin typeface="Arial"/>
              </a:rPr>
              <a:t>Tech Stack:  </a:t>
            </a:r>
            <a:r>
              <a:rPr sz="1000" b="0">
                <a:solidFill>
                  <a:srgbClr val="5C748A"/>
                </a:solidFill>
                <a:latin typeface="Arial"/>
              </a:rPr>
              <a:t>Cloud infrastructure, APIs &amp; cyber-defense.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513892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Capital cost and credit loss scale with the book — the key levers on unit economics.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4 / 16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Unique Selling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Brand transformation &amp; differentiators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23576" y="402336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42415"/>
            <a:ext cx="11237976" cy="1188720"/>
          </a:xfrm>
          <a:prstGeom prst="roundRect">
            <a:avLst>
              <a:gd name="adj" fmla="val 7000"/>
            </a:avLst>
          </a:prstGeom>
          <a:solidFill>
            <a:srgbClr val="E4F7F1"/>
          </a:solidFill>
          <a:ln w="9525">
            <a:solidFill>
              <a:srgbClr val="BFE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41148" cy="100584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188720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5705A"/>
                </a:solidFill>
                <a:latin typeface="Arial"/>
              </a:rPr>
              <a:t>Brand Transformation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463040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EarlySalary (2015) focused on short-term wage advances. Rebranded to Fibe (2023) to position as a full-suite digital financial companion offering investments, credit cards, and purpose-driven BNPL.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468880"/>
            <a:ext cx="26700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5488" y="2560320"/>
            <a:ext cx="41148" cy="1938527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6656" y="265176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0A67E"/>
                </a:solidFill>
                <a:latin typeface="Arial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2552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233"/>
                </a:solidFill>
                <a:latin typeface="Arial"/>
              </a:rPr>
              <a:t>Speed &amp;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584448"/>
            <a:ext cx="2304288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C748A"/>
                </a:solidFill>
                <a:latin typeface="Arial"/>
              </a:rPr>
              <a:t>Instant credit decisioning in under 3 minutes.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0984" y="2468880"/>
            <a:ext cx="26700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00984" y="2560320"/>
            <a:ext cx="41148" cy="1938527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02152" y="265176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D6CDF"/>
                </a:solidFill>
                <a:latin typeface="Arial"/>
              </a:rPr>
              <a:t>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32552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233"/>
                </a:solidFill>
                <a:latin typeface="Arial"/>
              </a:rPr>
              <a:t>Zero Foreclosure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3584448"/>
            <a:ext cx="2304288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C748A"/>
                </a:solidFill>
                <a:latin typeface="Arial"/>
              </a:rPr>
              <a:t>No foreclosure penalties on personal loans.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2468880"/>
            <a:ext cx="26700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79" y="2560320"/>
            <a:ext cx="41148" cy="1938527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27647" y="265176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355C9"/>
                </a:solidFill>
                <a:latin typeface="Arial"/>
              </a:rPr>
              <a:t>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7" y="32552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233"/>
                </a:solidFill>
                <a:latin typeface="Arial"/>
              </a:rPr>
              <a:t>Numberless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7" y="3584448"/>
            <a:ext cx="2304288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C748A"/>
                </a:solidFill>
                <a:latin typeface="Arial"/>
              </a:rPr>
              <a:t>Co-branded Axis Bank card with top-tier security.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2468880"/>
            <a:ext cx="26700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51976" y="2560320"/>
            <a:ext cx="41148" cy="1938527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53144" y="265176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E8A317"/>
                </a:solidFill>
                <a:latin typeface="Arial"/>
              </a:rPr>
              <a:t>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32552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233"/>
                </a:solidFill>
                <a:latin typeface="Arial"/>
              </a:rPr>
              <a:t>Conversational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3584448"/>
            <a:ext cx="2304288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C748A"/>
                </a:solidFill>
                <a:latin typeface="Arial"/>
              </a:rPr>
              <a:t>Frictionless onboarding with minimal questions.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" y="4773168"/>
            <a:ext cx="11237976" cy="1243584"/>
          </a:xfrm>
          <a:prstGeom prst="roundRect">
            <a:avLst>
              <a:gd name="adj" fmla="val 7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" y="4919472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Why it compounds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5175504"/>
            <a:ext cx="1078992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C748A"/>
                </a:solidFill>
                <a:latin typeface="Arial"/>
              </a:rPr>
              <a:t>Speed converts the borrower, zero foreclosure removes the exit penalty, the numberless card deepens trust and the conversational UI keeps onboarding short — four levers pulling in the same direction on acquisition, retention and cross-sell.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5 / 16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Market Gap &amp; Problem 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Traditional friction → digital innovation → customer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82351" y="434340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42415"/>
            <a:ext cx="3630168" cy="4974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41148" cy="4791456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207008"/>
            <a:ext cx="3227832" cy="310896"/>
          </a:xfrm>
          <a:prstGeom prst="roundRect">
            <a:avLst>
              <a:gd name="adj" fmla="val 3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Arial"/>
              </a:rPr>
              <a:t>TRADITIONAL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62763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233"/>
                </a:solidFill>
                <a:latin typeface="Arial"/>
              </a:rPr>
              <a:t>Before Fibe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1975104"/>
            <a:ext cx="3227832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6656" y="2139696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D9483B"/>
                </a:solidFill>
                <a:latin typeface="Arial"/>
              </a:rPr>
              <a:t>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13055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Lengthy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340864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Branch visits with multi-day approval delays.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07238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D9483B"/>
                </a:solidFill>
                <a:latin typeface="Arial"/>
              </a:rPr>
              <a:t>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063240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Heavy Paperwork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273552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Manual tax returns and printed salary slips.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4005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D9483B"/>
                </a:solidFill>
                <a:latin typeface="Arial"/>
              </a:rPr>
              <a:t>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995928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Rigid Eligibility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206240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High rejection rates for new-to-credit youth.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493776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D9483B"/>
                </a:solidFill>
                <a:latin typeface="Arial"/>
              </a:rPr>
              <a:t>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92861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High Short-Term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138928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Exorbitant credit card rollover fees.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23944" y="3383280"/>
            <a:ext cx="164592" cy="274320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06824" y="1042415"/>
            <a:ext cx="3630168" cy="4974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306824" y="1133856"/>
            <a:ext cx="41148" cy="4791456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07992" y="1207008"/>
            <a:ext cx="3227832" cy="310896"/>
          </a:xfrm>
          <a:prstGeom prst="roundRect">
            <a:avLst>
              <a:gd name="adj" fmla="val 3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Arial"/>
              </a:rPr>
              <a:t>DIGITAL INNOVATION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162763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233"/>
                </a:solidFill>
                <a:latin typeface="Arial"/>
              </a:rPr>
              <a:t>What Fibe Has Done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7992" y="1975104"/>
            <a:ext cx="3227832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507992" y="2139696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D6CDF"/>
                </a:solidFill>
                <a:latin typeface="Arial"/>
              </a:rPr>
              <a:t>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213055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100% Digital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0328" y="2340864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Instant loan disbursement within minutes.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07992" y="307238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D6CDF"/>
                </a:solidFill>
                <a:latin typeface="Arial"/>
              </a:rPr>
              <a:t>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0328" y="3063240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Paperless KYC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0328" y="3273552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Automated DigiLocker identity verification.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07992" y="4005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D6CDF"/>
                </a:solidFill>
                <a:latin typeface="Arial"/>
              </a:rPr>
              <a:t>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3995928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Alternative Scoring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0328" y="4206240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Proprietary social and credit risk models.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07992" y="493776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D6CDF"/>
                </a:solidFill>
                <a:latin typeface="Arial"/>
              </a:rPr>
              <a:t>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0328" y="492861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Flexible Tenures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0328" y="5138928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Transparent 6 to 36-month loan options.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955280" y="3383280"/>
            <a:ext cx="164592" cy="274320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138160" y="1042415"/>
            <a:ext cx="3630168" cy="4974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138160" y="1133856"/>
            <a:ext cx="41148" cy="4791456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339328" y="1207008"/>
            <a:ext cx="3227832" cy="310896"/>
          </a:xfrm>
          <a:prstGeom prst="roundRect">
            <a:avLst>
              <a:gd name="adj" fmla="val 3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Arial"/>
              </a:rPr>
              <a:t>IMPACT &amp; BENEFITS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8" y="162763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233"/>
                </a:solidFill>
                <a:latin typeface="Arial"/>
              </a:rPr>
              <a:t>Customer Value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9328" y="1975104"/>
            <a:ext cx="3227832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339328" y="2139696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A67E"/>
                </a:solidFill>
                <a:latin typeface="Arial"/>
              </a:rPr>
              <a:t>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41664" y="213055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Instant Speed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41664" y="2340864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Direct mobile cash access without branch visits.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39328" y="3072384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A67E"/>
                </a:solidFill>
                <a:latin typeface="Arial"/>
              </a:rPr>
              <a:t>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41664" y="3063240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Zero Documentation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41664" y="3273552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Elimination of physical paper submissions.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39328" y="4005072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A67E"/>
                </a:solidFill>
                <a:latin typeface="Arial"/>
              </a:rPr>
              <a:t>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41664" y="3995928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Financial Inclusion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41664" y="4206240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Credit access for first-time young borrowers.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9328" y="493776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A67E"/>
                </a:solidFill>
                <a:latin typeface="Arial"/>
              </a:rPr>
              <a:t>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41664" y="492861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233"/>
                </a:solidFill>
                <a:latin typeface="Arial"/>
              </a:rPr>
              <a:t>Cost Savings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41664" y="5138928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Predictable, manageable monthly installments.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6 / 16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Technology &amp; AI / ML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Core tech stack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1216" y="427940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42415"/>
            <a:ext cx="78181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41148" cy="475488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179575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A67E"/>
                </a:solidFill>
                <a:latin typeface="Arial"/>
              </a:rP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143000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233"/>
                </a:solidFill>
                <a:latin typeface="Arial"/>
              </a:rPr>
              <a:t>ML Underwriting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1371600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5C748A"/>
                </a:solidFill>
                <a:latin typeface="Arial"/>
              </a:rPr>
              <a:t>Algorithmic real-time credit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1801367"/>
            <a:ext cx="78181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5488" y="1892807"/>
            <a:ext cx="41148" cy="475488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" y="1938527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6CD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1901951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233"/>
                </a:solidFill>
                <a:latin typeface="Arial"/>
              </a:rPr>
              <a:t>Automated KYC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130551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5C748A"/>
                </a:solidFill>
                <a:latin typeface="Arial"/>
              </a:rPr>
              <a:t>OTP &amp; DigiLocker API integrations.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560320"/>
            <a:ext cx="78181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5488" y="2651760"/>
            <a:ext cx="41148" cy="475488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2697479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355C9"/>
                </a:solidFill>
                <a:latin typeface="Arial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2660903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233"/>
                </a:solidFill>
                <a:latin typeface="Arial"/>
              </a:rPr>
              <a:t>Fraud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2889503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5C748A"/>
                </a:solidFill>
                <a:latin typeface="Arial"/>
              </a:rPr>
              <a:t>Behavioral signals &amp; anti-synthetic fraud algorithms.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319272"/>
            <a:ext cx="78181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5488" y="3410712"/>
            <a:ext cx="41148" cy="47548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" y="3456432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A317"/>
                </a:solidFill>
                <a:latin typeface="Arial"/>
              </a:rPr>
              <a:t>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419856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233"/>
                </a:solidFill>
                <a:latin typeface="Arial"/>
              </a:rPr>
              <a:t>API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648456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5C748A"/>
                </a:solidFill>
                <a:latin typeface="Arial"/>
              </a:rPr>
              <a:t>Seamless integration with NBFC co-lending nodes.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078224"/>
            <a:ext cx="78181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5488" y="4169663"/>
            <a:ext cx="41148" cy="475488"/>
          </a:xfrm>
          <a:prstGeom prst="roundRect">
            <a:avLst>
              <a:gd name="adj" fmla="val 50000"/>
            </a:avLst>
          </a:prstGeom>
          <a:solidFill>
            <a:srgbClr val="0E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8368" y="421538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8C8C"/>
                </a:solidFill>
                <a:latin typeface="Arial"/>
              </a:rPr>
              <a:t>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4178808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233"/>
                </a:solidFill>
                <a:latin typeface="Arial"/>
              </a:rPr>
              <a:t>Conversational UI &amp; Chatbots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407408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5C748A"/>
                </a:solidFill>
                <a:latin typeface="Arial"/>
              </a:rPr>
              <a:t>Frictionless onboarding with fewer input fields for fast completion.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6488" y="1042415"/>
            <a:ext cx="3236976" cy="4443984"/>
          </a:xfrm>
          <a:prstGeom prst="roundRect">
            <a:avLst>
              <a:gd name="adj" fmla="val 6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95944" y="1261872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0A67E"/>
                </a:solidFill>
                <a:latin typeface="Arial"/>
              </a:rPr>
              <a:t>AUTOMATION AT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5944" y="1536192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9.8M+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5944" y="2066543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FB6C8"/>
                </a:solidFill>
                <a:latin typeface="Arial"/>
              </a:rPr>
              <a:t>Automated Loans Disbursed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95944" y="2395728"/>
            <a:ext cx="2788920" cy="13716"/>
          </a:xfrm>
          <a:prstGeom prst="roundRect">
            <a:avLst>
              <a:gd name="adj" fmla="val 5500"/>
            </a:avLst>
          </a:prstGeom>
          <a:solidFill>
            <a:srgbClr val="2C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95944" y="2578608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7967" y="2578608"/>
            <a:ext cx="259689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D6E3EC"/>
                </a:solidFill>
                <a:latin typeface="Arial"/>
              </a:rPr>
              <a:t>Real-time bureau pull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2999232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7" y="2999232"/>
            <a:ext cx="259689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D6E3EC"/>
                </a:solidFill>
                <a:latin typeface="Arial"/>
              </a:rPr>
              <a:t>Anti-synthetic fraud screen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95944" y="3419856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7967" y="3419856"/>
            <a:ext cx="259689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D6E3EC"/>
                </a:solidFill>
                <a:latin typeface="Arial"/>
              </a:rPr>
              <a:t>Co-lending API rails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95944" y="3840480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7967" y="3840480"/>
            <a:ext cx="259689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D6E3EC"/>
                </a:solidFill>
                <a:latin typeface="Arial"/>
              </a:rPr>
              <a:t>Sub-3-minute decision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95944" y="4443984"/>
            <a:ext cx="2788920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9FB6C8"/>
                </a:solidFill>
                <a:latin typeface="Arial"/>
              </a:rPr>
              <a:t>The stack is the moat: every layer cut from the process removes cost and shrinks approval time.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7 / 16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Customer Review &amp; Sentiment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dirty="0">
                <a:solidFill>
                  <a:srgbClr val="5C748A"/>
                </a:solidFill>
                <a:latin typeface="Arial"/>
              </a:rPr>
              <a:t>Rated at scale across app stores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82351" y="393192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42415"/>
            <a:ext cx="28529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41148" cy="7315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7043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D6CDF"/>
                </a:solidFill>
                <a:latin typeface="Arial"/>
              </a:rPr>
              <a:t>4.6 / 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5448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5C748A"/>
                </a:solidFill>
                <a:latin typeface="Arial"/>
              </a:rPr>
              <a:t>576K+ Reviews  •  Google Play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1042415"/>
            <a:ext cx="28529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93008" y="1133856"/>
            <a:ext cx="41148" cy="7315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5887" y="117043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A67E"/>
                </a:solidFill>
                <a:latin typeface="Arial"/>
              </a:rPr>
              <a:t>4.5 / 5.0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55448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5C748A"/>
                </a:solidFill>
                <a:latin typeface="Arial"/>
              </a:rPr>
              <a:t>46K+ Ratings  •  App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0256" y="1042415"/>
            <a:ext cx="1883664" cy="914400"/>
          </a:xfrm>
          <a:prstGeom prst="roundRect">
            <a:avLst>
              <a:gd name="adj" fmla="val 10000"/>
            </a:avLst>
          </a:prstGeom>
          <a:solidFill>
            <a:srgbClr val="F1F6FA"/>
          </a:solidFill>
          <a:ln w="9525">
            <a:solidFill>
              <a:srgbClr val="735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55C9"/>
                </a:solidFill>
                <a:latin typeface="Arial"/>
              </a:rPr>
              <a:t>High 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31936" y="1042415"/>
            <a:ext cx="1883664" cy="914400"/>
          </a:xfrm>
          <a:prstGeom prst="roundRect">
            <a:avLst>
              <a:gd name="adj" fmla="val 10000"/>
            </a:avLst>
          </a:prstGeom>
          <a:solidFill>
            <a:srgbClr val="F1F6FA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A67E"/>
                </a:solidFill>
                <a:latin typeface="Arial"/>
              </a:rPr>
              <a:t>Overall Strong Rating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75488" y="2157984"/>
          <a:ext cx="3529584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75488" y="4882896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C748A"/>
                </a:solidFill>
                <a:latin typeface="Arial"/>
              </a:rPr>
              <a:t>Review sentiment mix — 65% positive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2157984"/>
            <a:ext cx="2377440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34256" y="2249424"/>
            <a:ext cx="41148" cy="2779776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80560" y="2304288"/>
            <a:ext cx="2084831" cy="274320"/>
          </a:xfrm>
          <a:prstGeom prst="roundRect">
            <a:avLst>
              <a:gd name="adj" fmla="val 30000"/>
            </a:avLst>
          </a:prstGeom>
          <a:solidFill>
            <a:srgbClr val="E4F7F1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00A67E"/>
                </a:solidFill>
                <a:latin typeface="Arial"/>
              </a:rPr>
              <a:t>Positive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272491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272491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Fast instant loan disbursal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4" y="309067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309067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Paperless KYC &amp; clean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345643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345643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High approval for young NTC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822191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dirty="0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3822191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 dirty="0">
                <a:solidFill>
                  <a:srgbClr val="0F2233"/>
                </a:solidFill>
                <a:latin typeface="Arial"/>
              </a:rPr>
              <a:t>Smooth e-NACH auto-debits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418795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8" y="418795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Transparent fee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9704" y="455371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8" y="455371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Flexible repayment options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21424" y="2157984"/>
            <a:ext cx="2377440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821424" y="2249424"/>
            <a:ext cx="41148" cy="2779776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967728" y="2304288"/>
            <a:ext cx="2084831" cy="274320"/>
          </a:xfrm>
          <a:prstGeom prst="roundRect">
            <a:avLst>
              <a:gd name="adj" fmla="val 30000"/>
            </a:avLst>
          </a:prstGeom>
          <a:solidFill>
            <a:srgbClr val="FCEAE7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D9483B"/>
                </a:solidFill>
                <a:latin typeface="Arial"/>
              </a:rPr>
              <a:t>Negative Drivers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272491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3176" y="272491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8A4038"/>
                </a:solidFill>
                <a:latin typeface="Arial"/>
              </a:rPr>
              <a:t>Limit drops post-repayment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6872" y="309067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309067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8A4038"/>
                </a:solidFill>
                <a:latin typeface="Arial"/>
              </a:rPr>
              <a:t>Support bot response delays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345643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23176" y="345643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8A4038"/>
                </a:solidFill>
                <a:latin typeface="Arial"/>
              </a:rPr>
              <a:t>Aggressive collection calls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6872" y="3822191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23176" y="3822191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8A4038"/>
                </a:solidFill>
                <a:latin typeface="Arial"/>
              </a:rPr>
              <a:t>Credit bureau update lag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76872" y="418795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23176" y="418795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8A4038"/>
                </a:solidFill>
                <a:latin typeface="Arial"/>
              </a:rPr>
              <a:t>High APR vs retail banks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76872" y="455371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23176" y="455371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8A4038"/>
                </a:solidFill>
                <a:latin typeface="Arial"/>
              </a:rPr>
              <a:t>Verification selfie glitches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08592" y="2157984"/>
            <a:ext cx="2377440" cy="2962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308592" y="2249424"/>
            <a:ext cx="41148" cy="2779776"/>
          </a:xfrm>
          <a:prstGeom prst="roundRect">
            <a:avLst>
              <a:gd name="adj" fmla="val 50000"/>
            </a:avLst>
          </a:prstGeom>
          <a:solidFill>
            <a:srgbClr val="5C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454896" y="2304288"/>
            <a:ext cx="2084831" cy="274320"/>
          </a:xfrm>
          <a:prstGeom prst="roundRect">
            <a:avLst>
              <a:gd name="adj" fmla="val 30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5C748A"/>
                </a:solidFill>
                <a:latin typeface="Arial"/>
              </a:rPr>
              <a:t>Neutral Drivers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272491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C748A"/>
                </a:solidFill>
                <a:latin typeface="Arial"/>
              </a:rPr>
              <a:t>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10344" y="272491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Limit upgrade queries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309067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C748A"/>
                </a:solidFill>
                <a:latin typeface="Arial"/>
              </a:rPr>
              <a:t>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10344" y="309067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Frequent app re-logins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040" y="345643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C748A"/>
                </a:solidFill>
                <a:latin typeface="Arial"/>
              </a:rPr>
              <a:t>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10344" y="345643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Bank aggregator sync lag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64040" y="3822191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C748A"/>
                </a:solidFill>
                <a:latin typeface="Arial"/>
              </a:rPr>
              <a:t>▪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10344" y="3822191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Foreclosure &amp; NOC steps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4040" y="418795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C748A"/>
                </a:solidFill>
                <a:latin typeface="Arial"/>
              </a:rPr>
              <a:t>▪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10344" y="418795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Interest calculation details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64040" y="4553712"/>
            <a:ext cx="12801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C748A"/>
                </a:solidFill>
                <a:latin typeface="Arial"/>
              </a:rPr>
              <a:t>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10344" y="455371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0F2233"/>
                </a:solidFill>
                <a:latin typeface="Arial"/>
              </a:rPr>
              <a:t>Holiday disbursal variance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5248656"/>
            <a:ext cx="112379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Positive sentiment is concentrated on speed and onboarding; the negative cluster is pricing, servicing and post-repayment friction — exactly where the roadmap focuses.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8 / 16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Competitor Benchmarking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Fibe vs. leading digital lenders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34472" y="418039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097280"/>
          <a:ext cx="11237973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0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8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Fibe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KreditBee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Navi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CASHe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F2233"/>
                          </a:solidFill>
                          <a:latin typeface="Arial"/>
                        </a:rPr>
                        <a:t>Core Focus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Digital Credit + Products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Personal Credit + UPI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Financial SuperApp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Salaried Credit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F2233"/>
                          </a:solidFill>
                          <a:latin typeface="Arial"/>
                        </a:rPr>
                        <a:t>Loan Range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Up to ₹10 Lakh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₹6,000 - ₹10 Lakh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Up to ₹20 Lakh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₹45,000 - ₹3 Lakh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F2233"/>
                          </a:solidFill>
                          <a:latin typeface="Arial"/>
                        </a:rPr>
                        <a:t>Repayment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6 - 36 Months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6 - 60 Months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Flexible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Up to 18 Months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F2233"/>
                          </a:solidFill>
                          <a:latin typeface="Arial"/>
                        </a:rPr>
                        <a:t>Offerings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Loans, Cards, FD, MF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Personal/Business, UPI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Loans, UPI, Insurance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Personal Loans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F2233"/>
                          </a:solidFill>
                          <a:latin typeface="Arial"/>
                        </a:rPr>
                        <a:t>App Rating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~4.6 / 5.0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~4.6 / 5.0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~4.5 / 5.0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5C748A"/>
                          </a:solidFill>
                          <a:latin typeface="Arial"/>
                        </a:rPr>
                        <a:t>~4.4 / 5.0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75488" y="4663440"/>
            <a:ext cx="3630168" cy="1371600"/>
          </a:xfrm>
          <a:prstGeom prst="roundRect">
            <a:avLst>
              <a:gd name="adj" fmla="val 7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4754879"/>
            <a:ext cx="41148" cy="11887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479145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233"/>
                </a:solidFill>
                <a:latin typeface="Arial"/>
              </a:rPr>
              <a:t>Widest product breadth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65776"/>
            <a:ext cx="3310128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Loans, cards, fixed deposits, mutual-fund loans and BNPL under one 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4663440"/>
            <a:ext cx="3630168" cy="1371600"/>
          </a:xfrm>
          <a:prstGeom prst="roundRect">
            <a:avLst>
              <a:gd name="adj" fmla="val 7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06824" y="4754879"/>
            <a:ext cx="41148" cy="11887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479145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233"/>
                </a:solidFill>
                <a:latin typeface="Arial"/>
              </a:rPr>
              <a:t>Matched on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5065776"/>
            <a:ext cx="3310128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App rating on par with the category leader at ~4.6 / 5.0.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663440"/>
            <a:ext cx="3630168" cy="1371600"/>
          </a:xfrm>
          <a:prstGeom prst="roundRect">
            <a:avLst>
              <a:gd name="adj" fmla="val 7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38160" y="4754879"/>
            <a:ext cx="41148" cy="118872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79145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233"/>
                </a:solidFill>
                <a:latin typeface="Arial"/>
              </a:rPr>
              <a:t>Mid-range ticket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65776"/>
            <a:ext cx="3310128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Up to ₹10 lakh — below Navi, well above CASHe’s ceiling.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9 / 16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7.1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Sector / Product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Where Fibe plays vs. peers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82351" y="447142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042415"/>
          <a:ext cx="11237974" cy="4425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65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4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4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Sector / Product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Fibe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Moneyview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KreditBee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Navi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Kissht</a:t>
                      </a:r>
                    </a:p>
                  </a:txBody>
                  <a:tcPr marL="45720" marR="45720" marT="9144" marB="9144" anchor="ctr">
                    <a:solidFill>
                      <a:srgbClr val="0F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Personal loans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Education financing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Healthcare financing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Travel financing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E-commerce / BNPL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Solar rooftop financing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Insurance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5C748A"/>
                          </a:solidFill>
                          <a:latin typeface="Arial"/>
                        </a:rPr>
                        <a:t>Vehicle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Home loans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Business loans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Two-wheeler loans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Loan Against Property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UPI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Investments / Gold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Fixed deposits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F2233"/>
                          </a:solidFill>
                          <a:latin typeface="Arial"/>
                        </a:rPr>
                        <a:t>Loan Against Mutual Funds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05705A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B9C6D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5488" y="5925312"/>
            <a:ext cx="1123797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Fibe is the only lender in this peer set covering education, healthcare, travel, solar rooftop and loan-against-mutual-funds alongside core personal lending.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7.2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Market Share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NBFC market split &amp; FY2025 AUM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82351" y="406908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42415"/>
            <a:ext cx="4709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41148" cy="182880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1170432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India NBFC market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0080" y="1389888"/>
          <a:ext cx="23774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145536" y="151790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1504188"/>
            <a:ext cx="194767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F2233"/>
                </a:solidFill>
                <a:latin typeface="Arial"/>
              </a:rPr>
              <a:t>Digital / NBFC fintech share:  </a:t>
            </a:r>
            <a:r>
              <a:rPr sz="900" b="0">
                <a:solidFill>
                  <a:srgbClr val="5C748A"/>
                </a:solidFill>
                <a:latin typeface="Arial"/>
              </a:rPr>
              <a:t>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192024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984" y="1906524"/>
            <a:ext cx="194767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F2233"/>
                </a:solidFill>
                <a:latin typeface="Arial"/>
              </a:rPr>
              <a:t>Other NBFCs:  </a:t>
            </a:r>
            <a:r>
              <a:rPr sz="900" b="0">
                <a:solidFill>
                  <a:srgbClr val="5C748A"/>
                </a:solidFill>
                <a:latin typeface="Arial"/>
              </a:rPr>
              <a:t>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322576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984" y="2308860"/>
            <a:ext cx="194767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F2233"/>
                </a:solidFill>
                <a:latin typeface="Arial"/>
              </a:rPr>
              <a:t>Period:  </a:t>
            </a:r>
            <a:r>
              <a:rPr sz="900" b="0">
                <a:solidFill>
                  <a:srgbClr val="5C748A"/>
                </a:solidFill>
                <a:latin typeface="Arial"/>
              </a:rPr>
              <a:t>June 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182112"/>
            <a:ext cx="4709160" cy="2852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5488" y="3273552"/>
            <a:ext cx="41148" cy="2670048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31012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Digital personal lending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639312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3625596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Outstanding portfolio:  </a:t>
            </a:r>
            <a:r>
              <a:rPr sz="950" b="0">
                <a:solidFill>
                  <a:srgbClr val="5C748A"/>
                </a:solidFill>
                <a:latin typeface="Arial"/>
              </a:rPr>
              <a:t>₹1.39 lakh crore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4096512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4082796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Accounts:  </a:t>
            </a:r>
            <a:r>
              <a:rPr sz="950" b="0">
                <a:solidFill>
                  <a:srgbClr val="5C748A"/>
                </a:solidFill>
                <a:latin typeface="Arial"/>
              </a:rPr>
              <a:t>6.47 crore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553712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539996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Period:  </a:t>
            </a:r>
            <a:r>
              <a:rPr sz="950" b="0">
                <a:solidFill>
                  <a:srgbClr val="5C748A"/>
                </a:solidFill>
                <a:latin typeface="Arial"/>
              </a:rPr>
              <a:t>December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5084064"/>
            <a:ext cx="434340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0F2233"/>
                </a:solidFill>
                <a:latin typeface="Arial"/>
              </a:rPr>
              <a:t>Digital NBFCs represented 78% of personal-loan sanction volume but 19% of sanction value in Q1–Q3 FY2025–26.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67527" y="1042415"/>
            <a:ext cx="6345936" cy="4992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67527" y="1133856"/>
            <a:ext cx="41148" cy="4809744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68696" y="11887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Digital Lenders — FY2025 AUM Comparison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504688" y="1517904"/>
          <a:ext cx="3291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979408" y="1572768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C748A"/>
                </a:solidFill>
                <a:latin typeface="Arial"/>
              </a:rPr>
              <a:t>Total (approx.)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1773936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233"/>
                </a:solidFill>
                <a:latin typeface="Arial"/>
              </a:rPr>
              <a:t>₹41,728 crore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9408" y="2139696"/>
            <a:ext cx="2505456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979408" y="23134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80576" y="228600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Navi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24871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₹11,695 crore  (28.0%)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9408" y="288036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9AA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80576" y="285292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Moneyview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0576" y="305409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₹10,444 crore  (25.1%)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9408" y="34472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80576" y="341985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KreditBee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36210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₹10,102 crore  (24.2%)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79408" y="401421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80576" y="3986783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Fibe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0576" y="4187951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₹5,287 crore  (12.7%)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79408" y="45811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80576" y="455371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Kissht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0576" y="475488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748A"/>
                </a:solidFill>
                <a:latin typeface="Arial"/>
              </a:rPr>
              <a:t>~₹4,200 crore  (10.0%)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68696" y="554126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Fibe carries 12.7% of the top-five digital-lender AUM pool — behind Navi, Moneyview and KreditBee, ahead of Kissht.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SWOT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Internal capability vs. external forces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7039" y="402336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42415"/>
            <a:ext cx="5532120" cy="24140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41148" cy="2231136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188719"/>
            <a:ext cx="1874519" cy="292608"/>
          </a:xfrm>
          <a:prstGeom prst="roundRect">
            <a:avLst>
              <a:gd name="adj" fmla="val 32000"/>
            </a:avLst>
          </a:prstGeom>
          <a:solidFill>
            <a:srgbClr val="E4F7F1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A67E"/>
                </a:solidFill>
                <a:latin typeface="Arial"/>
              </a:rPr>
              <a:t>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609343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600199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Digital Scale:  </a:t>
            </a:r>
            <a:r>
              <a:rPr sz="950" b="0">
                <a:solidFill>
                  <a:srgbClr val="5C748A"/>
                </a:solidFill>
                <a:latin typeface="Arial"/>
              </a:rPr>
              <a:t>46M+ downloads with over ₹5,500+ Cr AUM.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039111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029967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AI Underwriting:  </a:t>
            </a:r>
            <a:r>
              <a:rPr sz="950" b="0">
                <a:solidFill>
                  <a:srgbClr val="5C748A"/>
                </a:solidFill>
                <a:latin typeface="Arial"/>
              </a:rPr>
              <a:t>Proprietary scorecards for thin-file NTC borrowers.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68879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459736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Corporate Tie-ups:  </a:t>
            </a:r>
            <a:r>
              <a:rPr sz="950" b="0">
                <a:solidFill>
                  <a:srgbClr val="5C748A"/>
                </a:solidFill>
                <a:latin typeface="Arial"/>
              </a:rPr>
              <a:t>350+ B2B2C enterprise HR partnerships driving low CAC.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89864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889504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Instant Onboarding:  </a:t>
            </a:r>
            <a:r>
              <a:rPr sz="950" b="0">
                <a:solidFill>
                  <a:srgbClr val="5C748A"/>
                </a:solidFill>
                <a:latin typeface="Arial"/>
              </a:rPr>
              <a:t>3-minute paperless flow via DigiLocker e-KYC.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1042415"/>
            <a:ext cx="5532120" cy="24140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08775" y="1133856"/>
            <a:ext cx="41148" cy="2231136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91655" y="1188719"/>
            <a:ext cx="1874519" cy="292608"/>
          </a:xfrm>
          <a:prstGeom prst="roundRect">
            <a:avLst>
              <a:gd name="adj" fmla="val 32000"/>
            </a:avLst>
          </a:prstGeom>
          <a:solidFill>
            <a:srgbClr val="FCEAE7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D9483B"/>
                </a:solidFill>
                <a:latin typeface="Arial"/>
              </a:rPr>
              <a:t>Weaknesses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3" y="1609343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1600199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Support Delays:  </a:t>
            </a:r>
            <a:r>
              <a:rPr sz="950" b="0">
                <a:solidFill>
                  <a:srgbClr val="5C748A"/>
                </a:solidFill>
                <a:latin typeface="Arial"/>
              </a:rPr>
              <a:t>Escalation bottlenecks during dispute resolution.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2039111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2029967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Opaque Recalibration:  </a:t>
            </a:r>
            <a:r>
              <a:rPr sz="950" b="0">
                <a:solidFill>
                  <a:srgbClr val="5C748A"/>
                </a:solidFill>
                <a:latin typeface="Arial"/>
              </a:rPr>
              <a:t>Unclear limit drops post-repayment.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3" y="2468879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4536" y="2459736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Unsecured NPA Volatility:  </a:t>
            </a:r>
            <a:r>
              <a:rPr sz="950" b="0">
                <a:solidFill>
                  <a:srgbClr val="5C748A"/>
                </a:solidFill>
                <a:latin typeface="Arial"/>
              </a:rPr>
              <a:t>Gross NPA (3.07%) requiring provisioning.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3" y="289864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9483B"/>
                </a:solidFill>
                <a:latin typeface="Arial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2889504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Bureau Update Lag:  </a:t>
            </a:r>
            <a:r>
              <a:rPr sz="950" b="0">
                <a:solidFill>
                  <a:srgbClr val="5C748A"/>
                </a:solidFill>
                <a:latin typeface="Arial"/>
              </a:rPr>
              <a:t>Delays in syncing loan closures to CIBIL.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3602735"/>
            <a:ext cx="5532120" cy="24140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75488" y="3694175"/>
            <a:ext cx="41148" cy="2231136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58368" y="3749039"/>
            <a:ext cx="1874519" cy="292608"/>
          </a:xfrm>
          <a:prstGeom prst="roundRect">
            <a:avLst>
              <a:gd name="adj" fmla="val 32000"/>
            </a:avLst>
          </a:prstGeom>
          <a:solidFill>
            <a:srgbClr val="E7EFFD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D6CDF"/>
                </a:solidFill>
                <a:latin typeface="Arial"/>
              </a:rPr>
              <a:t>Opportunities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4169663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160520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Tier-2/3 Expansion:  </a:t>
            </a:r>
            <a:r>
              <a:rPr sz="950" b="0">
                <a:solidFill>
                  <a:srgbClr val="5C748A"/>
                </a:solidFill>
                <a:latin typeface="Arial"/>
              </a:rPr>
              <a:t>High growth in emerging semi-urban markets.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4599431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590288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Superapp Evolution:  </a:t>
            </a:r>
            <a:r>
              <a:rPr sz="950" b="0">
                <a:solidFill>
                  <a:srgbClr val="5C748A"/>
                </a:solidFill>
                <a:latin typeface="Arial"/>
              </a:rPr>
              <a:t>Cross-selling co-branded credit cards &amp; insurance.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502920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5020056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Secured Credit:  </a:t>
            </a:r>
            <a:r>
              <a:rPr sz="950" b="0">
                <a:solidFill>
                  <a:srgbClr val="5C748A"/>
                </a:solidFill>
                <a:latin typeface="Arial"/>
              </a:rPr>
              <a:t>Expanding into Loans Against Mutual Funds (LAMF).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545896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6CDF"/>
                </a:solidFill>
                <a:latin typeface="Arial"/>
              </a:rPr>
              <a:t>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449824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Account Aggregator:  </a:t>
            </a:r>
            <a:r>
              <a:rPr sz="950" b="0">
                <a:solidFill>
                  <a:srgbClr val="5C748A"/>
                </a:solidFill>
                <a:latin typeface="Arial"/>
              </a:rPr>
              <a:t>Leveraging live banking data for underwriting.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08775" y="3602735"/>
            <a:ext cx="5532120" cy="24140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08775" y="3694175"/>
            <a:ext cx="41148" cy="2231136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91655" y="3749039"/>
            <a:ext cx="1874519" cy="292608"/>
          </a:xfrm>
          <a:prstGeom prst="roundRect">
            <a:avLst>
              <a:gd name="adj" fmla="val 32000"/>
            </a:avLst>
          </a:prstGeom>
          <a:solidFill>
            <a:srgbClr val="FDF3D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E8A317"/>
                </a:solidFill>
                <a:latin typeface="Arial"/>
              </a:rPr>
              <a:t>Threats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9943" y="4169663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8A317"/>
                </a:solidFill>
                <a:latin typeface="Arial"/>
              </a:rPr>
              <a:t>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4536" y="4160520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RBI Regulations:  </a:t>
            </a:r>
            <a:r>
              <a:rPr sz="950" b="0">
                <a:solidFill>
                  <a:srgbClr val="5C748A"/>
                </a:solidFill>
                <a:latin typeface="Arial"/>
              </a:rPr>
              <a:t>Capped FLDG (5%) &amp; strict digital lending norms.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9943" y="4599431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8A317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4536" y="4590288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Escalating CAC:  </a:t>
            </a:r>
            <a:r>
              <a:rPr sz="950" b="0">
                <a:solidFill>
                  <a:srgbClr val="5C748A"/>
                </a:solidFill>
                <a:latin typeface="Arial"/>
              </a:rPr>
              <a:t>Intense ad bidding from competing fintech apps.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9943" y="502920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8A317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4536" y="5020056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Bank Refinancing:  </a:t>
            </a:r>
            <a:r>
              <a:rPr sz="950" b="0">
                <a:solidFill>
                  <a:srgbClr val="5C748A"/>
                </a:solidFill>
                <a:latin typeface="Arial"/>
              </a:rPr>
              <a:t>Prime borrowers migrating to lower-cost banks.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9943" y="545896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8A317"/>
                </a:solidFill>
                <a:latin typeface="Arial"/>
              </a:rPr>
              <a:t>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4536" y="5449824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2233"/>
                </a:solidFill>
                <a:latin typeface="Arial"/>
              </a:rPr>
              <a:t>Macro Credit Stress:  </a:t>
            </a:r>
            <a:r>
              <a:rPr sz="950" b="0">
                <a:solidFill>
                  <a:srgbClr val="5C748A"/>
                </a:solidFill>
                <a:latin typeface="Arial"/>
              </a:rPr>
              <a:t>Over-leveraging risks among young borrowers.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Key Insights &amp; Problem 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What is working, and what is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88752" y="395622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42415"/>
            <a:ext cx="5532120" cy="4956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41148" cy="4773168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207008"/>
            <a:ext cx="3291840" cy="329184"/>
          </a:xfrm>
          <a:prstGeom prst="roundRect">
            <a:avLst>
              <a:gd name="adj" fmla="val 30000"/>
            </a:avLst>
          </a:prstGeom>
          <a:solidFill>
            <a:srgbClr val="E4F7F1"/>
          </a:solidFill>
          <a:ln w="9525">
            <a:solidFill>
              <a:srgbClr val="B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5705A"/>
                </a:solidFill>
                <a:latin typeface="Arial"/>
              </a:rPr>
              <a:t>Top Strengths  —  What's Working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17739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5705A"/>
                </a:solidFill>
                <a:latin typeface="Arial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182880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₹5,500+ Cr AUM with 100% digital instant loan disbursal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2377440"/>
            <a:ext cx="5120640" cy="10972"/>
          </a:xfrm>
          <a:prstGeom prst="roundRect">
            <a:avLst>
              <a:gd name="adj" fmla="val 5500"/>
            </a:avLst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6656" y="259689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5705A"/>
                </a:solidFill>
                <a:latin typeface="Arial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265176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Proprietary AI scoring enables high approval for young NTC borrowers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200400"/>
            <a:ext cx="5120640" cy="10972"/>
          </a:xfrm>
          <a:prstGeom prst="roundRect">
            <a:avLst>
              <a:gd name="adj" fmla="val 5500"/>
            </a:avLst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6656" y="34198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5705A"/>
                </a:solidFill>
                <a:latin typeface="Arial"/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47472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350+ corporate tie-ups drive low-cost B2B2C user acquisition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4023360"/>
            <a:ext cx="5120640" cy="10972"/>
          </a:xfrm>
          <a:prstGeom prst="roundRect">
            <a:avLst>
              <a:gd name="adj" fmla="val 5500"/>
            </a:avLst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6656" y="42428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5705A"/>
                </a:solidFill>
                <a:latin typeface="Arial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429768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DigiLocker integration delivers paperless 3-minute KYC onboarding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4846320"/>
            <a:ext cx="5120640" cy="10972"/>
          </a:xfrm>
          <a:prstGeom prst="roundRect">
            <a:avLst>
              <a:gd name="adj" fmla="val 5500"/>
            </a:avLst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6656" y="50657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5705A"/>
                </a:solidFill>
                <a:latin typeface="Arial"/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5" y="512064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4.4+ star app rating across 10M+ downloads signals strong UX loyalty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1042415"/>
            <a:ext cx="5532120" cy="4956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90488" y="1133856"/>
            <a:ext cx="41148" cy="4773168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91656" y="1207008"/>
            <a:ext cx="3749039" cy="329184"/>
          </a:xfrm>
          <a:prstGeom prst="roundRect">
            <a:avLst>
              <a:gd name="adj" fmla="val 30000"/>
            </a:avLst>
          </a:prstGeom>
          <a:solidFill>
            <a:srgbClr val="FCEAE7"/>
          </a:solidFill>
          <a:ln w="9525">
            <a:solidFill>
              <a:srgbClr val="F3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9483B"/>
                </a:solidFill>
                <a:latin typeface="Arial"/>
              </a:rPr>
              <a:t>Problem Areas  —  Where Improvement Needed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91656" y="17739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C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D9483B"/>
                </a:solidFill>
                <a:latin typeface="Arial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0296" y="182880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Rising write-offs &amp; Gross NPA (3.07%) in unsecured loan segment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91656" y="2377440"/>
            <a:ext cx="5120640" cy="10972"/>
          </a:xfrm>
          <a:prstGeom prst="roundRect">
            <a:avLst>
              <a:gd name="adj" fmla="val 5500"/>
            </a:avLst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91656" y="259689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C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D9483B"/>
                </a:solidFill>
                <a:latin typeface="Arial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296" y="265176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Higher interest rates compared to traditional retail bank loans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91656" y="3200400"/>
            <a:ext cx="5120640" cy="10972"/>
          </a:xfrm>
          <a:prstGeom prst="roundRect">
            <a:avLst>
              <a:gd name="adj" fmla="val 5500"/>
            </a:avLst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91656" y="34198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C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D9483B"/>
                </a:solidFill>
                <a:latin typeface="Arial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0296" y="347472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Rigid automated recovery notifications cause customer friction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91656" y="4023360"/>
            <a:ext cx="5120640" cy="10972"/>
          </a:xfrm>
          <a:prstGeom prst="roundRect">
            <a:avLst>
              <a:gd name="adj" fmla="val 5500"/>
            </a:avLst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391656" y="42428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C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D9483B"/>
                </a:solidFill>
                <a:latin typeface="Arial"/>
              </a:rP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0296" y="429768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Tightening RBI digital lending &amp; FLDG regulatory compliance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91656" y="4846320"/>
            <a:ext cx="5120640" cy="10972"/>
          </a:xfrm>
          <a:prstGeom prst="roundRect">
            <a:avLst>
              <a:gd name="adj" fmla="val 5500"/>
            </a:avLst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391656" y="50657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C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D9483B"/>
                </a:solidFill>
                <a:latin typeface="Arial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0296" y="512064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High customer acquisition cost due to aggressive fintech competition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Financial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FY2025 results &amp; revenue trajectory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82351" y="427841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24128"/>
            <a:ext cx="2670048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115568"/>
            <a:ext cx="41148" cy="877824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3385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A67E"/>
                </a:solidFill>
                <a:latin typeface="Arial"/>
              </a:rPr>
              <a:t>₹1,076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630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C748A"/>
                </a:solidFill>
                <a:latin typeface="Arial"/>
              </a:rPr>
              <a:t>Total Income (FY25)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0078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</a:rPr>
              <a:t>+51.8%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1024128"/>
            <a:ext cx="2670048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00984" y="1115568"/>
            <a:ext cx="41148" cy="877824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83864" y="113385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D6CDF"/>
                </a:solidFill>
                <a:latin typeface="Arial"/>
              </a:rPr>
              <a:t>46M+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14630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C748A"/>
                </a:solidFill>
                <a:latin typeface="Arial"/>
              </a:rPr>
              <a:t>App Downloads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170078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D6CDF"/>
                </a:solidFill>
                <a:latin typeface="Arial"/>
              </a:rPr>
              <a:t>Rapid User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1024128"/>
            <a:ext cx="2670048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6479" y="1115568"/>
            <a:ext cx="41148" cy="877824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59" y="113385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355C9"/>
                </a:solidFill>
                <a:latin typeface="Arial"/>
              </a:rPr>
              <a:t>₹11,143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14630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C748A"/>
                </a:solidFill>
                <a:latin typeface="Arial"/>
              </a:rPr>
              <a:t>Disbursements (FY25)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170078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355C9"/>
                </a:solidFill>
                <a:latin typeface="Arial"/>
              </a:rPr>
              <a:t>+17.5%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1976" y="1024128"/>
            <a:ext cx="2670048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51976" y="1115568"/>
            <a:ext cx="41148" cy="877824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4855" y="113385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A317"/>
                </a:solidFill>
                <a:latin typeface="Arial"/>
              </a:rPr>
              <a:t>₹116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5" y="14630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C748A"/>
                </a:solidFill>
                <a:latin typeface="Arial"/>
              </a:rPr>
              <a:t>PAT Profit (FY25)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5" y="170078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E8A317"/>
                </a:solidFill>
                <a:latin typeface="Arial"/>
              </a:rPr>
              <a:t>3rd Year Profitable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2249424"/>
            <a:ext cx="708660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5488" y="2340864"/>
            <a:ext cx="41148" cy="3566159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" y="2395728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Revenue Growth Trajectory (₹ Crore)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603504" y="2688336"/>
          <a:ext cx="6812280" cy="3182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7744968" y="2249424"/>
            <a:ext cx="3968496" cy="3749039"/>
          </a:xfrm>
          <a:prstGeom prst="roundRect">
            <a:avLst>
              <a:gd name="adj" fmla="val 6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46136" y="243230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7E"/>
                </a:solidFill>
                <a:latin typeface="Arial"/>
              </a:rPr>
              <a:t>Growth Drivers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6136" y="2761488"/>
            <a:ext cx="3401568" cy="13716"/>
          </a:xfrm>
          <a:prstGeom prst="roundRect">
            <a:avLst>
              <a:gd name="adj" fmla="val 5500"/>
            </a:avLst>
          </a:prstGeom>
          <a:solidFill>
            <a:srgbClr val="2C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46136" y="2926080"/>
            <a:ext cx="2011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2907792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D6E3EC"/>
                </a:solidFill>
                <a:latin typeface="Arial"/>
              </a:rPr>
              <a:t>AUM expansion to ₹5,260+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46136" y="3456432"/>
            <a:ext cx="2011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3438144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D6E3EC"/>
                </a:solidFill>
                <a:latin typeface="Arial"/>
              </a:rPr>
              <a:t>Corporate B2B2C ties (350+ enterprise HRs)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46136" y="3986784"/>
            <a:ext cx="2011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3968496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D6E3EC"/>
                </a:solidFill>
                <a:latin typeface="Arial"/>
              </a:rPr>
              <a:t>Scale in digital origination (₹11,143 Cr)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6136" y="4517136"/>
            <a:ext cx="2011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4498848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D6E3EC"/>
                </a:solidFill>
                <a:latin typeface="Arial"/>
              </a:rPr>
              <a:t>Higher net interest margins &amp; lower CAC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46136" y="5047488"/>
            <a:ext cx="2011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A67E"/>
                </a:solidFill>
                <a:latin typeface="Arial"/>
              </a:rPr>
              <a:t>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5029200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D6E3EC"/>
                </a:solidFill>
                <a:latin typeface="Arial"/>
              </a:rPr>
              <a:t>Opex efficiency down to 10.8% of AUM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46136" y="550468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60" b="0">
                <a:solidFill>
                  <a:srgbClr val="9FB6C8"/>
                </a:solidFill>
                <a:latin typeface="Arial"/>
              </a:rPr>
              <a:t>Revenue has compounded ~1.9× over two years (FY23→FY25).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Strategic Business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A three-phase execution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82351" y="435254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335024"/>
            <a:ext cx="10698480" cy="25603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4944" y="12435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1812" y="1335024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5488" y="1700784"/>
            <a:ext cx="3630168" cy="2889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5488" y="1792224"/>
            <a:ext cx="41148" cy="2706624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6656" y="1847088"/>
            <a:ext cx="3227832" cy="292608"/>
          </a:xfrm>
          <a:prstGeom prst="roundRect">
            <a:avLst>
              <a:gd name="adj" fmla="val 3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Arial"/>
              </a:rPr>
              <a:t>PHASE 1  (0-6 MONTHS)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2494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233"/>
                </a:solidFill>
                <a:latin typeface="Arial"/>
              </a:rPr>
              <a:t>Short-Term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2578608"/>
            <a:ext cx="3227832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6656" y="2743200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A67E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724912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2233"/>
                </a:solidFill>
                <a:latin typeface="Arial"/>
              </a:rPr>
              <a:t>Launch eligibility explanation dashboard.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3529584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A67E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3511296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2233"/>
                </a:solidFill>
                <a:latin typeface="Arial"/>
              </a:rPr>
              <a:t>Implement collection quality scoring.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12435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613148" y="1335024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06824" y="1700784"/>
            <a:ext cx="3630168" cy="2889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06824" y="1792224"/>
            <a:ext cx="41148" cy="2706624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07992" y="1847088"/>
            <a:ext cx="3227832" cy="292608"/>
          </a:xfrm>
          <a:prstGeom prst="roundRect">
            <a:avLst>
              <a:gd name="adj" fmla="val 3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Arial"/>
              </a:rPr>
              <a:t>PHASE 2  (6-18 MONTHS)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22494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233"/>
                </a:solidFill>
                <a:latin typeface="Arial"/>
              </a:rPr>
              <a:t>Medium-Term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2578608"/>
            <a:ext cx="3227832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07992" y="2743200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D6CDF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724912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2233"/>
                </a:solidFill>
                <a:latin typeface="Arial"/>
              </a:rPr>
              <a:t>AI Financial Assistant for cashflow insights.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07992" y="3529584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D6CDF"/>
                </a:solidFill>
                <a:latin typeface="Arial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511296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2233"/>
                </a:solidFill>
                <a:latin typeface="Arial"/>
              </a:rPr>
              <a:t>In-app Financial Wellness score.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7616" y="12435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44484" y="1335024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38160" y="1700784"/>
            <a:ext cx="3630168" cy="2889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38160" y="1792224"/>
            <a:ext cx="41148" cy="2706624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39328" y="1847088"/>
            <a:ext cx="3227832" cy="292608"/>
          </a:xfrm>
          <a:prstGeom prst="roundRect">
            <a:avLst>
              <a:gd name="adj" fmla="val 3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Arial"/>
              </a:rPr>
              <a:t>PHASE 3  (18-36 MONTHS)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22494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233"/>
                </a:solidFill>
                <a:latin typeface="Arial"/>
              </a:rPr>
              <a:t>Long-Term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9328" y="2578608"/>
            <a:ext cx="3227832" cy="137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339328" y="2743200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355C9"/>
                </a:solidFill>
                <a:latin typeface="Arial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2724912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2233"/>
                </a:solidFill>
                <a:latin typeface="Arial"/>
              </a:rPr>
              <a:t>Full Financial SuperApp ecosystem.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39328" y="3529584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355C9"/>
                </a:solidFill>
                <a:latin typeface="Arial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6" y="3511296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2233"/>
                </a:solidFill>
                <a:latin typeface="Arial"/>
              </a:rPr>
              <a:t>"Privacy as a Service" differentiator.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4773168"/>
            <a:ext cx="11237976" cy="1243584"/>
          </a:xfrm>
          <a:prstGeom prst="roundRect">
            <a:avLst>
              <a:gd name="adj" fmla="val 7000"/>
            </a:avLst>
          </a:prstGeom>
          <a:solidFill>
            <a:srgbClr val="F1F6FA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75488" y="4864607"/>
            <a:ext cx="41148" cy="1060704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4944" y="4919472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The throughline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5175504"/>
            <a:ext cx="1078992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C748A"/>
                </a:solidFill>
                <a:latin typeface="Arial"/>
              </a:rPr>
              <a:t>Phase 1 fixes trust at the two points customers complain about most — why they were rejected and how they are treated in collections. Phase 2 turns the app into an advisor. Phase 3 makes privacy and transparency the product itself.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01168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The Strategic Equation for Fibe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From loan provider to finance companion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82351" y="413682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042415"/>
            <a:ext cx="11237976" cy="1700784"/>
          </a:xfrm>
          <a:prstGeom prst="roundRect">
            <a:avLst>
              <a:gd name="adj" fmla="val 6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6384" y="1335024"/>
            <a:ext cx="1627632" cy="548640"/>
          </a:xfrm>
          <a:prstGeom prst="roundRect">
            <a:avLst>
              <a:gd name="adj" fmla="val 18000"/>
            </a:avLst>
          </a:prstGeom>
          <a:solidFill>
            <a:srgbClr val="14405A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Speed</a:t>
            </a:r>
          </a:p>
        </p:txBody>
      </p:sp>
      <p:sp>
        <p:nvSpPr>
          <p:cNvPr id="11" name="Plus 10"/>
          <p:cNvSpPr/>
          <p:nvPr/>
        </p:nvSpPr>
        <p:spPr>
          <a:xfrm>
            <a:off x="2459736" y="1490472"/>
            <a:ext cx="274320" cy="237744"/>
          </a:xfrm>
          <a:prstGeom prst="mathPlus">
            <a:avLst/>
          </a:prstGeom>
          <a:solidFill>
            <a:srgbClr val="7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98064" y="1335024"/>
            <a:ext cx="1627632" cy="548640"/>
          </a:xfrm>
          <a:prstGeom prst="roundRect">
            <a:avLst>
              <a:gd name="adj" fmla="val 18000"/>
            </a:avLst>
          </a:prstGeom>
          <a:solidFill>
            <a:srgbClr val="14405A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Technology</a:t>
            </a:r>
          </a:p>
        </p:txBody>
      </p:sp>
      <p:sp>
        <p:nvSpPr>
          <p:cNvPr id="13" name="Plus 12"/>
          <p:cNvSpPr/>
          <p:nvPr/>
        </p:nvSpPr>
        <p:spPr>
          <a:xfrm>
            <a:off x="4471416" y="1490472"/>
            <a:ext cx="274320" cy="237744"/>
          </a:xfrm>
          <a:prstGeom prst="mathPlus">
            <a:avLst/>
          </a:prstGeom>
          <a:solidFill>
            <a:srgbClr val="7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09744" y="1335024"/>
            <a:ext cx="1627632" cy="548640"/>
          </a:xfrm>
          <a:prstGeom prst="roundRect">
            <a:avLst>
              <a:gd name="adj" fmla="val 18000"/>
            </a:avLst>
          </a:prstGeom>
          <a:solidFill>
            <a:srgbClr val="14405A"/>
          </a:solidFill>
          <a:ln w="9525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Transparency</a:t>
            </a:r>
          </a:p>
        </p:txBody>
      </p:sp>
      <p:sp>
        <p:nvSpPr>
          <p:cNvPr id="15" name="Plus 14"/>
          <p:cNvSpPr/>
          <p:nvPr/>
        </p:nvSpPr>
        <p:spPr>
          <a:xfrm>
            <a:off x="6483096" y="1490472"/>
            <a:ext cx="274320" cy="237744"/>
          </a:xfrm>
          <a:prstGeom prst="mathPlus">
            <a:avLst/>
          </a:prstGeom>
          <a:solidFill>
            <a:srgbClr val="7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21424" y="1335024"/>
            <a:ext cx="1627632" cy="548640"/>
          </a:xfrm>
          <a:prstGeom prst="roundRect">
            <a:avLst>
              <a:gd name="adj" fmla="val 18000"/>
            </a:avLst>
          </a:prstGeom>
          <a:solidFill>
            <a:srgbClr val="14405A"/>
          </a:solidFill>
          <a:ln w="9525">
            <a:solidFill>
              <a:srgbClr val="735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Trust</a:t>
            </a:r>
          </a:p>
        </p:txBody>
      </p:sp>
      <p:sp>
        <p:nvSpPr>
          <p:cNvPr id="17" name="Equal 16"/>
          <p:cNvSpPr/>
          <p:nvPr/>
        </p:nvSpPr>
        <p:spPr>
          <a:xfrm>
            <a:off x="8558784" y="1453896"/>
            <a:ext cx="310896" cy="310896"/>
          </a:xfrm>
          <a:prstGeom prst="mathEqual">
            <a:avLst/>
          </a:prstGeom>
          <a:solidFill>
            <a:srgbClr val="7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34272" y="1298448"/>
            <a:ext cx="23317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0A67E"/>
                </a:solidFill>
                <a:latin typeface="Arial"/>
              </a:rPr>
              <a:t>Sustainable
Digital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0299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C7D6E1"/>
                </a:solidFill>
                <a:latin typeface="Arial"/>
              </a:rPr>
              <a:t>Fibe's evolution from an instant loan provider to a trusted digital finance companion relies on combining algorithmic speed with clear customer transparency, ethical collection, and strict data governance.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944368"/>
            <a:ext cx="2670048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5488" y="3035808"/>
            <a:ext cx="41148" cy="1261872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09067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Algorithmic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419856"/>
            <a:ext cx="2340864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C748A"/>
                </a:solidFill>
                <a:latin typeface="Arial"/>
              </a:rPr>
              <a:t>3-minute paperless decisions at 46M+ downloads.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00984" y="2944368"/>
            <a:ext cx="2670048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300984" y="3035808"/>
            <a:ext cx="41148" cy="1261872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02152" y="309067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Radical transparency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3419856"/>
            <a:ext cx="2340864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C748A"/>
                </a:solidFill>
                <a:latin typeface="Arial"/>
              </a:rPr>
              <a:t>Explain eligibility, pricing and limit changes in-app.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2944368"/>
            <a:ext cx="2670048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26479" y="3035808"/>
            <a:ext cx="41148" cy="1261872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7" y="309067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Ethical 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7" y="3419856"/>
            <a:ext cx="2340864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C748A"/>
                </a:solidFill>
                <a:latin typeface="Arial"/>
              </a:rPr>
              <a:t>Quality-scored recovery that protects the brand.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1976" y="2944368"/>
            <a:ext cx="2670048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951976" y="3035808"/>
            <a:ext cx="41148" cy="1261872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53144" y="309067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233"/>
                </a:solidFill>
                <a:latin typeface="Arial"/>
              </a:rPr>
              <a:t>Data 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144" y="3419856"/>
            <a:ext cx="2340864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C748A"/>
                </a:solidFill>
                <a:latin typeface="Arial"/>
              </a:rPr>
              <a:t>Privacy as a service, built on consent.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4572000"/>
            <a:ext cx="11237976" cy="1444752"/>
          </a:xfrm>
          <a:prstGeom prst="roundRect">
            <a:avLst>
              <a:gd name="adj" fmla="val 6000"/>
            </a:avLst>
          </a:prstGeom>
          <a:solidFill>
            <a:srgbClr val="E4F7F1"/>
          </a:solidFill>
          <a:ln w="9525">
            <a:solidFill>
              <a:srgbClr val="BF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718304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5705A"/>
                </a:solidFill>
                <a:latin typeface="Arial"/>
              </a:rPr>
              <a:t>Why transparency is the swing factor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010912"/>
            <a:ext cx="10698480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2233"/>
                </a:solidFill>
                <a:latin typeface="Arial"/>
              </a:rPr>
              <a:t>Speed and technology are already proven — they produced the 46M+ downloads and the 3-minute flow. The constraint on the next leg is trust: pricing clarity, post-repayment behaviour and collection conduct. Fix those and growth stops being bought with acquisition spend.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0" y="6437376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" y="65288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C748A"/>
                </a:solidFill>
                <a:latin typeface="Arial"/>
              </a:rPr>
              <a:t>Fibe (formerly EarlySalary)  |  Business Strategy 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3247" y="652881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>
                <a:solidFill>
                  <a:srgbClr val="5C748A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841248"/>
            <a:ext cx="12191695" cy="20116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77724" cy="841248"/>
          </a:xfrm>
          <a:prstGeom prst="roundRect">
            <a:avLst>
              <a:gd name="adj" fmla="val 55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737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233"/>
                </a:solidFill>
                <a:latin typeface="Arial"/>
              </a:rPr>
              <a:t>Results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37744"/>
            <a:ext cx="3852367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748A"/>
                </a:solidFill>
                <a:latin typeface="Arial"/>
              </a:rPr>
              <a:t>Click any card to jump to its section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82351" y="405993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9525">
            <a:solidFill>
              <a:srgbClr val="00A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100000"/>
              </a:lnSpc>
            </a:pPr>
            <a:r>
              <a:rPr sz="850" b="1" dirty="0">
                <a:solidFill>
                  <a:srgbClr val="05705A"/>
                </a:solidFill>
                <a:latin typeface="Arial"/>
                <a:hlinkClick r:id="rId2" action="ppaction://hlinksldjump"/>
              </a:rPr>
              <a:t>↩ 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95097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67E"/>
                </a:solidFill>
                <a:latin typeface="Arial"/>
              </a:rPr>
              <a:t>RESULTS  /  8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051560"/>
            <a:ext cx="9567367" cy="12801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225296"/>
            <a:ext cx="270045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1316736"/>
            <a:ext cx="41148" cy="1389888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353312"/>
            <a:ext cx="2426131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0F2233"/>
                </a:solidFill>
                <a:latin typeface="Arial"/>
                <a:hlinkClick r:id="rId3" action="ppaction://hlinksldjump"/>
              </a:rPr>
              <a:t>46M+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780" b="1">
                <a:solidFill>
                  <a:srgbClr val="5C748A"/>
                </a:solidFill>
                <a:latin typeface="Arial"/>
                <a:hlinkClick r:id="rId3" action="ppaction://hlinksldjump"/>
              </a:rPr>
              <a:t>APP DOWNLOADS</a:t>
            </a:r>
          </a:p>
          <a:p>
            <a:pPr>
              <a:lnSpc>
                <a:spcPct val="114000"/>
              </a:lnSpc>
              <a:spcBef>
                <a:spcPts val="500"/>
              </a:spcBef>
            </a:pPr>
            <a:r>
              <a:rPr sz="780" b="0">
                <a:solidFill>
                  <a:srgbClr val="6C8296"/>
                </a:solidFill>
                <a:latin typeface="Arial"/>
                <a:hlinkClick r:id="rId3" action="ppaction://hlinksldjump"/>
              </a:rPr>
              <a:t>Cumulative installs across Android and iOS storefronts, the primary acquisition channel.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50" b="1">
                <a:solidFill>
                  <a:srgbClr val="00A67E"/>
                </a:solidFill>
                <a:latin typeface="Arial"/>
                <a:hlinkClick r:id="rId3" action="ppaction://hlinksldjump"/>
              </a:rPr>
              <a:t>Go to section 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2243" y="1225296"/>
            <a:ext cx="270045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22243" y="1316736"/>
            <a:ext cx="41148" cy="1389888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1115" y="1353312"/>
            <a:ext cx="2426131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0F2233"/>
                </a:solidFill>
                <a:latin typeface="Arial"/>
                <a:hlinkClick r:id="rId3" action="ppaction://hlinksldjump"/>
              </a:rPr>
              <a:t>9.8M+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780" b="1">
                <a:solidFill>
                  <a:srgbClr val="5C748A"/>
                </a:solidFill>
                <a:latin typeface="Arial"/>
                <a:hlinkClick r:id="rId3" action="ppaction://hlinksldjump"/>
              </a:rPr>
              <a:t>LOANS DISBURSED</a:t>
            </a:r>
          </a:p>
          <a:p>
            <a:pPr>
              <a:lnSpc>
                <a:spcPct val="114000"/>
              </a:lnSpc>
              <a:spcBef>
                <a:spcPts val="500"/>
              </a:spcBef>
            </a:pPr>
            <a:r>
              <a:rPr sz="780" b="0">
                <a:solidFill>
                  <a:srgbClr val="6C8296"/>
                </a:solidFill>
                <a:latin typeface="Arial"/>
                <a:hlinkClick r:id="rId3" action="ppaction://hlinksldjump"/>
              </a:rPr>
              <a:t>Total loan tickets processed across the retail book, largely app-originated.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50" b="1">
                <a:solidFill>
                  <a:srgbClr val="2D6CDF"/>
                </a:solidFill>
                <a:latin typeface="Arial"/>
                <a:hlinkClick r:id="rId3" action="ppaction://hlinksldjump"/>
              </a:rPr>
              <a:t>Go to section 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1225296"/>
            <a:ext cx="270045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68999" y="1316736"/>
            <a:ext cx="41148" cy="138988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7871" y="1353312"/>
            <a:ext cx="2426131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0F2233"/>
                </a:solidFill>
                <a:latin typeface="Arial"/>
                <a:hlinkClick r:id="rId3" action="ppaction://hlinksldjump"/>
              </a:rPr>
              <a:t>₹48,000+ Cr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780" b="1">
                <a:solidFill>
                  <a:srgbClr val="5C748A"/>
                </a:solidFill>
                <a:latin typeface="Arial"/>
                <a:hlinkClick r:id="rId3" action="ppaction://hlinksldjump"/>
              </a:rPr>
              <a:t>CAPITAL DISBURSED</a:t>
            </a:r>
          </a:p>
          <a:p>
            <a:pPr>
              <a:lnSpc>
                <a:spcPct val="114000"/>
              </a:lnSpc>
              <a:spcBef>
                <a:spcPts val="500"/>
              </a:spcBef>
            </a:pPr>
            <a:r>
              <a:rPr sz="780" b="0">
                <a:solidFill>
                  <a:srgbClr val="6C8296"/>
                </a:solidFill>
                <a:latin typeface="Arial"/>
                <a:hlinkClick r:id="rId3" action="ppaction://hlinksldjump"/>
              </a:rPr>
              <a:t>Aggregate credit facilitated since inception, served through a fully digital journey.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50" b="1">
                <a:solidFill>
                  <a:srgbClr val="E8A317"/>
                </a:solidFill>
                <a:latin typeface="Arial"/>
                <a:hlinkClick r:id="rId3" action="ppaction://hlinksldjump"/>
              </a:rPr>
              <a:t>Go to section 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755" y="1225296"/>
            <a:ext cx="270045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15755" y="1316736"/>
            <a:ext cx="41148" cy="1389888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34627" y="1353312"/>
            <a:ext cx="2426131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000" b="1">
                <a:solidFill>
                  <a:srgbClr val="0F2233"/>
                </a:solidFill>
                <a:latin typeface="Arial"/>
                <a:hlinkClick r:id="rId4" action="ppaction://hlinksldjump"/>
              </a:rPr>
              <a:t>3-Minute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780" b="1">
                <a:solidFill>
                  <a:srgbClr val="5C748A"/>
                </a:solidFill>
                <a:latin typeface="Arial"/>
                <a:hlinkClick r:id="rId4" action="ppaction://hlinksldjump"/>
              </a:rPr>
              <a:t>DIGITAL LOAN PROCESSING</a:t>
            </a:r>
          </a:p>
          <a:p>
            <a:pPr>
              <a:lnSpc>
                <a:spcPct val="114000"/>
              </a:lnSpc>
              <a:spcBef>
                <a:spcPts val="500"/>
              </a:spcBef>
            </a:pPr>
            <a:r>
              <a:rPr sz="780" b="0">
                <a:solidFill>
                  <a:srgbClr val="6C8296"/>
                </a:solidFill>
                <a:latin typeface="Arial"/>
                <a:hlinkClick r:id="rId4" action="ppaction://hlinksldjump"/>
              </a:rPr>
              <a:t>Automated KYC, bureau pull and decisioning compress approval into a near-instant flow.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50" b="1">
                <a:solidFill>
                  <a:srgbClr val="7355C9"/>
                </a:solidFill>
                <a:latin typeface="Arial"/>
                <a:hlinkClick r:id="rId4" action="ppaction://hlinksldjump"/>
              </a:rPr>
              <a:t>Go to section  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2944368"/>
            <a:ext cx="270045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75488" y="3035808"/>
            <a:ext cx="41148" cy="1389888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072384"/>
            <a:ext cx="2426131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F2233"/>
                </a:solidFill>
                <a:latin typeface="Arial"/>
                <a:hlinkClick r:id="rId4" action="ppaction://hlinksldjump"/>
              </a:rPr>
              <a:t>AI/ML-Based Credit Underwriting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780" b="1">
                <a:solidFill>
                  <a:srgbClr val="5C748A"/>
                </a:solidFill>
                <a:latin typeface="Arial"/>
                <a:hlinkClick r:id="rId4" action="ppaction://hlinksldjump"/>
              </a:rPr>
              <a:t>DECISION ENGINE</a:t>
            </a:r>
          </a:p>
          <a:p>
            <a:pPr>
              <a:lnSpc>
                <a:spcPct val="114000"/>
              </a:lnSpc>
              <a:spcBef>
                <a:spcPts val="500"/>
              </a:spcBef>
            </a:pPr>
            <a:r>
              <a:rPr sz="780" b="0">
                <a:solidFill>
                  <a:srgbClr val="6C8296"/>
                </a:solidFill>
                <a:latin typeface="Arial"/>
                <a:hlinkClick r:id="rId4" action="ppaction://hlinksldjump"/>
              </a:rPr>
              <a:t>Model-driven risk scoring widens approvals for thin-file users while pricing risk dynamically.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50" b="1">
                <a:solidFill>
                  <a:srgbClr val="00A67E"/>
                </a:solidFill>
                <a:latin typeface="Arial"/>
                <a:hlinkClick r:id="rId4" action="ppaction://hlinksldjump"/>
              </a:rPr>
              <a:t>Go to section 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243" y="2944368"/>
            <a:ext cx="270045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22243" y="3035808"/>
            <a:ext cx="41148" cy="138988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41115" y="3072384"/>
            <a:ext cx="2426131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0F2233"/>
                </a:solidFill>
                <a:latin typeface="Arial"/>
                <a:hlinkClick r:id="rId5" action="ppaction://hlinksldjump"/>
              </a:rPr>
              <a:t>4.6/5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780" b="1">
                <a:solidFill>
                  <a:srgbClr val="5C748A"/>
                </a:solidFill>
                <a:latin typeface="Arial"/>
                <a:hlinkClick r:id="rId5" action="ppaction://hlinksldjump"/>
              </a:rPr>
              <a:t>APP RATING</a:t>
            </a:r>
          </a:p>
          <a:p>
            <a:pPr>
              <a:lnSpc>
                <a:spcPct val="114000"/>
              </a:lnSpc>
              <a:spcBef>
                <a:spcPts val="500"/>
              </a:spcBef>
            </a:pPr>
            <a:r>
              <a:rPr sz="780" b="0">
                <a:solidFill>
                  <a:srgbClr val="6C8296"/>
                </a:solidFill>
                <a:latin typeface="Arial"/>
                <a:hlinkClick r:id="rId5" action="ppaction://hlinksldjump"/>
              </a:rPr>
              <a:t>Marketplace rating sustained at scale, reflecting a friction-light servicing experience.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50" b="1">
                <a:solidFill>
                  <a:srgbClr val="E8A317"/>
                </a:solidFill>
                <a:latin typeface="Arial"/>
                <a:hlinkClick r:id="rId5" action="ppaction://hlinksldjump"/>
              </a:rPr>
              <a:t>Go to section  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8999" y="2944368"/>
            <a:ext cx="270045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68999" y="3035808"/>
            <a:ext cx="41148" cy="1389888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87871" y="3072384"/>
            <a:ext cx="2426131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F2233"/>
                </a:solidFill>
                <a:latin typeface="Arial"/>
                <a:hlinkClick r:id="rId3" action="ppaction://hlinksldjump"/>
              </a:rPr>
              <a:t>Strong presence among young &amp; new-to-credit customers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780" b="1">
                <a:solidFill>
                  <a:srgbClr val="5C748A"/>
                </a:solidFill>
                <a:latin typeface="Arial"/>
                <a:hlinkClick r:id="rId3" action="ppaction://hlinksldjump"/>
              </a:rPr>
              <a:t>CUSTOMER BASE</a:t>
            </a:r>
          </a:p>
          <a:p>
            <a:pPr>
              <a:lnSpc>
                <a:spcPct val="114000"/>
              </a:lnSpc>
              <a:spcBef>
                <a:spcPts val="500"/>
              </a:spcBef>
            </a:pPr>
            <a:r>
              <a:rPr sz="780" b="0">
                <a:solidFill>
                  <a:srgbClr val="6C8296"/>
                </a:solidFill>
                <a:latin typeface="Arial"/>
                <a:hlinkClick r:id="rId3" action="ppaction://hlinksldjump"/>
              </a:rPr>
              <a:t>Core franchise skews to early-income and first-time borrowers, a growth and inclusion tailwind.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50" b="1">
                <a:solidFill>
                  <a:srgbClr val="2D6CDF"/>
                </a:solidFill>
                <a:latin typeface="Arial"/>
                <a:hlinkClick r:id="rId3" action="ppaction://hlinksldjump"/>
              </a:rPr>
              <a:t>Go to section  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15755" y="2944368"/>
            <a:ext cx="2700451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15755" y="3035808"/>
            <a:ext cx="41148" cy="1389888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34627" y="3072384"/>
            <a:ext cx="2426131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0F2233"/>
                </a:solidFill>
                <a:latin typeface="Arial"/>
                <a:hlinkClick r:id="rId3" action="ppaction://hlinksldjump"/>
              </a:rPr>
              <a:t>Wide portfolio: Loans, Cards, FD, MF Loans &amp; BNPL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780" b="1">
                <a:solidFill>
                  <a:srgbClr val="5C748A"/>
                </a:solidFill>
                <a:latin typeface="Arial"/>
                <a:hlinkClick r:id="rId3" action="ppaction://hlinksldjump"/>
              </a:rPr>
              <a:t>PRODUCT SUITE</a:t>
            </a:r>
          </a:p>
          <a:p>
            <a:pPr>
              <a:lnSpc>
                <a:spcPct val="114000"/>
              </a:lnSpc>
              <a:spcBef>
                <a:spcPts val="500"/>
              </a:spcBef>
            </a:pPr>
            <a:r>
              <a:rPr sz="780" b="0">
                <a:solidFill>
                  <a:srgbClr val="6C8296"/>
                </a:solidFill>
                <a:latin typeface="Arial"/>
                <a:hlinkClick r:id="rId3" action="ppaction://hlinksldjump"/>
              </a:rPr>
              <a:t>Multi-product stack lifts wallet share and lets one customer relationship span credit, savings and pay-later.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50" b="1">
                <a:solidFill>
                  <a:srgbClr val="7355C9"/>
                </a:solidFill>
                <a:latin typeface="Arial"/>
                <a:hlinkClick r:id="rId3" action="ppaction://hlinksldjump"/>
              </a:rPr>
              <a:t>Go to section 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5720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6CDF"/>
                </a:solidFill>
                <a:latin typeface="Arial"/>
              </a:rPr>
              <a:t>CONCLUSION  /  5 TAKEAWAYS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95728" y="4672584"/>
            <a:ext cx="9320479" cy="12801"/>
          </a:xfrm>
          <a:prstGeom prst="roundRect">
            <a:avLst>
              <a:gd name="adj" fmla="val 55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75488" y="4791456"/>
            <a:ext cx="2138415" cy="1536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75488" y="4882896"/>
            <a:ext cx="41148" cy="1353312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216" y="4901184"/>
            <a:ext cx="1900671" cy="1353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0F2233"/>
                </a:solidFill>
                <a:latin typeface="Arial"/>
                <a:hlinkClick r:id="rId6" action="ppaction://hlinksldjump"/>
              </a:rPr>
              <a:t>Strong digital-first lending model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720" b="0">
                <a:solidFill>
                  <a:srgbClr val="6C8296"/>
                </a:solidFill>
                <a:latin typeface="Arial"/>
                <a:hlinkClick r:id="rId6" action="ppaction://hlinksldjump"/>
              </a:rPr>
              <a:t>Mobile-first acquisition and servicing are the core of a structurally lower-cost franchise.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00" b="1">
                <a:solidFill>
                  <a:srgbClr val="00A67E"/>
                </a:solidFill>
                <a:latin typeface="Arial"/>
                <a:hlinkClick r:id="rId6" action="ppaction://hlinksldjump"/>
              </a:rPr>
              <a:t>Go to section 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51063" y="4791456"/>
            <a:ext cx="2138415" cy="1536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751063" y="4882896"/>
            <a:ext cx="41148" cy="1353312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60791" y="4901184"/>
            <a:ext cx="1900671" cy="1353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0F2233"/>
                </a:solidFill>
                <a:latin typeface="Arial"/>
                <a:hlinkClick r:id="rId4" action="ppaction://hlinksldjump"/>
              </a:rPr>
              <a:t>Technology enables speed, scalability &amp; financial inclusion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720" b="0">
                <a:solidFill>
                  <a:srgbClr val="6C8296"/>
                </a:solidFill>
                <a:latin typeface="Arial"/>
                <a:hlinkClick r:id="rId4" action="ppaction://hlinksldjump"/>
              </a:rPr>
              <a:t>Automation and data pipelines expand reach faster than headcount, at a lower unit cost to serve.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00" b="1">
                <a:solidFill>
                  <a:srgbClr val="2D6CDF"/>
                </a:solidFill>
                <a:latin typeface="Arial"/>
                <a:hlinkClick r:id="rId4" action="ppaction://hlinksldjump"/>
              </a:rPr>
              <a:t>Go to section  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6639" y="4791456"/>
            <a:ext cx="2138415" cy="1536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26639" y="4882896"/>
            <a:ext cx="41148" cy="1353312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36367" y="4901184"/>
            <a:ext cx="1900671" cy="1353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0F2233"/>
                </a:solidFill>
                <a:latin typeface="Arial"/>
                <a:hlinkClick r:id="rId7" action="ppaction://hlinksldjump"/>
              </a:rPr>
              <a:t>Key improvement areas: credit risk, customer support &amp; transparency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720" b="0">
                <a:solidFill>
                  <a:srgbClr val="6C8296"/>
                </a:solidFill>
                <a:latin typeface="Arial"/>
                <a:hlinkClick r:id="rId7" action="ppaction://hlinksldjump"/>
              </a:rPr>
              <a:t>Tighter underwriting cycles, faster service resolution and clearer customer-facing disclosure of cost.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00" b="1">
                <a:solidFill>
                  <a:srgbClr val="E8A317"/>
                </a:solidFill>
                <a:latin typeface="Arial"/>
                <a:hlinkClick r:id="rId7" action="ppaction://hlinksldjump"/>
              </a:rPr>
              <a:t>Go to section  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02215" y="4791456"/>
            <a:ext cx="2138415" cy="1536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302215" y="4882896"/>
            <a:ext cx="41148" cy="1353312"/>
          </a:xfrm>
          <a:prstGeom prst="roundRect">
            <a:avLst>
              <a:gd name="adj" fmla="val 50000"/>
            </a:avLst>
          </a:prstGeom>
          <a:solidFill>
            <a:srgbClr val="73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11943" y="4901184"/>
            <a:ext cx="1900671" cy="1353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0F2233"/>
                </a:solidFill>
                <a:latin typeface="Arial"/>
                <a:hlinkClick r:id="rId8" action="ppaction://hlinksldjump"/>
              </a:rPr>
              <a:t>Increasing focus needed on regulatory compliance &amp; responsible lending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720" b="0">
                <a:solidFill>
                  <a:srgbClr val="6C8296"/>
                </a:solidFill>
                <a:latin typeface="Arial"/>
                <a:hlinkClick r:id="rId8" action="ppaction://hlinksldjump"/>
              </a:rPr>
              <a:t>Governance, fair-practice codes and collections oversight must scale with the book.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00" b="1">
                <a:solidFill>
                  <a:srgbClr val="7355C9"/>
                </a:solidFill>
                <a:latin typeface="Arial"/>
                <a:hlinkClick r:id="rId8" action="ppaction://hlinksldjump"/>
              </a:rPr>
              <a:t>Go to section  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77791" y="4791456"/>
            <a:ext cx="2138415" cy="1536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577791" y="4882896"/>
            <a:ext cx="41148" cy="1353312"/>
          </a:xfrm>
          <a:prstGeom prst="roundRect">
            <a:avLst>
              <a:gd name="adj" fmla="val 50000"/>
            </a:avLst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87519" y="4901184"/>
            <a:ext cx="1900671" cy="1353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0F2233"/>
                </a:solidFill>
                <a:latin typeface="Arial"/>
                <a:hlinkClick r:id="rId6" action="ppaction://hlinksldjump"/>
              </a:rPr>
              <a:t>Future growth depends on Technology + Transparency + Trust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720" b="0">
                <a:solidFill>
                  <a:srgbClr val="6C8296"/>
                </a:solidFill>
                <a:latin typeface="Arial"/>
                <a:hlinkClick r:id="rId6" action="ppaction://hlinksldjump"/>
              </a:rPr>
              <a:t>The three-pillar path from fast growth to durable, compliant scale.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700" b="1">
                <a:solidFill>
                  <a:srgbClr val="00A67E"/>
                </a:solidFill>
                <a:latin typeface="Arial"/>
                <a:hlinkClick r:id="rId6" action="ppaction://hlinksldjump"/>
              </a:rPr>
              <a:t>Go to section  →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2722</Words>
  <Application>Microsoft Office PowerPoint</Application>
  <PresentationFormat>Widescreen</PresentationFormat>
  <Paragraphs>659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Guru Vignesh</cp:lastModifiedBy>
  <cp:revision>3</cp:revision>
  <dcterms:created xsi:type="dcterms:W3CDTF">2013-01-27T09:14:16Z</dcterms:created>
  <dcterms:modified xsi:type="dcterms:W3CDTF">2026-09-20T09:17:01Z</dcterms:modified>
  <cp:category/>
</cp:coreProperties>
</file>