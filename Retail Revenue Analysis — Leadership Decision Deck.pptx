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511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290507"/>
            <a:ext cx="6429375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Retail Revenue Analysis for Leadership Decision Making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571500" y="2970684"/>
            <a:ext cx="8001000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Optimizing Performance Across Products, Demographics, and Territories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71500" y="4038674"/>
            <a:ext cx="8001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kern="0" spc="2" dirty="0">
                <a:solidFill>
                  <a:srgbClr val="A3D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 GURU VIGNESH | SEPTEMBER 2026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71500" y="4450556"/>
            <a:ext cx="3218259" cy="11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SOURCE: RETAIL_TRANSACTIONS_Q3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285750"/>
            <a:ext cx="8572500" cy="25003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285750"/>
            <a:ext cx="42863" cy="250031"/>
          </a:xfrm>
          <a:prstGeom prst="rect">
            <a:avLst/>
          </a:prstGeom>
          <a:solidFill>
            <a:srgbClr val="1A6B7C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285750"/>
            <a:ext cx="8572500" cy="25003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51024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Standardizing 12,000+ Transactions Ensures Analytical Integrity Across KPIs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85750" y="678656"/>
            <a:ext cx="8572500" cy="664369"/>
          </a:xfrm>
          <a:prstGeom prst="rect">
            <a:avLst/>
          </a:prstGeom>
          <a:solidFill>
            <a:srgbClr val="0B1D36"/>
          </a:solidFill>
          <a:ln/>
        </p:spPr>
      </p:sp>
      <p:sp>
        <p:nvSpPr>
          <p:cNvPr id="7" name="Text 4"/>
          <p:cNvSpPr/>
          <p:nvPr/>
        </p:nvSpPr>
        <p:spPr>
          <a:xfrm>
            <a:off x="428625" y="821531"/>
            <a:ext cx="206633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3D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12,000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28625" y="1096566"/>
            <a:ext cx="206633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kern="0" spc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TRANSACTIONS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2502098" y="821531"/>
            <a:ext cx="206633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3D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502098" y="1096566"/>
            <a:ext cx="206633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kern="0" spc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DATA FIELDS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4575572" y="821531"/>
            <a:ext cx="206633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3D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100%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75572" y="1096566"/>
            <a:ext cx="206633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kern="0" spc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COMPLETION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6649045" y="821531"/>
            <a:ext cx="206633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3D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Verified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649045" y="1096566"/>
            <a:ext cx="206633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kern="0" spc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STATUS</a:t>
            </a:r>
            <a:endParaRPr lang="en-US" sz="600" dirty="0"/>
          </a:p>
        </p:txBody>
      </p:sp>
      <p:sp>
        <p:nvSpPr>
          <p:cNvPr id="15" name="Shape 12"/>
          <p:cNvSpPr/>
          <p:nvPr/>
        </p:nvSpPr>
        <p:spPr>
          <a:xfrm>
            <a:off x="285750" y="1557338"/>
            <a:ext cx="4972050" cy="304680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285750" y="1557338"/>
            <a:ext cx="892522" cy="364331"/>
          </a:xfrm>
          <a:prstGeom prst="rect">
            <a:avLst/>
          </a:prstGeom>
          <a:solidFill>
            <a:srgbClr val="0B1D36"/>
          </a:solidFill>
          <a:ln/>
        </p:spPr>
      </p:sp>
      <p:sp>
        <p:nvSpPr>
          <p:cNvPr id="17" name="Text 14"/>
          <p:cNvSpPr/>
          <p:nvPr/>
        </p:nvSpPr>
        <p:spPr>
          <a:xfrm>
            <a:off x="285750" y="1557338"/>
            <a:ext cx="892522" cy="364331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Transaction Date</a:t>
            </a:r>
            <a:endParaRPr lang="en-US" sz="650" dirty="0"/>
          </a:p>
        </p:txBody>
      </p:sp>
      <p:sp>
        <p:nvSpPr>
          <p:cNvPr id="18" name="Shape 15"/>
          <p:cNvSpPr/>
          <p:nvPr/>
        </p:nvSpPr>
        <p:spPr>
          <a:xfrm>
            <a:off x="1178272" y="1557338"/>
            <a:ext cx="922548" cy="364331"/>
          </a:xfrm>
          <a:prstGeom prst="rect">
            <a:avLst/>
          </a:prstGeom>
          <a:solidFill>
            <a:srgbClr val="0B1D36"/>
          </a:solidFill>
          <a:ln/>
        </p:spPr>
      </p:sp>
      <p:sp>
        <p:nvSpPr>
          <p:cNvPr id="19" name="Text 16"/>
          <p:cNvSpPr/>
          <p:nvPr/>
        </p:nvSpPr>
        <p:spPr>
          <a:xfrm>
            <a:off x="1178272" y="1557338"/>
            <a:ext cx="922548" cy="364331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Buyer Name</a:t>
            </a:r>
            <a:endParaRPr lang="en-US" sz="650" dirty="0"/>
          </a:p>
        </p:txBody>
      </p:sp>
      <p:sp>
        <p:nvSpPr>
          <p:cNvPr id="20" name="Shape 17"/>
          <p:cNvSpPr/>
          <p:nvPr/>
        </p:nvSpPr>
        <p:spPr>
          <a:xfrm>
            <a:off x="2100821" y="1557338"/>
            <a:ext cx="674805" cy="364331"/>
          </a:xfrm>
          <a:prstGeom prst="rect">
            <a:avLst/>
          </a:prstGeom>
          <a:solidFill>
            <a:srgbClr val="0B1D36"/>
          </a:solidFill>
          <a:ln/>
        </p:spPr>
      </p:sp>
      <p:sp>
        <p:nvSpPr>
          <p:cNvPr id="21" name="Text 18"/>
          <p:cNvSpPr/>
          <p:nvPr/>
        </p:nvSpPr>
        <p:spPr>
          <a:xfrm>
            <a:off x="2100821" y="1557338"/>
            <a:ext cx="674805" cy="364331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Location</a:t>
            </a: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2775626" y="1557338"/>
            <a:ext cx="1011455" cy="364331"/>
          </a:xfrm>
          <a:prstGeom prst="rect">
            <a:avLst/>
          </a:prstGeom>
          <a:solidFill>
            <a:srgbClr val="0B1D36"/>
          </a:solidFill>
          <a:ln/>
        </p:spPr>
      </p:sp>
      <p:sp>
        <p:nvSpPr>
          <p:cNvPr id="23" name="Text 20"/>
          <p:cNvSpPr/>
          <p:nvPr/>
        </p:nvSpPr>
        <p:spPr>
          <a:xfrm>
            <a:off x="2775626" y="1557338"/>
            <a:ext cx="1011455" cy="364331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Product Code / Cate</a:t>
            </a:r>
            <a:endParaRPr lang="en-US" sz="650" dirty="0"/>
          </a:p>
        </p:txBody>
      </p:sp>
      <p:sp>
        <p:nvSpPr>
          <p:cNvPr id="24" name="Shape 21"/>
          <p:cNvSpPr/>
          <p:nvPr/>
        </p:nvSpPr>
        <p:spPr>
          <a:xfrm>
            <a:off x="3787080" y="1557338"/>
            <a:ext cx="1002636" cy="364331"/>
          </a:xfrm>
          <a:prstGeom prst="rect">
            <a:avLst/>
          </a:prstGeom>
          <a:solidFill>
            <a:srgbClr val="0B1D36"/>
          </a:solidFill>
          <a:ln/>
        </p:spPr>
      </p:sp>
      <p:sp>
        <p:nvSpPr>
          <p:cNvPr id="25" name="Text 22"/>
          <p:cNvSpPr/>
          <p:nvPr/>
        </p:nvSpPr>
        <p:spPr>
          <a:xfrm>
            <a:off x="3787080" y="1557338"/>
            <a:ext cx="1002636" cy="364331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Quantity Purchased</a:t>
            </a:r>
            <a:endParaRPr lang="en-US" sz="650" dirty="0"/>
          </a:p>
        </p:txBody>
      </p:sp>
      <p:sp>
        <p:nvSpPr>
          <p:cNvPr id="26" name="Shape 23"/>
          <p:cNvSpPr/>
          <p:nvPr/>
        </p:nvSpPr>
        <p:spPr>
          <a:xfrm>
            <a:off x="4789717" y="1557338"/>
            <a:ext cx="468083" cy="364331"/>
          </a:xfrm>
          <a:prstGeom prst="rect">
            <a:avLst/>
          </a:prstGeom>
          <a:solidFill>
            <a:srgbClr val="0B1D36"/>
          </a:solidFill>
          <a:ln/>
        </p:spPr>
      </p:sp>
      <p:sp>
        <p:nvSpPr>
          <p:cNvPr id="27" name="Text 24"/>
          <p:cNvSpPr/>
          <p:nvPr/>
        </p:nvSpPr>
        <p:spPr>
          <a:xfrm>
            <a:off x="4789717" y="1557338"/>
            <a:ext cx="468083" cy="364331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Gender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285750" y="1921669"/>
            <a:ext cx="892522" cy="339328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2024-01-13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1178272" y="1921669"/>
            <a:ext cx="922548" cy="339328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Allen Santos</a:t>
            </a:r>
            <a:endParaRPr lang="en-US" sz="650" dirty="0"/>
          </a:p>
        </p:txBody>
      </p:sp>
      <p:sp>
        <p:nvSpPr>
          <p:cNvPr id="30" name="Text 27"/>
          <p:cNvSpPr/>
          <p:nvPr/>
        </p:nvSpPr>
        <p:spPr>
          <a:xfrm>
            <a:off x="2100821" y="1921669"/>
            <a:ext cx="674805" cy="339328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 Antonio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2775626" y="1921669"/>
            <a:ext cx="1011455" cy="339328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Pro02</a:t>
            </a:r>
            <a:endParaRPr lang="en-US" sz="650" dirty="0"/>
          </a:p>
        </p:txBody>
      </p:sp>
      <p:sp>
        <p:nvSpPr>
          <p:cNvPr id="32" name="Text 29"/>
          <p:cNvSpPr/>
          <p:nvPr/>
        </p:nvSpPr>
        <p:spPr>
          <a:xfrm>
            <a:off x="3787080" y="1921669"/>
            <a:ext cx="1002636" cy="339328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284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4789717" y="1921669"/>
            <a:ext cx="468083" cy="339328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285750" y="2260997"/>
            <a:ext cx="4972050" cy="23217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5" name="Text 32"/>
          <p:cNvSpPr/>
          <p:nvPr/>
        </p:nvSpPr>
        <p:spPr>
          <a:xfrm>
            <a:off x="285750" y="2260997"/>
            <a:ext cx="892522" cy="232172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2024-05-09</a:t>
            </a:r>
            <a:endParaRPr lang="en-US" sz="650" dirty="0"/>
          </a:p>
        </p:txBody>
      </p:sp>
      <p:sp>
        <p:nvSpPr>
          <p:cNvPr id="36" name="Text 33"/>
          <p:cNvSpPr/>
          <p:nvPr/>
        </p:nvSpPr>
        <p:spPr>
          <a:xfrm>
            <a:off x="1178272" y="2260997"/>
            <a:ext cx="922548" cy="232172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Brenda Shaw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2100821" y="2260997"/>
            <a:ext cx="674805" cy="232172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 Jose</a:t>
            </a:r>
            <a:endParaRPr lang="en-US" sz="650" dirty="0"/>
          </a:p>
        </p:txBody>
      </p:sp>
      <p:sp>
        <p:nvSpPr>
          <p:cNvPr id="38" name="Text 35"/>
          <p:cNvSpPr/>
          <p:nvPr/>
        </p:nvSpPr>
        <p:spPr>
          <a:xfrm>
            <a:off x="2775626" y="2260997"/>
            <a:ext cx="1011455" cy="232172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Pro05</a:t>
            </a:r>
            <a:endParaRPr lang="en-US" sz="650" dirty="0"/>
          </a:p>
        </p:txBody>
      </p:sp>
      <p:sp>
        <p:nvSpPr>
          <p:cNvPr id="39" name="Text 36"/>
          <p:cNvSpPr/>
          <p:nvPr/>
        </p:nvSpPr>
        <p:spPr>
          <a:xfrm>
            <a:off x="3787080" y="2260997"/>
            <a:ext cx="1002636" cy="232172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</a:t>
            </a:r>
            <a:endParaRPr lang="en-US" sz="650" dirty="0"/>
          </a:p>
        </p:txBody>
      </p:sp>
      <p:sp>
        <p:nvSpPr>
          <p:cNvPr id="40" name="Text 37"/>
          <p:cNvSpPr/>
          <p:nvPr/>
        </p:nvSpPr>
        <p:spPr>
          <a:xfrm>
            <a:off x="4789717" y="2260997"/>
            <a:ext cx="468083" cy="232172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Male</a:t>
            </a:r>
            <a:endParaRPr lang="en-US" sz="650" dirty="0"/>
          </a:p>
        </p:txBody>
      </p:sp>
      <p:sp>
        <p:nvSpPr>
          <p:cNvPr id="41" name="Text 38"/>
          <p:cNvSpPr/>
          <p:nvPr/>
        </p:nvSpPr>
        <p:spPr>
          <a:xfrm>
            <a:off x="285750" y="2493169"/>
            <a:ext cx="892522" cy="342900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2024-05-20</a:t>
            </a:r>
            <a:endParaRPr lang="en-US" sz="650" dirty="0"/>
          </a:p>
        </p:txBody>
      </p:sp>
      <p:sp>
        <p:nvSpPr>
          <p:cNvPr id="42" name="Text 39"/>
          <p:cNvSpPr/>
          <p:nvPr/>
        </p:nvSpPr>
        <p:spPr>
          <a:xfrm>
            <a:off x="1178272" y="2493169"/>
            <a:ext cx="922548" cy="342900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Robert Hernandez</a:t>
            </a:r>
            <a:endParaRPr lang="en-US" sz="650" dirty="0"/>
          </a:p>
        </p:txBody>
      </p:sp>
      <p:sp>
        <p:nvSpPr>
          <p:cNvPr id="43" name="Text 40"/>
          <p:cNvSpPr/>
          <p:nvPr/>
        </p:nvSpPr>
        <p:spPr>
          <a:xfrm>
            <a:off x="2100821" y="2493169"/>
            <a:ext cx="674805" cy="342900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Philadelphia</a:t>
            </a:r>
            <a:endParaRPr lang="en-US" sz="650" dirty="0"/>
          </a:p>
        </p:txBody>
      </p:sp>
      <p:sp>
        <p:nvSpPr>
          <p:cNvPr id="44" name="Text 41"/>
          <p:cNvSpPr/>
          <p:nvPr/>
        </p:nvSpPr>
        <p:spPr>
          <a:xfrm>
            <a:off x="2775626" y="2493169"/>
            <a:ext cx="1011455" cy="342900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Pro04</a:t>
            </a:r>
            <a:endParaRPr lang="en-US" sz="650" dirty="0"/>
          </a:p>
        </p:txBody>
      </p:sp>
      <p:sp>
        <p:nvSpPr>
          <p:cNvPr id="45" name="Text 42"/>
          <p:cNvSpPr/>
          <p:nvPr/>
        </p:nvSpPr>
        <p:spPr>
          <a:xfrm>
            <a:off x="3787080" y="2493169"/>
            <a:ext cx="1002636" cy="342900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475</a:t>
            </a:r>
            <a:endParaRPr lang="en-US" sz="650" dirty="0"/>
          </a:p>
        </p:txBody>
      </p:sp>
      <p:sp>
        <p:nvSpPr>
          <p:cNvPr id="46" name="Text 43"/>
          <p:cNvSpPr/>
          <p:nvPr/>
        </p:nvSpPr>
        <p:spPr>
          <a:xfrm>
            <a:off x="4789717" y="2493169"/>
            <a:ext cx="468083" cy="342900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Female</a:t>
            </a:r>
            <a:endParaRPr lang="en-US" sz="650" dirty="0"/>
          </a:p>
        </p:txBody>
      </p:sp>
      <p:sp>
        <p:nvSpPr>
          <p:cNvPr id="47" name="Shape 44"/>
          <p:cNvSpPr/>
          <p:nvPr/>
        </p:nvSpPr>
        <p:spPr>
          <a:xfrm>
            <a:off x="285750" y="2836069"/>
            <a:ext cx="4972050" cy="3429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48" name="Text 45"/>
          <p:cNvSpPr/>
          <p:nvPr/>
        </p:nvSpPr>
        <p:spPr>
          <a:xfrm>
            <a:off x="285750" y="2836069"/>
            <a:ext cx="892522" cy="342900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2024-04-28</a:t>
            </a:r>
            <a:endParaRPr lang="en-US" sz="650" dirty="0"/>
          </a:p>
        </p:txBody>
      </p:sp>
      <p:sp>
        <p:nvSpPr>
          <p:cNvPr id="49" name="Text 46"/>
          <p:cNvSpPr/>
          <p:nvPr/>
        </p:nvSpPr>
        <p:spPr>
          <a:xfrm>
            <a:off x="1178272" y="2836069"/>
            <a:ext cx="922548" cy="342900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Alexander Smith</a:t>
            </a:r>
            <a:endParaRPr lang="en-US" sz="650" dirty="0"/>
          </a:p>
        </p:txBody>
      </p:sp>
      <p:sp>
        <p:nvSpPr>
          <p:cNvPr id="50" name="Text 47"/>
          <p:cNvSpPr/>
          <p:nvPr/>
        </p:nvSpPr>
        <p:spPr>
          <a:xfrm>
            <a:off x="2100821" y="2836069"/>
            <a:ext cx="674805" cy="342900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 Antonio</a:t>
            </a:r>
            <a:endParaRPr lang="en-US" sz="650" dirty="0"/>
          </a:p>
        </p:txBody>
      </p:sp>
      <p:sp>
        <p:nvSpPr>
          <p:cNvPr id="51" name="Text 48"/>
          <p:cNvSpPr/>
          <p:nvPr/>
        </p:nvSpPr>
        <p:spPr>
          <a:xfrm>
            <a:off x="2775626" y="2836069"/>
            <a:ext cx="1011455" cy="342900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Pro02</a:t>
            </a:r>
            <a:endParaRPr lang="en-US" sz="650" dirty="0"/>
          </a:p>
        </p:txBody>
      </p:sp>
      <p:sp>
        <p:nvSpPr>
          <p:cNvPr id="52" name="Text 49"/>
          <p:cNvSpPr/>
          <p:nvPr/>
        </p:nvSpPr>
        <p:spPr>
          <a:xfrm>
            <a:off x="3787080" y="2836069"/>
            <a:ext cx="1002636" cy="342900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299</a:t>
            </a:r>
            <a:endParaRPr lang="en-US" sz="650" dirty="0"/>
          </a:p>
        </p:txBody>
      </p:sp>
      <p:sp>
        <p:nvSpPr>
          <p:cNvPr id="53" name="Text 50"/>
          <p:cNvSpPr/>
          <p:nvPr/>
        </p:nvSpPr>
        <p:spPr>
          <a:xfrm>
            <a:off x="4789717" y="2836069"/>
            <a:ext cx="468083" cy="342900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Male</a:t>
            </a:r>
            <a:endParaRPr lang="en-US" sz="650" dirty="0"/>
          </a:p>
        </p:txBody>
      </p:sp>
      <p:sp>
        <p:nvSpPr>
          <p:cNvPr id="54" name="Text 51"/>
          <p:cNvSpPr/>
          <p:nvPr/>
        </p:nvSpPr>
        <p:spPr>
          <a:xfrm>
            <a:off x="285750" y="3178969"/>
            <a:ext cx="892522" cy="232172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2024-02-07</a:t>
            </a:r>
            <a:endParaRPr lang="en-US" sz="650" dirty="0"/>
          </a:p>
        </p:txBody>
      </p:sp>
      <p:sp>
        <p:nvSpPr>
          <p:cNvPr id="55" name="Text 52"/>
          <p:cNvSpPr/>
          <p:nvPr/>
        </p:nvSpPr>
        <p:spPr>
          <a:xfrm>
            <a:off x="1178272" y="3178969"/>
            <a:ext cx="922548" cy="232172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Mary Rodriguez</a:t>
            </a:r>
            <a:endParaRPr lang="en-US" sz="650" dirty="0"/>
          </a:p>
        </p:txBody>
      </p:sp>
      <p:sp>
        <p:nvSpPr>
          <p:cNvPr id="56" name="Text 53"/>
          <p:cNvSpPr/>
          <p:nvPr/>
        </p:nvSpPr>
        <p:spPr>
          <a:xfrm>
            <a:off x="2100821" y="3178969"/>
            <a:ext cx="674805" cy="232172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 Jose</a:t>
            </a:r>
            <a:endParaRPr lang="en-US" sz="650" dirty="0"/>
          </a:p>
        </p:txBody>
      </p:sp>
      <p:sp>
        <p:nvSpPr>
          <p:cNvPr id="57" name="Text 54"/>
          <p:cNvSpPr/>
          <p:nvPr/>
        </p:nvSpPr>
        <p:spPr>
          <a:xfrm>
            <a:off x="2775626" y="3178969"/>
            <a:ext cx="1011455" cy="232172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Pro09</a:t>
            </a:r>
            <a:endParaRPr lang="en-US" sz="650" dirty="0"/>
          </a:p>
        </p:txBody>
      </p:sp>
      <p:sp>
        <p:nvSpPr>
          <p:cNvPr id="58" name="Text 55"/>
          <p:cNvSpPr/>
          <p:nvPr/>
        </p:nvSpPr>
        <p:spPr>
          <a:xfrm>
            <a:off x="3787080" y="3178969"/>
            <a:ext cx="1002636" cy="232172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327</a:t>
            </a:r>
            <a:endParaRPr lang="en-US" sz="650" dirty="0"/>
          </a:p>
        </p:txBody>
      </p:sp>
      <p:sp>
        <p:nvSpPr>
          <p:cNvPr id="59" name="Text 56"/>
          <p:cNvSpPr/>
          <p:nvPr/>
        </p:nvSpPr>
        <p:spPr>
          <a:xfrm>
            <a:off x="4789717" y="3178969"/>
            <a:ext cx="468083" cy="232172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</a:t>
            </a:r>
            <a:endParaRPr lang="en-US" sz="650" dirty="0"/>
          </a:p>
        </p:txBody>
      </p:sp>
      <p:sp>
        <p:nvSpPr>
          <p:cNvPr id="60" name="Shape 57"/>
          <p:cNvSpPr/>
          <p:nvPr/>
        </p:nvSpPr>
        <p:spPr>
          <a:xfrm>
            <a:off x="285750" y="3411141"/>
            <a:ext cx="4972050" cy="23217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1" name="Text 58"/>
          <p:cNvSpPr/>
          <p:nvPr/>
        </p:nvSpPr>
        <p:spPr>
          <a:xfrm>
            <a:off x="285750" y="3411141"/>
            <a:ext cx="892522" cy="232172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2024-06-30</a:t>
            </a:r>
            <a:endParaRPr lang="en-US" sz="650" dirty="0"/>
          </a:p>
        </p:txBody>
      </p:sp>
      <p:sp>
        <p:nvSpPr>
          <p:cNvPr id="62" name="Text 59"/>
          <p:cNvSpPr/>
          <p:nvPr/>
        </p:nvSpPr>
        <p:spPr>
          <a:xfrm>
            <a:off x="1178272" y="3411141"/>
            <a:ext cx="922548" cy="232172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Clinton Haynes</a:t>
            </a:r>
            <a:endParaRPr lang="en-US" sz="650" dirty="0"/>
          </a:p>
        </p:txBody>
      </p:sp>
      <p:sp>
        <p:nvSpPr>
          <p:cNvPr id="63" name="Text 60"/>
          <p:cNvSpPr/>
          <p:nvPr/>
        </p:nvSpPr>
        <p:spPr>
          <a:xfrm>
            <a:off x="2100821" y="3411141"/>
            <a:ext cx="674805" cy="232172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Philadelphia</a:t>
            </a:r>
            <a:endParaRPr lang="en-US" sz="650" dirty="0"/>
          </a:p>
        </p:txBody>
      </p:sp>
      <p:sp>
        <p:nvSpPr>
          <p:cNvPr id="64" name="Text 61"/>
          <p:cNvSpPr/>
          <p:nvPr/>
        </p:nvSpPr>
        <p:spPr>
          <a:xfrm>
            <a:off x="2775626" y="3411141"/>
            <a:ext cx="1011455" cy="232172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Pro04</a:t>
            </a:r>
            <a:endParaRPr lang="en-US" sz="650" dirty="0"/>
          </a:p>
        </p:txBody>
      </p:sp>
      <p:sp>
        <p:nvSpPr>
          <p:cNvPr id="65" name="Text 62"/>
          <p:cNvSpPr/>
          <p:nvPr/>
        </p:nvSpPr>
        <p:spPr>
          <a:xfrm>
            <a:off x="3787080" y="3411141"/>
            <a:ext cx="1002636" cy="232172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383</a:t>
            </a:r>
            <a:endParaRPr lang="en-US" sz="650" dirty="0"/>
          </a:p>
        </p:txBody>
      </p:sp>
      <p:sp>
        <p:nvSpPr>
          <p:cNvPr id="66" name="Text 63"/>
          <p:cNvSpPr/>
          <p:nvPr/>
        </p:nvSpPr>
        <p:spPr>
          <a:xfrm>
            <a:off x="4789717" y="3411141"/>
            <a:ext cx="468083" cy="232172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Female</a:t>
            </a:r>
            <a:endParaRPr lang="en-US" sz="650" dirty="0"/>
          </a:p>
        </p:txBody>
      </p:sp>
      <p:sp>
        <p:nvSpPr>
          <p:cNvPr id="67" name="Text 64"/>
          <p:cNvSpPr/>
          <p:nvPr/>
        </p:nvSpPr>
        <p:spPr>
          <a:xfrm>
            <a:off x="285750" y="3643313"/>
            <a:ext cx="892522" cy="342900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2024-03-26</a:t>
            </a:r>
            <a:endParaRPr lang="en-US" sz="650" dirty="0"/>
          </a:p>
        </p:txBody>
      </p:sp>
      <p:sp>
        <p:nvSpPr>
          <p:cNvPr id="68" name="Text 65"/>
          <p:cNvSpPr/>
          <p:nvPr/>
        </p:nvSpPr>
        <p:spPr>
          <a:xfrm>
            <a:off x="1178272" y="3643313"/>
            <a:ext cx="922548" cy="342900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Jamie Steele</a:t>
            </a:r>
            <a:endParaRPr lang="en-US" sz="650" dirty="0"/>
          </a:p>
        </p:txBody>
      </p:sp>
      <p:sp>
        <p:nvSpPr>
          <p:cNvPr id="69" name="Text 66"/>
          <p:cNvSpPr/>
          <p:nvPr/>
        </p:nvSpPr>
        <p:spPr>
          <a:xfrm>
            <a:off x="2100821" y="3643313"/>
            <a:ext cx="674805" cy="342900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 Antonio</a:t>
            </a:r>
            <a:endParaRPr lang="en-US" sz="650" dirty="0"/>
          </a:p>
        </p:txBody>
      </p:sp>
      <p:sp>
        <p:nvSpPr>
          <p:cNvPr id="70" name="Text 67"/>
          <p:cNvSpPr/>
          <p:nvPr/>
        </p:nvSpPr>
        <p:spPr>
          <a:xfrm>
            <a:off x="2775626" y="3643313"/>
            <a:ext cx="1011455" cy="342900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Pro07</a:t>
            </a:r>
            <a:endParaRPr lang="en-US" sz="650" dirty="0"/>
          </a:p>
        </p:txBody>
      </p:sp>
      <p:sp>
        <p:nvSpPr>
          <p:cNvPr id="71" name="Text 68"/>
          <p:cNvSpPr/>
          <p:nvPr/>
        </p:nvSpPr>
        <p:spPr>
          <a:xfrm>
            <a:off x="3787080" y="3643313"/>
            <a:ext cx="1002636" cy="342900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272</a:t>
            </a:r>
            <a:endParaRPr lang="en-US" sz="650" dirty="0"/>
          </a:p>
        </p:txBody>
      </p:sp>
      <p:sp>
        <p:nvSpPr>
          <p:cNvPr id="72" name="Text 69"/>
          <p:cNvSpPr/>
          <p:nvPr/>
        </p:nvSpPr>
        <p:spPr>
          <a:xfrm>
            <a:off x="4789717" y="3643313"/>
            <a:ext cx="468083" cy="342900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</a:t>
            </a:r>
            <a:endParaRPr lang="en-US" sz="650" dirty="0"/>
          </a:p>
        </p:txBody>
      </p:sp>
      <p:sp>
        <p:nvSpPr>
          <p:cNvPr id="73" name="Shape 70"/>
          <p:cNvSpPr/>
          <p:nvPr/>
        </p:nvSpPr>
        <p:spPr>
          <a:xfrm>
            <a:off x="285750" y="3986213"/>
            <a:ext cx="4972050" cy="23217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74" name="Text 71"/>
          <p:cNvSpPr/>
          <p:nvPr/>
        </p:nvSpPr>
        <p:spPr>
          <a:xfrm>
            <a:off x="285750" y="3986213"/>
            <a:ext cx="892522" cy="232172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2024-07-27</a:t>
            </a:r>
            <a:endParaRPr lang="en-US" sz="650" dirty="0"/>
          </a:p>
        </p:txBody>
      </p:sp>
      <p:sp>
        <p:nvSpPr>
          <p:cNvPr id="75" name="Text 72"/>
          <p:cNvSpPr/>
          <p:nvPr/>
        </p:nvSpPr>
        <p:spPr>
          <a:xfrm>
            <a:off x="1178272" y="3986213"/>
            <a:ext cx="922548" cy="232172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David Hunt</a:t>
            </a:r>
            <a:endParaRPr lang="en-US" sz="650" dirty="0"/>
          </a:p>
        </p:txBody>
      </p:sp>
      <p:sp>
        <p:nvSpPr>
          <p:cNvPr id="76" name="Text 73"/>
          <p:cNvSpPr/>
          <p:nvPr/>
        </p:nvSpPr>
        <p:spPr>
          <a:xfrm>
            <a:off x="2100821" y="3986213"/>
            <a:ext cx="674805" cy="232172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 Jose</a:t>
            </a:r>
            <a:endParaRPr lang="en-US" sz="650" dirty="0"/>
          </a:p>
        </p:txBody>
      </p:sp>
      <p:sp>
        <p:nvSpPr>
          <p:cNvPr id="77" name="Text 74"/>
          <p:cNvSpPr/>
          <p:nvPr/>
        </p:nvSpPr>
        <p:spPr>
          <a:xfrm>
            <a:off x="2775626" y="3986213"/>
            <a:ext cx="1011455" cy="232172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Pro10</a:t>
            </a:r>
            <a:endParaRPr lang="en-US" sz="650" dirty="0"/>
          </a:p>
        </p:txBody>
      </p:sp>
      <p:sp>
        <p:nvSpPr>
          <p:cNvPr id="78" name="Text 75"/>
          <p:cNvSpPr/>
          <p:nvPr/>
        </p:nvSpPr>
        <p:spPr>
          <a:xfrm>
            <a:off x="3787080" y="3986213"/>
            <a:ext cx="1002636" cy="232172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270</a:t>
            </a:r>
            <a:endParaRPr lang="en-US" sz="650" dirty="0"/>
          </a:p>
        </p:txBody>
      </p:sp>
      <p:sp>
        <p:nvSpPr>
          <p:cNvPr id="79" name="Text 76"/>
          <p:cNvSpPr/>
          <p:nvPr/>
        </p:nvSpPr>
        <p:spPr>
          <a:xfrm>
            <a:off x="4789717" y="3986213"/>
            <a:ext cx="468083" cy="232172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Male</a:t>
            </a:r>
            <a:endParaRPr lang="en-US" sz="650" dirty="0"/>
          </a:p>
        </p:txBody>
      </p:sp>
      <p:sp>
        <p:nvSpPr>
          <p:cNvPr id="80" name="Text 77"/>
          <p:cNvSpPr/>
          <p:nvPr/>
        </p:nvSpPr>
        <p:spPr>
          <a:xfrm>
            <a:off x="285750" y="4218384"/>
            <a:ext cx="892522" cy="342900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2024-06-22</a:t>
            </a:r>
            <a:endParaRPr lang="en-US" sz="650" dirty="0"/>
          </a:p>
        </p:txBody>
      </p:sp>
      <p:sp>
        <p:nvSpPr>
          <p:cNvPr id="81" name="Text 78"/>
          <p:cNvSpPr/>
          <p:nvPr/>
        </p:nvSpPr>
        <p:spPr>
          <a:xfrm>
            <a:off x="1178272" y="4218384"/>
            <a:ext cx="922548" cy="342900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Robert Hernandez</a:t>
            </a:r>
            <a:endParaRPr lang="en-US" sz="650" dirty="0"/>
          </a:p>
        </p:txBody>
      </p:sp>
      <p:sp>
        <p:nvSpPr>
          <p:cNvPr id="82" name="Text 79"/>
          <p:cNvSpPr/>
          <p:nvPr/>
        </p:nvSpPr>
        <p:spPr>
          <a:xfrm>
            <a:off x="2100821" y="4218384"/>
            <a:ext cx="674805" cy="342900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Philadelphia</a:t>
            </a:r>
            <a:endParaRPr lang="en-US" sz="650" dirty="0"/>
          </a:p>
        </p:txBody>
      </p:sp>
      <p:sp>
        <p:nvSpPr>
          <p:cNvPr id="83" name="Text 80"/>
          <p:cNvSpPr/>
          <p:nvPr/>
        </p:nvSpPr>
        <p:spPr>
          <a:xfrm>
            <a:off x="2775626" y="4218384"/>
            <a:ext cx="1011455" cy="342900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Pro06</a:t>
            </a:r>
            <a:endParaRPr lang="en-US" sz="650" dirty="0"/>
          </a:p>
        </p:txBody>
      </p:sp>
      <p:sp>
        <p:nvSpPr>
          <p:cNvPr id="84" name="Text 81"/>
          <p:cNvSpPr/>
          <p:nvPr/>
        </p:nvSpPr>
        <p:spPr>
          <a:xfrm>
            <a:off x="3787080" y="4218384"/>
            <a:ext cx="1002636" cy="342900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201</a:t>
            </a:r>
            <a:endParaRPr lang="en-US" sz="650" dirty="0"/>
          </a:p>
        </p:txBody>
      </p:sp>
      <p:sp>
        <p:nvSpPr>
          <p:cNvPr id="85" name="Text 82"/>
          <p:cNvSpPr/>
          <p:nvPr/>
        </p:nvSpPr>
        <p:spPr>
          <a:xfrm>
            <a:off x="4789717" y="4218384"/>
            <a:ext cx="468083" cy="342900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</a:t>
            </a:r>
            <a:endParaRPr lang="en-US" sz="650" dirty="0"/>
          </a:p>
        </p:txBody>
      </p:sp>
      <p:sp>
        <p:nvSpPr>
          <p:cNvPr id="86" name="Shape 83"/>
          <p:cNvSpPr/>
          <p:nvPr/>
        </p:nvSpPr>
        <p:spPr>
          <a:xfrm>
            <a:off x="5543550" y="1557338"/>
            <a:ext cx="3314700" cy="3046809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7" name="Shape 84"/>
          <p:cNvSpPr/>
          <p:nvPr/>
        </p:nvSpPr>
        <p:spPr>
          <a:xfrm>
            <a:off x="5543550" y="1557338"/>
            <a:ext cx="3314700" cy="28575"/>
          </a:xfrm>
          <a:prstGeom prst="rect">
            <a:avLst/>
          </a:prstGeom>
          <a:solidFill>
            <a:srgbClr val="A3D827"/>
          </a:solidFill>
          <a:ln/>
        </p:spPr>
      </p:sp>
      <p:sp>
        <p:nvSpPr>
          <p:cNvPr id="88" name="Text 85"/>
          <p:cNvSpPr/>
          <p:nvPr/>
        </p:nvSpPr>
        <p:spPr>
          <a:xfrm>
            <a:off x="5757863" y="1771650"/>
            <a:ext cx="2886075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51024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Standardization Process</a:t>
            </a:r>
            <a:endParaRPr lang="en-US" sz="1000" dirty="0"/>
          </a:p>
        </p:txBody>
      </p:sp>
      <p:sp>
        <p:nvSpPr>
          <p:cNvPr id="89" name="Shape 86"/>
          <p:cNvSpPr/>
          <p:nvPr/>
        </p:nvSpPr>
        <p:spPr>
          <a:xfrm>
            <a:off x="5757863" y="2107406"/>
            <a:ext cx="171450" cy="171450"/>
          </a:xfrm>
          <a:prstGeom prst="ellipse">
            <a:avLst/>
          </a:prstGeom>
          <a:solidFill>
            <a:srgbClr val="1A6B7C"/>
          </a:solidFill>
          <a:ln/>
        </p:spPr>
      </p:sp>
      <p:sp>
        <p:nvSpPr>
          <p:cNvPr id="90" name="Text 87"/>
          <p:cNvSpPr/>
          <p:nvPr/>
        </p:nvSpPr>
        <p:spPr>
          <a:xfrm>
            <a:off x="5757863" y="210740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600" dirty="0"/>
          </a:p>
        </p:txBody>
      </p:sp>
      <p:sp>
        <p:nvSpPr>
          <p:cNvPr id="91" name="Text 88"/>
          <p:cNvSpPr/>
          <p:nvPr/>
        </p:nvSpPr>
        <p:spPr>
          <a:xfrm>
            <a:off x="6036469" y="2093119"/>
            <a:ext cx="2607469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B1D3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Schema Alignment</a:t>
            </a:r>
            <a:endParaRPr lang="en-US" sz="800" dirty="0"/>
          </a:p>
        </p:txBody>
      </p:sp>
      <p:sp>
        <p:nvSpPr>
          <p:cNvPr id="92" name="Text 89"/>
          <p:cNvSpPr/>
          <p:nvPr/>
        </p:nvSpPr>
        <p:spPr>
          <a:xfrm>
            <a:off x="6036469" y="2260997"/>
            <a:ext cx="260746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Unified headers for dates, locations, and buyer demographics to support longitudinal analysis.</a:t>
            </a:r>
            <a:endParaRPr lang="en-US" sz="800" dirty="0"/>
          </a:p>
        </p:txBody>
      </p:sp>
      <p:sp>
        <p:nvSpPr>
          <p:cNvPr id="93" name="Shape 90"/>
          <p:cNvSpPr/>
          <p:nvPr/>
        </p:nvSpPr>
        <p:spPr>
          <a:xfrm>
            <a:off x="5757863" y="2718197"/>
            <a:ext cx="171450" cy="171450"/>
          </a:xfrm>
          <a:prstGeom prst="ellipse">
            <a:avLst/>
          </a:prstGeom>
          <a:solidFill>
            <a:srgbClr val="1A6B7C"/>
          </a:solidFill>
          <a:ln/>
        </p:spPr>
      </p:sp>
      <p:sp>
        <p:nvSpPr>
          <p:cNvPr id="94" name="Text 91"/>
          <p:cNvSpPr/>
          <p:nvPr/>
        </p:nvSpPr>
        <p:spPr>
          <a:xfrm>
            <a:off x="5757863" y="271819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600" dirty="0"/>
          </a:p>
        </p:txBody>
      </p:sp>
      <p:sp>
        <p:nvSpPr>
          <p:cNvPr id="95" name="Text 92"/>
          <p:cNvSpPr/>
          <p:nvPr/>
        </p:nvSpPr>
        <p:spPr>
          <a:xfrm>
            <a:off x="6036469" y="2703909"/>
            <a:ext cx="2607469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B1D3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Categorical Mapping</a:t>
            </a:r>
            <a:endParaRPr lang="en-US" sz="800" dirty="0"/>
          </a:p>
        </p:txBody>
      </p:sp>
      <p:sp>
        <p:nvSpPr>
          <p:cNvPr id="96" name="Text 93"/>
          <p:cNvSpPr/>
          <p:nvPr/>
        </p:nvSpPr>
        <p:spPr>
          <a:xfrm>
            <a:off x="6036469" y="2871788"/>
            <a:ext cx="260746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Mapped internal SKU codes to Brand names and tiered pricing structures.</a:t>
            </a:r>
            <a:endParaRPr lang="en-US" sz="800" dirty="0"/>
          </a:p>
        </p:txBody>
      </p:sp>
      <p:sp>
        <p:nvSpPr>
          <p:cNvPr id="97" name="Shape 94"/>
          <p:cNvSpPr/>
          <p:nvPr/>
        </p:nvSpPr>
        <p:spPr>
          <a:xfrm>
            <a:off x="5757863" y="3328988"/>
            <a:ext cx="171450" cy="171450"/>
          </a:xfrm>
          <a:prstGeom prst="ellipse">
            <a:avLst/>
          </a:prstGeom>
          <a:solidFill>
            <a:srgbClr val="1A6B7C"/>
          </a:solidFill>
          <a:ln/>
        </p:spPr>
      </p:sp>
      <p:sp>
        <p:nvSpPr>
          <p:cNvPr id="98" name="Text 95"/>
          <p:cNvSpPr/>
          <p:nvPr/>
        </p:nvSpPr>
        <p:spPr>
          <a:xfrm>
            <a:off x="5757863" y="332898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600" dirty="0"/>
          </a:p>
        </p:txBody>
      </p:sp>
      <p:sp>
        <p:nvSpPr>
          <p:cNvPr id="99" name="Text 96"/>
          <p:cNvSpPr/>
          <p:nvPr/>
        </p:nvSpPr>
        <p:spPr>
          <a:xfrm>
            <a:off x="6036469" y="3314700"/>
            <a:ext cx="2607469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B1D3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Deduplication</a:t>
            </a:r>
            <a:endParaRPr lang="en-US" sz="800" dirty="0"/>
          </a:p>
        </p:txBody>
      </p:sp>
      <p:sp>
        <p:nvSpPr>
          <p:cNvPr id="100" name="Text 97"/>
          <p:cNvSpPr/>
          <p:nvPr/>
        </p:nvSpPr>
        <p:spPr>
          <a:xfrm>
            <a:off x="6036469" y="3482578"/>
            <a:ext cx="260746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Removed transaction overlaps and validated unique order IDs across 12 monthly batches.</a:t>
            </a:r>
            <a:endParaRPr lang="en-US" sz="800" dirty="0"/>
          </a:p>
        </p:txBody>
      </p:sp>
      <p:sp>
        <p:nvSpPr>
          <p:cNvPr id="102" name="Shape 99"/>
          <p:cNvSpPr/>
          <p:nvPr/>
        </p:nvSpPr>
        <p:spPr>
          <a:xfrm>
            <a:off x="285750" y="4604147"/>
            <a:ext cx="85725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4" name="Text 101"/>
          <p:cNvSpPr/>
          <p:nvPr/>
        </p:nvSpPr>
        <p:spPr>
          <a:xfrm>
            <a:off x="8593931" y="4754166"/>
            <a:ext cx="26431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1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285750"/>
            <a:ext cx="8572500" cy="25003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285750"/>
            <a:ext cx="42863" cy="250031"/>
          </a:xfrm>
          <a:prstGeom prst="rect">
            <a:avLst/>
          </a:prstGeom>
          <a:solidFill>
            <a:srgbClr val="1A6B7C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285750"/>
            <a:ext cx="8572500" cy="25003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51024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XLOOKUP Logic Maps 10 Core SKUs to Brands and Tiered Pricing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85750" y="678656"/>
            <a:ext cx="8572500" cy="664369"/>
          </a:xfrm>
          <a:prstGeom prst="rect">
            <a:avLst/>
          </a:prstGeom>
          <a:solidFill>
            <a:srgbClr val="0B1D36"/>
          </a:solidFill>
          <a:ln/>
        </p:spPr>
      </p:sp>
      <p:sp>
        <p:nvSpPr>
          <p:cNvPr id="7" name="Text 4"/>
          <p:cNvSpPr/>
          <p:nvPr/>
        </p:nvSpPr>
        <p:spPr>
          <a:xfrm>
            <a:off x="428625" y="821531"/>
            <a:ext cx="206633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3D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28625" y="1096566"/>
            <a:ext cx="206633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kern="0" spc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UNIQUE PRODUCT CODES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2502098" y="821531"/>
            <a:ext cx="206633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3D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502098" y="1096566"/>
            <a:ext cx="206633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kern="0" spc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MAJOR BRANDS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4575572" y="821531"/>
            <a:ext cx="206633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3D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$11 - $60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75572" y="1096566"/>
            <a:ext cx="206633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kern="0" spc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RANGE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6649045" y="821531"/>
            <a:ext cx="206633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3D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Verified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649045" y="1096566"/>
            <a:ext cx="206633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kern="0" spc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CATALOG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285750" y="1557338"/>
            <a:ext cx="4143375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6B7C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Master Product Catalog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85750" y="1878806"/>
            <a:ext cx="1169398" cy="292894"/>
          </a:xfrm>
          <a:prstGeom prst="rect">
            <a:avLst/>
          </a:prstGeom>
          <a:solidFill>
            <a:srgbClr val="0B1D36"/>
          </a:solidFill>
          <a:ln/>
        </p:spPr>
      </p:sp>
      <p:sp>
        <p:nvSpPr>
          <p:cNvPr id="17" name="Text 14"/>
          <p:cNvSpPr/>
          <p:nvPr/>
        </p:nvSpPr>
        <p:spPr>
          <a:xfrm>
            <a:off x="285750" y="1878806"/>
            <a:ext cx="1169398" cy="292894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Product Code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1455148" y="1878806"/>
            <a:ext cx="1129047" cy="292894"/>
          </a:xfrm>
          <a:prstGeom prst="rect">
            <a:avLst/>
          </a:prstGeom>
          <a:solidFill>
            <a:srgbClr val="0B1D36"/>
          </a:solidFill>
          <a:ln/>
        </p:spPr>
      </p:sp>
      <p:sp>
        <p:nvSpPr>
          <p:cNvPr id="19" name="Text 16"/>
          <p:cNvSpPr/>
          <p:nvPr/>
        </p:nvSpPr>
        <p:spPr>
          <a:xfrm>
            <a:off x="1455148" y="1878806"/>
            <a:ext cx="1129047" cy="292894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Biscuit Brand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2584196" y="1878806"/>
            <a:ext cx="942584" cy="292894"/>
          </a:xfrm>
          <a:prstGeom prst="rect">
            <a:avLst/>
          </a:prstGeom>
          <a:solidFill>
            <a:srgbClr val="0B1D36"/>
          </a:solidFill>
          <a:ln/>
        </p:spPr>
      </p:sp>
      <p:sp>
        <p:nvSpPr>
          <p:cNvPr id="21" name="Text 18"/>
          <p:cNvSpPr/>
          <p:nvPr/>
        </p:nvSpPr>
        <p:spPr>
          <a:xfrm>
            <a:off x="2584196" y="1878806"/>
            <a:ext cx="942584" cy="292894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Cost Price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3526780" y="1878806"/>
            <a:ext cx="902345" cy="292894"/>
          </a:xfrm>
          <a:prstGeom prst="rect">
            <a:avLst/>
          </a:prstGeom>
          <a:solidFill>
            <a:srgbClr val="0B1D36"/>
          </a:solidFill>
          <a:ln/>
        </p:spPr>
      </p:sp>
      <p:sp>
        <p:nvSpPr>
          <p:cNvPr id="23" name="Text 20"/>
          <p:cNvSpPr/>
          <p:nvPr/>
        </p:nvSpPr>
        <p:spPr>
          <a:xfrm>
            <a:off x="3526780" y="1878806"/>
            <a:ext cx="902345" cy="292894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Unit Price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285750" y="2171700"/>
            <a:ext cx="1169398" cy="267891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Pro01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455148" y="2171700"/>
            <a:ext cx="1129047" cy="267891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Good Day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2584196" y="2171700"/>
            <a:ext cx="942584" cy="267891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526780" y="2171700"/>
            <a:ext cx="902345" cy="267891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285750" y="2439591"/>
            <a:ext cx="4143375" cy="271463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9" name="Text 26"/>
          <p:cNvSpPr/>
          <p:nvPr/>
        </p:nvSpPr>
        <p:spPr>
          <a:xfrm>
            <a:off x="285750" y="2439591"/>
            <a:ext cx="1169398" cy="271463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Pro02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1455148" y="2439591"/>
            <a:ext cx="1129047" cy="271463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Britannia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2584196" y="2439591"/>
            <a:ext cx="942584" cy="271463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526780" y="2439591"/>
            <a:ext cx="902345" cy="271463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285750" y="2711053"/>
            <a:ext cx="1169398" cy="271463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Pro03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1455148" y="2711053"/>
            <a:ext cx="1129047" cy="271463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Sunfeast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2584196" y="2711053"/>
            <a:ext cx="942584" cy="271463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526780" y="2711053"/>
            <a:ext cx="902345" cy="271463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285750" y="2982516"/>
            <a:ext cx="4143375" cy="271463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8" name="Text 35"/>
          <p:cNvSpPr/>
          <p:nvPr/>
        </p:nvSpPr>
        <p:spPr>
          <a:xfrm>
            <a:off x="285750" y="2982516"/>
            <a:ext cx="1169398" cy="271463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Pro04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1455148" y="2982516"/>
            <a:ext cx="1129047" cy="271463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Malkist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2584196" y="2982516"/>
            <a:ext cx="942584" cy="271463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3526780" y="2982516"/>
            <a:ext cx="902345" cy="271463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285750" y="3253978"/>
            <a:ext cx="1169398" cy="271463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Pro05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1455148" y="3253978"/>
            <a:ext cx="1129047" cy="271463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Oreo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2584196" y="3253978"/>
            <a:ext cx="942584" cy="271463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3526780" y="3253978"/>
            <a:ext cx="902345" cy="271463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$28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285750" y="3525441"/>
            <a:ext cx="4143375" cy="271463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47" name="Text 44"/>
          <p:cNvSpPr/>
          <p:nvPr/>
        </p:nvSpPr>
        <p:spPr>
          <a:xfrm>
            <a:off x="285750" y="3525441"/>
            <a:ext cx="1169398" cy="271463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Pro06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1455148" y="3525441"/>
            <a:ext cx="1129047" cy="271463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Parle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2584196" y="3525441"/>
            <a:ext cx="942584" cy="271463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</a:t>
            </a:r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3526780" y="3525441"/>
            <a:ext cx="902345" cy="271463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$28</a:t>
            </a:r>
            <a:endParaRPr lang="en-US" sz="750" dirty="0"/>
          </a:p>
        </p:txBody>
      </p:sp>
      <p:sp>
        <p:nvSpPr>
          <p:cNvPr id="51" name="Text 48"/>
          <p:cNvSpPr/>
          <p:nvPr/>
        </p:nvSpPr>
        <p:spPr>
          <a:xfrm>
            <a:off x="285750" y="3796903"/>
            <a:ext cx="1169398" cy="271463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Pro07</a:t>
            </a:r>
            <a:endParaRPr lang="en-US" sz="750" dirty="0"/>
          </a:p>
        </p:txBody>
      </p:sp>
      <p:sp>
        <p:nvSpPr>
          <p:cNvPr id="52" name="Text 49"/>
          <p:cNvSpPr/>
          <p:nvPr/>
        </p:nvSpPr>
        <p:spPr>
          <a:xfrm>
            <a:off x="1455148" y="3796903"/>
            <a:ext cx="1129047" cy="271463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Tiger</a:t>
            </a: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2584196" y="3796903"/>
            <a:ext cx="942584" cy="271463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3526780" y="3796903"/>
            <a:ext cx="902345" cy="271463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$24</a:t>
            </a:r>
            <a:endParaRPr lang="en-US" sz="750" dirty="0"/>
          </a:p>
        </p:txBody>
      </p:sp>
      <p:sp>
        <p:nvSpPr>
          <p:cNvPr id="55" name="Shape 52"/>
          <p:cNvSpPr/>
          <p:nvPr/>
        </p:nvSpPr>
        <p:spPr>
          <a:xfrm>
            <a:off x="285750" y="4068366"/>
            <a:ext cx="4143375" cy="271463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56" name="Text 53"/>
          <p:cNvSpPr/>
          <p:nvPr/>
        </p:nvSpPr>
        <p:spPr>
          <a:xfrm>
            <a:off x="285750" y="4068366"/>
            <a:ext cx="1169398" cy="271463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Pro08</a:t>
            </a:r>
            <a:endParaRPr lang="en-US" sz="750" dirty="0"/>
          </a:p>
        </p:txBody>
      </p:sp>
      <p:sp>
        <p:nvSpPr>
          <p:cNvPr id="57" name="Text 54"/>
          <p:cNvSpPr/>
          <p:nvPr/>
        </p:nvSpPr>
        <p:spPr>
          <a:xfrm>
            <a:off x="1455148" y="4068366"/>
            <a:ext cx="1129047" cy="271463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Marie Gold</a:t>
            </a:r>
            <a:endParaRPr lang="en-US" sz="750" dirty="0"/>
          </a:p>
        </p:txBody>
      </p:sp>
      <p:sp>
        <p:nvSpPr>
          <p:cNvPr id="58" name="Text 55"/>
          <p:cNvSpPr/>
          <p:nvPr/>
        </p:nvSpPr>
        <p:spPr>
          <a:xfrm>
            <a:off x="2584196" y="4068366"/>
            <a:ext cx="942584" cy="271463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</a:t>
            </a:r>
            <a:endParaRPr lang="en-US" sz="750" dirty="0"/>
          </a:p>
        </p:txBody>
      </p:sp>
      <p:sp>
        <p:nvSpPr>
          <p:cNvPr id="59" name="Text 56"/>
          <p:cNvSpPr/>
          <p:nvPr/>
        </p:nvSpPr>
        <p:spPr>
          <a:xfrm>
            <a:off x="3526780" y="4068366"/>
            <a:ext cx="902345" cy="271463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$30</a:t>
            </a:r>
            <a:endParaRPr lang="en-US" sz="750" dirty="0"/>
          </a:p>
        </p:txBody>
      </p:sp>
      <p:sp>
        <p:nvSpPr>
          <p:cNvPr id="60" name="Text 57"/>
          <p:cNvSpPr/>
          <p:nvPr/>
        </p:nvSpPr>
        <p:spPr>
          <a:xfrm>
            <a:off x="4714875" y="1557338"/>
            <a:ext cx="4143375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6B7C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Lookup Implementation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4714875" y="2093119"/>
            <a:ext cx="4143375" cy="753666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2" name="Shape 59"/>
          <p:cNvSpPr/>
          <p:nvPr/>
        </p:nvSpPr>
        <p:spPr>
          <a:xfrm>
            <a:off x="4714875" y="2093119"/>
            <a:ext cx="28575" cy="753666"/>
          </a:xfrm>
          <a:prstGeom prst="rect">
            <a:avLst/>
          </a:prstGeom>
          <a:solidFill>
            <a:srgbClr val="1A6B7C"/>
          </a:solidFill>
          <a:ln/>
        </p:spPr>
      </p:sp>
      <p:sp>
        <p:nvSpPr>
          <p:cNvPr id="63" name="Text 60"/>
          <p:cNvSpPr/>
          <p:nvPr/>
        </p:nvSpPr>
        <p:spPr>
          <a:xfrm>
            <a:off x="4857750" y="2235994"/>
            <a:ext cx="3771956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B1D3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=XLOOKUP([@[Product Code]], Master[SKU], Master[Brand])</a:t>
            </a:r>
            <a:endParaRPr lang="en-US" sz="800" dirty="0"/>
          </a:p>
        </p:txBody>
      </p:sp>
      <p:sp>
        <p:nvSpPr>
          <p:cNvPr id="64" name="Text 61"/>
          <p:cNvSpPr/>
          <p:nvPr/>
        </p:nvSpPr>
        <p:spPr>
          <a:xfrm>
            <a:off x="4857750" y="2461022"/>
            <a:ext cx="385762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Links transaction lines to the master catalog to ensure consistent naming and reporting across all 12,000 records.</a:t>
            </a:r>
            <a:endParaRPr lang="en-US" sz="750" dirty="0"/>
          </a:p>
        </p:txBody>
      </p:sp>
      <p:sp>
        <p:nvSpPr>
          <p:cNvPr id="65" name="Shape 62"/>
          <p:cNvSpPr/>
          <p:nvPr/>
        </p:nvSpPr>
        <p:spPr>
          <a:xfrm>
            <a:off x="4714875" y="2989659"/>
            <a:ext cx="4143375" cy="907256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6" name="Shape 63"/>
          <p:cNvSpPr/>
          <p:nvPr/>
        </p:nvSpPr>
        <p:spPr>
          <a:xfrm>
            <a:off x="4714875" y="2989659"/>
            <a:ext cx="28575" cy="907256"/>
          </a:xfrm>
          <a:prstGeom prst="rect">
            <a:avLst/>
          </a:prstGeom>
          <a:solidFill>
            <a:srgbClr val="1A6B7C"/>
          </a:solidFill>
          <a:ln/>
        </p:spPr>
      </p:sp>
      <p:sp>
        <p:nvSpPr>
          <p:cNvPr id="67" name="Text 64"/>
          <p:cNvSpPr/>
          <p:nvPr/>
        </p:nvSpPr>
        <p:spPr>
          <a:xfrm>
            <a:off x="4857750" y="3132534"/>
            <a:ext cx="3566182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B1D3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=XLOOKUP([@[Product Code]], Master[SKU], Master[Unit Price])</a:t>
            </a:r>
            <a:endParaRPr lang="en-US" sz="800" dirty="0"/>
          </a:p>
        </p:txBody>
      </p:sp>
      <p:sp>
        <p:nvSpPr>
          <p:cNvPr id="68" name="Text 65"/>
          <p:cNvSpPr/>
          <p:nvPr/>
        </p:nvSpPr>
        <p:spPr>
          <a:xfrm>
            <a:off x="4857750" y="3511153"/>
            <a:ext cx="385762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Automates pricing application, reducing manual entry errors and maintaining margin calculation accuracy.</a:t>
            </a:r>
            <a:endParaRPr lang="en-US" sz="750" dirty="0"/>
          </a:p>
        </p:txBody>
      </p:sp>
      <p:sp>
        <p:nvSpPr>
          <p:cNvPr id="69" name="Text 66"/>
          <p:cNvSpPr/>
          <p:nvPr/>
        </p:nvSpPr>
        <p:spPr>
          <a:xfrm>
            <a:off x="4714875" y="4111228"/>
            <a:ext cx="4143375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05102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Benefit:</a:t>
            </a:r>
            <a:r>
              <a:rPr lang="en-US" sz="8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By centralizing the product master, we can update prices or costs globally without modifying historical transaction data, allowing for dynamic "What-If" analysis.</a:t>
            </a:r>
            <a:endParaRPr lang="en-US" sz="800" dirty="0"/>
          </a:p>
        </p:txBody>
      </p:sp>
      <p:sp>
        <p:nvSpPr>
          <p:cNvPr id="70" name="Shape 67"/>
          <p:cNvSpPr/>
          <p:nvPr/>
        </p:nvSpPr>
        <p:spPr>
          <a:xfrm>
            <a:off x="285750" y="4604147"/>
            <a:ext cx="8572500" cy="25360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1" name="Shape 68"/>
          <p:cNvSpPr/>
          <p:nvPr/>
        </p:nvSpPr>
        <p:spPr>
          <a:xfrm>
            <a:off x="285750" y="4604147"/>
            <a:ext cx="85725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3" name="Text 70"/>
          <p:cNvSpPr/>
          <p:nvPr/>
        </p:nvSpPr>
        <p:spPr>
          <a:xfrm>
            <a:off x="8576072" y="4754166"/>
            <a:ext cx="28217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2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285750"/>
            <a:ext cx="8572500" cy="25003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285750"/>
            <a:ext cx="42863" cy="250031"/>
          </a:xfrm>
          <a:prstGeom prst="rect">
            <a:avLst/>
          </a:prstGeom>
          <a:solidFill>
            <a:srgbClr val="1A6B7C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285750"/>
            <a:ext cx="8572500" cy="25003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51024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Calculated Fields Transform Raw Volume into Profitability Intelligence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85750" y="678656"/>
            <a:ext cx="8572500" cy="664369"/>
          </a:xfrm>
          <a:prstGeom prst="rect">
            <a:avLst/>
          </a:prstGeom>
          <a:solidFill>
            <a:srgbClr val="0B1D36"/>
          </a:solidFill>
          <a:ln/>
        </p:spPr>
      </p:sp>
      <p:sp>
        <p:nvSpPr>
          <p:cNvPr id="7" name="Text 4"/>
          <p:cNvSpPr/>
          <p:nvPr/>
        </p:nvSpPr>
        <p:spPr>
          <a:xfrm>
            <a:off x="428625" y="821531"/>
            <a:ext cx="206633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3D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$61.6M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28625" y="1096566"/>
            <a:ext cx="206633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kern="0" spc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REVENUE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2502098" y="821531"/>
            <a:ext cx="206633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3D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$26.8M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502098" y="1096566"/>
            <a:ext cx="206633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kern="0" spc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PROFIT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4575572" y="821531"/>
            <a:ext cx="206633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3D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43.5%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75572" y="1096566"/>
            <a:ext cx="206633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kern="0" spc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PROFIT MARGIN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6649045" y="821531"/>
            <a:ext cx="206633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3D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 KPIs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649045" y="1096566"/>
            <a:ext cx="206633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kern="0" spc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METRICS</a:t>
            </a:r>
            <a:endParaRPr lang="en-US" sz="600" dirty="0"/>
          </a:p>
        </p:txBody>
      </p:sp>
      <p:sp>
        <p:nvSpPr>
          <p:cNvPr id="15" name="Shape 12"/>
          <p:cNvSpPr/>
          <p:nvPr/>
        </p:nvSpPr>
        <p:spPr>
          <a:xfrm>
            <a:off x="285750" y="1557338"/>
            <a:ext cx="3314700" cy="51435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6" name="Shape 13"/>
          <p:cNvSpPr/>
          <p:nvPr/>
        </p:nvSpPr>
        <p:spPr>
          <a:xfrm>
            <a:off x="285750" y="1557338"/>
            <a:ext cx="28575" cy="514350"/>
          </a:xfrm>
          <a:prstGeom prst="rect">
            <a:avLst/>
          </a:prstGeom>
          <a:solidFill>
            <a:srgbClr val="1A6B7C"/>
          </a:solidFill>
          <a:ln/>
        </p:spPr>
      </p:sp>
      <p:sp>
        <p:nvSpPr>
          <p:cNvPr id="17" name="Text 14"/>
          <p:cNvSpPr/>
          <p:nvPr/>
        </p:nvSpPr>
        <p:spPr>
          <a:xfrm>
            <a:off x="392906" y="1664494"/>
            <a:ext cx="310038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4748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A. Total Revenue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392906" y="1828800"/>
            <a:ext cx="2400356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B1D3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=[@[Unit Price]]*[@[Quantity Purchased]]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285750" y="2178844"/>
            <a:ext cx="3314700" cy="51435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0" name="Shape 17"/>
          <p:cNvSpPr/>
          <p:nvPr/>
        </p:nvSpPr>
        <p:spPr>
          <a:xfrm>
            <a:off x="285750" y="2178844"/>
            <a:ext cx="28575" cy="514350"/>
          </a:xfrm>
          <a:prstGeom prst="rect">
            <a:avLst/>
          </a:prstGeom>
          <a:solidFill>
            <a:srgbClr val="1A6B7C"/>
          </a:solidFill>
          <a:ln/>
        </p:spPr>
      </p:sp>
      <p:sp>
        <p:nvSpPr>
          <p:cNvPr id="21" name="Text 18"/>
          <p:cNvSpPr/>
          <p:nvPr/>
        </p:nvSpPr>
        <p:spPr>
          <a:xfrm>
            <a:off x="392906" y="2286000"/>
            <a:ext cx="310038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4748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B. Total Cost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392906" y="2450306"/>
            <a:ext cx="1920273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B1D3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=[@Cost]*[@[Quantity Purchased]]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285750" y="2800350"/>
            <a:ext cx="3314700" cy="51435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4" name="Shape 21"/>
          <p:cNvSpPr/>
          <p:nvPr/>
        </p:nvSpPr>
        <p:spPr>
          <a:xfrm>
            <a:off x="285750" y="2800350"/>
            <a:ext cx="28575" cy="514350"/>
          </a:xfrm>
          <a:prstGeom prst="rect">
            <a:avLst/>
          </a:prstGeom>
          <a:solidFill>
            <a:srgbClr val="1A6B7C"/>
          </a:solidFill>
          <a:ln/>
        </p:spPr>
      </p:sp>
      <p:sp>
        <p:nvSpPr>
          <p:cNvPr id="25" name="Text 22"/>
          <p:cNvSpPr/>
          <p:nvPr/>
        </p:nvSpPr>
        <p:spPr>
          <a:xfrm>
            <a:off x="392906" y="2907506"/>
            <a:ext cx="310038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4748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C. Profit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392906" y="3071813"/>
            <a:ext cx="2100318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B1D3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=[@[Total Revenue]]-[@[Total Cost]]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285750" y="3421856"/>
            <a:ext cx="3314700" cy="51435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8" name="Shape 25"/>
          <p:cNvSpPr/>
          <p:nvPr/>
        </p:nvSpPr>
        <p:spPr>
          <a:xfrm>
            <a:off x="285750" y="3421856"/>
            <a:ext cx="28575" cy="514350"/>
          </a:xfrm>
          <a:prstGeom prst="rect">
            <a:avLst/>
          </a:prstGeom>
          <a:solidFill>
            <a:srgbClr val="1A6B7C"/>
          </a:solidFill>
          <a:ln/>
        </p:spPr>
      </p:sp>
      <p:sp>
        <p:nvSpPr>
          <p:cNvPr id="29" name="Text 26"/>
          <p:cNvSpPr/>
          <p:nvPr/>
        </p:nvSpPr>
        <p:spPr>
          <a:xfrm>
            <a:off x="392906" y="3529013"/>
            <a:ext cx="310038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4748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D. Profit Margin %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392906" y="3693319"/>
            <a:ext cx="2280307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B1D3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=([@[Profit]]/[@[Total Revenue]])*100%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285750" y="4043363"/>
            <a:ext cx="3314700" cy="51435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2" name="Shape 29"/>
          <p:cNvSpPr/>
          <p:nvPr/>
        </p:nvSpPr>
        <p:spPr>
          <a:xfrm>
            <a:off x="285750" y="4043363"/>
            <a:ext cx="28575" cy="514350"/>
          </a:xfrm>
          <a:prstGeom prst="rect">
            <a:avLst/>
          </a:prstGeom>
          <a:solidFill>
            <a:srgbClr val="1A6B7C"/>
          </a:solidFill>
          <a:ln/>
        </p:spPr>
      </p:sp>
      <p:sp>
        <p:nvSpPr>
          <p:cNvPr id="33" name="Text 30"/>
          <p:cNvSpPr/>
          <p:nvPr/>
        </p:nvSpPr>
        <p:spPr>
          <a:xfrm>
            <a:off x="392906" y="4150519"/>
            <a:ext cx="310038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4748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E. Age of buyer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392906" y="4314825"/>
            <a:ext cx="2880382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B1D3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=DATEDIF([@[Buyer Date of Birth]], TODAY(), "Y")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3886200" y="1557338"/>
            <a:ext cx="4972050" cy="304680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3"/>
          <p:cNvSpPr/>
          <p:nvPr/>
        </p:nvSpPr>
        <p:spPr>
          <a:xfrm>
            <a:off x="3886200" y="1557338"/>
            <a:ext cx="951681" cy="246459"/>
          </a:xfrm>
          <a:prstGeom prst="rect">
            <a:avLst/>
          </a:prstGeom>
          <a:solidFill>
            <a:srgbClr val="0B1D36"/>
          </a:solidFill>
          <a:ln/>
        </p:spPr>
      </p:sp>
      <p:sp>
        <p:nvSpPr>
          <p:cNvPr id="37" name="Text 34"/>
          <p:cNvSpPr/>
          <p:nvPr/>
        </p:nvSpPr>
        <p:spPr>
          <a:xfrm>
            <a:off x="3886200" y="1557338"/>
            <a:ext cx="951681" cy="246459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Total Revenue</a:t>
            </a:r>
            <a:endParaRPr lang="en-US" sz="600" dirty="0"/>
          </a:p>
        </p:txBody>
      </p:sp>
      <p:sp>
        <p:nvSpPr>
          <p:cNvPr id="38" name="Shape 35"/>
          <p:cNvSpPr/>
          <p:nvPr/>
        </p:nvSpPr>
        <p:spPr>
          <a:xfrm>
            <a:off x="4837881" y="1557338"/>
            <a:ext cx="728830" cy="246459"/>
          </a:xfrm>
          <a:prstGeom prst="rect">
            <a:avLst/>
          </a:prstGeom>
          <a:solidFill>
            <a:srgbClr val="0B1D36"/>
          </a:solidFill>
          <a:ln/>
        </p:spPr>
      </p:sp>
      <p:sp>
        <p:nvSpPr>
          <p:cNvPr id="39" name="Text 36"/>
          <p:cNvSpPr/>
          <p:nvPr/>
        </p:nvSpPr>
        <p:spPr>
          <a:xfrm>
            <a:off x="4837881" y="1557338"/>
            <a:ext cx="728830" cy="246459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Total Cost</a:t>
            </a:r>
            <a:endParaRPr lang="en-US" sz="600" dirty="0"/>
          </a:p>
        </p:txBody>
      </p:sp>
      <p:sp>
        <p:nvSpPr>
          <p:cNvPr id="40" name="Shape 37"/>
          <p:cNvSpPr/>
          <p:nvPr/>
        </p:nvSpPr>
        <p:spPr>
          <a:xfrm>
            <a:off x="5566711" y="1557338"/>
            <a:ext cx="594215" cy="246459"/>
          </a:xfrm>
          <a:prstGeom prst="rect">
            <a:avLst/>
          </a:prstGeom>
          <a:solidFill>
            <a:srgbClr val="0B1D36"/>
          </a:solidFill>
          <a:ln/>
        </p:spPr>
      </p:sp>
      <p:sp>
        <p:nvSpPr>
          <p:cNvPr id="41" name="Text 38"/>
          <p:cNvSpPr/>
          <p:nvPr/>
        </p:nvSpPr>
        <p:spPr>
          <a:xfrm>
            <a:off x="5566711" y="1557338"/>
            <a:ext cx="594215" cy="246459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Profit</a:t>
            </a:r>
            <a:endParaRPr lang="en-US" sz="600" dirty="0"/>
          </a:p>
        </p:txBody>
      </p:sp>
      <p:sp>
        <p:nvSpPr>
          <p:cNvPr id="42" name="Shape 39"/>
          <p:cNvSpPr/>
          <p:nvPr/>
        </p:nvSpPr>
        <p:spPr>
          <a:xfrm>
            <a:off x="6160926" y="1557338"/>
            <a:ext cx="1016645" cy="246459"/>
          </a:xfrm>
          <a:prstGeom prst="rect">
            <a:avLst/>
          </a:prstGeom>
          <a:solidFill>
            <a:srgbClr val="0B1D36"/>
          </a:solidFill>
          <a:ln/>
        </p:spPr>
      </p:sp>
      <p:sp>
        <p:nvSpPr>
          <p:cNvPr id="43" name="Text 40"/>
          <p:cNvSpPr/>
          <p:nvPr/>
        </p:nvSpPr>
        <p:spPr>
          <a:xfrm>
            <a:off x="6160926" y="1557338"/>
            <a:ext cx="1016645" cy="246459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Profit Margin %</a:t>
            </a:r>
            <a:endParaRPr lang="en-US" sz="600" dirty="0"/>
          </a:p>
        </p:txBody>
      </p:sp>
      <p:sp>
        <p:nvSpPr>
          <p:cNvPr id="44" name="Shape 41"/>
          <p:cNvSpPr/>
          <p:nvPr/>
        </p:nvSpPr>
        <p:spPr>
          <a:xfrm>
            <a:off x="7177571" y="1557338"/>
            <a:ext cx="882030" cy="246459"/>
          </a:xfrm>
          <a:prstGeom prst="rect">
            <a:avLst/>
          </a:prstGeom>
          <a:solidFill>
            <a:srgbClr val="0B1D36"/>
          </a:solidFill>
          <a:ln/>
        </p:spPr>
      </p:sp>
      <p:sp>
        <p:nvSpPr>
          <p:cNvPr id="45" name="Text 42"/>
          <p:cNvSpPr/>
          <p:nvPr/>
        </p:nvSpPr>
        <p:spPr>
          <a:xfrm>
            <a:off x="7177571" y="1557338"/>
            <a:ext cx="882030" cy="246459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Age of buyer</a:t>
            </a:r>
            <a:endParaRPr lang="en-US" sz="600" dirty="0"/>
          </a:p>
        </p:txBody>
      </p:sp>
      <p:sp>
        <p:nvSpPr>
          <p:cNvPr id="46" name="Shape 43"/>
          <p:cNvSpPr/>
          <p:nvPr/>
        </p:nvSpPr>
        <p:spPr>
          <a:xfrm>
            <a:off x="8059601" y="1557338"/>
            <a:ext cx="798649" cy="246459"/>
          </a:xfrm>
          <a:prstGeom prst="rect">
            <a:avLst/>
          </a:prstGeom>
          <a:solidFill>
            <a:srgbClr val="0B1D36"/>
          </a:solidFill>
          <a:ln/>
        </p:spPr>
      </p:sp>
      <p:sp>
        <p:nvSpPr>
          <p:cNvPr id="47" name="Text 44"/>
          <p:cNvSpPr/>
          <p:nvPr/>
        </p:nvSpPr>
        <p:spPr>
          <a:xfrm>
            <a:off x="8059601" y="1557338"/>
            <a:ext cx="798649" cy="246459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Age Bucket</a:t>
            </a:r>
            <a:endParaRPr lang="en-US" sz="600" dirty="0"/>
          </a:p>
        </p:txBody>
      </p:sp>
      <p:sp>
        <p:nvSpPr>
          <p:cNvPr id="48" name="Text 45"/>
          <p:cNvSpPr/>
          <p:nvPr/>
        </p:nvSpPr>
        <p:spPr>
          <a:xfrm>
            <a:off x="3886200" y="1803797"/>
            <a:ext cx="951681" cy="221456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5102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$6,248</a:t>
            </a:r>
            <a:endParaRPr lang="en-US" sz="600" dirty="0"/>
          </a:p>
        </p:txBody>
      </p:sp>
      <p:sp>
        <p:nvSpPr>
          <p:cNvPr id="49" name="Text 46"/>
          <p:cNvSpPr/>
          <p:nvPr/>
        </p:nvSpPr>
        <p:spPr>
          <a:xfrm>
            <a:off x="4837881" y="1803797"/>
            <a:ext cx="728830" cy="221456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$5,112</a:t>
            </a:r>
            <a:endParaRPr lang="en-US" sz="600" dirty="0"/>
          </a:p>
        </p:txBody>
      </p:sp>
      <p:sp>
        <p:nvSpPr>
          <p:cNvPr id="50" name="Text 47"/>
          <p:cNvSpPr/>
          <p:nvPr/>
        </p:nvSpPr>
        <p:spPr>
          <a:xfrm>
            <a:off x="5566711" y="1803797"/>
            <a:ext cx="594215" cy="221456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$1,136</a:t>
            </a:r>
            <a:endParaRPr lang="en-US" sz="600" dirty="0"/>
          </a:p>
        </p:txBody>
      </p:sp>
      <p:sp>
        <p:nvSpPr>
          <p:cNvPr id="51" name="Text 48"/>
          <p:cNvSpPr/>
          <p:nvPr/>
        </p:nvSpPr>
        <p:spPr>
          <a:xfrm>
            <a:off x="6160926" y="1803797"/>
            <a:ext cx="1016645" cy="221456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18%</a:t>
            </a:r>
            <a:endParaRPr lang="en-US" sz="600" dirty="0"/>
          </a:p>
        </p:txBody>
      </p:sp>
      <p:sp>
        <p:nvSpPr>
          <p:cNvPr id="52" name="Text 49"/>
          <p:cNvSpPr/>
          <p:nvPr/>
        </p:nvSpPr>
        <p:spPr>
          <a:xfrm>
            <a:off x="7177571" y="1803797"/>
            <a:ext cx="882030" cy="221456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</a:t>
            </a:r>
            <a:endParaRPr lang="en-US" sz="600" dirty="0"/>
          </a:p>
        </p:txBody>
      </p:sp>
      <p:sp>
        <p:nvSpPr>
          <p:cNvPr id="53" name="Text 50"/>
          <p:cNvSpPr/>
          <p:nvPr/>
        </p:nvSpPr>
        <p:spPr>
          <a:xfrm>
            <a:off x="8059601" y="1803797"/>
            <a:ext cx="798649" cy="221456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59-68</a:t>
            </a:r>
            <a:endParaRPr lang="en-US" sz="600" dirty="0"/>
          </a:p>
        </p:txBody>
      </p:sp>
      <p:sp>
        <p:nvSpPr>
          <p:cNvPr id="54" name="Shape 51"/>
          <p:cNvSpPr/>
          <p:nvPr/>
        </p:nvSpPr>
        <p:spPr>
          <a:xfrm>
            <a:off x="3886200" y="2025253"/>
            <a:ext cx="4972050" cy="22502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55" name="Text 52"/>
          <p:cNvSpPr/>
          <p:nvPr/>
        </p:nvSpPr>
        <p:spPr>
          <a:xfrm>
            <a:off x="3886200" y="2025253"/>
            <a:ext cx="951681" cy="225028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5102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$2,520</a:t>
            </a:r>
            <a:endParaRPr lang="en-US" sz="600" dirty="0"/>
          </a:p>
        </p:txBody>
      </p:sp>
      <p:sp>
        <p:nvSpPr>
          <p:cNvPr id="56" name="Text 53"/>
          <p:cNvSpPr/>
          <p:nvPr/>
        </p:nvSpPr>
        <p:spPr>
          <a:xfrm>
            <a:off x="4837881" y="2025253"/>
            <a:ext cx="728830" cy="225028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$1,260</a:t>
            </a:r>
            <a:endParaRPr lang="en-US" sz="600" dirty="0"/>
          </a:p>
        </p:txBody>
      </p:sp>
      <p:sp>
        <p:nvSpPr>
          <p:cNvPr id="57" name="Text 54"/>
          <p:cNvSpPr/>
          <p:nvPr/>
        </p:nvSpPr>
        <p:spPr>
          <a:xfrm>
            <a:off x="5566711" y="2025253"/>
            <a:ext cx="594215" cy="225028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$1,260</a:t>
            </a:r>
            <a:endParaRPr lang="en-US" sz="600" dirty="0"/>
          </a:p>
        </p:txBody>
      </p:sp>
      <p:sp>
        <p:nvSpPr>
          <p:cNvPr id="58" name="Text 55"/>
          <p:cNvSpPr/>
          <p:nvPr/>
        </p:nvSpPr>
        <p:spPr>
          <a:xfrm>
            <a:off x="6160926" y="2025253"/>
            <a:ext cx="1016645" cy="225028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50%</a:t>
            </a:r>
            <a:endParaRPr lang="en-US" sz="600" dirty="0"/>
          </a:p>
        </p:txBody>
      </p:sp>
      <p:sp>
        <p:nvSpPr>
          <p:cNvPr id="59" name="Text 56"/>
          <p:cNvSpPr/>
          <p:nvPr/>
        </p:nvSpPr>
        <p:spPr>
          <a:xfrm>
            <a:off x="7177571" y="2025253"/>
            <a:ext cx="882030" cy="225028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</a:t>
            </a:r>
            <a:endParaRPr lang="en-US" sz="600" dirty="0"/>
          </a:p>
        </p:txBody>
      </p:sp>
      <p:sp>
        <p:nvSpPr>
          <p:cNvPr id="60" name="Text 57"/>
          <p:cNvSpPr/>
          <p:nvPr/>
        </p:nvSpPr>
        <p:spPr>
          <a:xfrm>
            <a:off x="8059601" y="2025253"/>
            <a:ext cx="798649" cy="225028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69+</a:t>
            </a:r>
            <a:endParaRPr lang="en-US" sz="600" dirty="0"/>
          </a:p>
        </p:txBody>
      </p:sp>
      <p:sp>
        <p:nvSpPr>
          <p:cNvPr id="61" name="Text 58"/>
          <p:cNvSpPr/>
          <p:nvPr/>
        </p:nvSpPr>
        <p:spPr>
          <a:xfrm>
            <a:off x="3886200" y="2250281"/>
            <a:ext cx="951681" cy="225028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5102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$6,650</a:t>
            </a:r>
            <a:endParaRPr lang="en-US" sz="600" dirty="0"/>
          </a:p>
        </p:txBody>
      </p:sp>
      <p:sp>
        <p:nvSpPr>
          <p:cNvPr id="62" name="Text 59"/>
          <p:cNvSpPr/>
          <p:nvPr/>
        </p:nvSpPr>
        <p:spPr>
          <a:xfrm>
            <a:off x="4837881" y="2250281"/>
            <a:ext cx="728830" cy="225028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$4,750</a:t>
            </a:r>
            <a:endParaRPr lang="en-US" sz="600" dirty="0"/>
          </a:p>
        </p:txBody>
      </p:sp>
      <p:sp>
        <p:nvSpPr>
          <p:cNvPr id="63" name="Text 60"/>
          <p:cNvSpPr/>
          <p:nvPr/>
        </p:nvSpPr>
        <p:spPr>
          <a:xfrm>
            <a:off x="5566711" y="2250281"/>
            <a:ext cx="594215" cy="225028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$1,900</a:t>
            </a:r>
            <a:endParaRPr lang="en-US" sz="600" dirty="0"/>
          </a:p>
        </p:txBody>
      </p:sp>
      <p:sp>
        <p:nvSpPr>
          <p:cNvPr id="64" name="Text 61"/>
          <p:cNvSpPr/>
          <p:nvPr/>
        </p:nvSpPr>
        <p:spPr>
          <a:xfrm>
            <a:off x="6160926" y="2250281"/>
            <a:ext cx="1016645" cy="225028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29%</a:t>
            </a:r>
            <a:endParaRPr lang="en-US" sz="600" dirty="0"/>
          </a:p>
        </p:txBody>
      </p:sp>
      <p:sp>
        <p:nvSpPr>
          <p:cNvPr id="65" name="Text 62"/>
          <p:cNvSpPr/>
          <p:nvPr/>
        </p:nvSpPr>
        <p:spPr>
          <a:xfrm>
            <a:off x="7177571" y="2250281"/>
            <a:ext cx="882030" cy="225028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</a:t>
            </a:r>
            <a:endParaRPr lang="en-US" sz="600" dirty="0"/>
          </a:p>
        </p:txBody>
      </p:sp>
      <p:sp>
        <p:nvSpPr>
          <p:cNvPr id="66" name="Text 63"/>
          <p:cNvSpPr/>
          <p:nvPr/>
        </p:nvSpPr>
        <p:spPr>
          <a:xfrm>
            <a:off x="8059601" y="2250281"/>
            <a:ext cx="798649" cy="225028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69+</a:t>
            </a:r>
            <a:endParaRPr lang="en-US" sz="600" dirty="0"/>
          </a:p>
        </p:txBody>
      </p:sp>
      <p:sp>
        <p:nvSpPr>
          <p:cNvPr id="67" name="Shape 64"/>
          <p:cNvSpPr/>
          <p:nvPr/>
        </p:nvSpPr>
        <p:spPr>
          <a:xfrm>
            <a:off x="3886200" y="2475309"/>
            <a:ext cx="4972050" cy="22502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8" name="Text 65"/>
          <p:cNvSpPr/>
          <p:nvPr/>
        </p:nvSpPr>
        <p:spPr>
          <a:xfrm>
            <a:off x="3886200" y="2475309"/>
            <a:ext cx="951681" cy="225028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5102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$6,578</a:t>
            </a:r>
            <a:endParaRPr lang="en-US" sz="600" dirty="0"/>
          </a:p>
        </p:txBody>
      </p:sp>
      <p:sp>
        <p:nvSpPr>
          <p:cNvPr id="69" name="Text 66"/>
          <p:cNvSpPr/>
          <p:nvPr/>
        </p:nvSpPr>
        <p:spPr>
          <a:xfrm>
            <a:off x="4837881" y="2475309"/>
            <a:ext cx="728830" cy="225028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$5,382</a:t>
            </a:r>
            <a:endParaRPr lang="en-US" sz="600" dirty="0"/>
          </a:p>
        </p:txBody>
      </p:sp>
      <p:sp>
        <p:nvSpPr>
          <p:cNvPr id="70" name="Text 67"/>
          <p:cNvSpPr/>
          <p:nvPr/>
        </p:nvSpPr>
        <p:spPr>
          <a:xfrm>
            <a:off x="5566711" y="2475309"/>
            <a:ext cx="594215" cy="225028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$1,196</a:t>
            </a:r>
            <a:endParaRPr lang="en-US" sz="600" dirty="0"/>
          </a:p>
        </p:txBody>
      </p:sp>
      <p:sp>
        <p:nvSpPr>
          <p:cNvPr id="71" name="Text 68"/>
          <p:cNvSpPr/>
          <p:nvPr/>
        </p:nvSpPr>
        <p:spPr>
          <a:xfrm>
            <a:off x="6160926" y="2475309"/>
            <a:ext cx="1016645" cy="225028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18%</a:t>
            </a:r>
            <a:endParaRPr lang="en-US" sz="600" dirty="0"/>
          </a:p>
        </p:txBody>
      </p:sp>
      <p:sp>
        <p:nvSpPr>
          <p:cNvPr id="72" name="Text 69"/>
          <p:cNvSpPr/>
          <p:nvPr/>
        </p:nvSpPr>
        <p:spPr>
          <a:xfrm>
            <a:off x="7177571" y="2475309"/>
            <a:ext cx="882030" cy="225028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600" dirty="0"/>
          </a:p>
        </p:txBody>
      </p:sp>
      <p:sp>
        <p:nvSpPr>
          <p:cNvPr id="73" name="Text 70"/>
          <p:cNvSpPr/>
          <p:nvPr/>
        </p:nvSpPr>
        <p:spPr>
          <a:xfrm>
            <a:off x="8059601" y="2475309"/>
            <a:ext cx="798649" cy="225028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29-38</a:t>
            </a:r>
            <a:endParaRPr lang="en-US" sz="600" dirty="0"/>
          </a:p>
        </p:txBody>
      </p:sp>
      <p:sp>
        <p:nvSpPr>
          <p:cNvPr id="74" name="Text 71"/>
          <p:cNvSpPr/>
          <p:nvPr/>
        </p:nvSpPr>
        <p:spPr>
          <a:xfrm>
            <a:off x="3886200" y="2700338"/>
            <a:ext cx="951681" cy="225028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5102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$14,715</a:t>
            </a:r>
            <a:endParaRPr lang="en-US" sz="600" dirty="0"/>
          </a:p>
        </p:txBody>
      </p:sp>
      <p:sp>
        <p:nvSpPr>
          <p:cNvPr id="75" name="Text 72"/>
          <p:cNvSpPr/>
          <p:nvPr/>
        </p:nvSpPr>
        <p:spPr>
          <a:xfrm>
            <a:off x="4837881" y="2700338"/>
            <a:ext cx="728830" cy="225028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$3,270</a:t>
            </a:r>
            <a:endParaRPr lang="en-US" sz="600" dirty="0"/>
          </a:p>
        </p:txBody>
      </p:sp>
      <p:sp>
        <p:nvSpPr>
          <p:cNvPr id="76" name="Text 73"/>
          <p:cNvSpPr/>
          <p:nvPr/>
        </p:nvSpPr>
        <p:spPr>
          <a:xfrm>
            <a:off x="5566711" y="2700338"/>
            <a:ext cx="594215" cy="225028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$11,445</a:t>
            </a:r>
            <a:endParaRPr lang="en-US" sz="600" dirty="0"/>
          </a:p>
        </p:txBody>
      </p:sp>
      <p:sp>
        <p:nvSpPr>
          <p:cNvPr id="77" name="Text 74"/>
          <p:cNvSpPr/>
          <p:nvPr/>
        </p:nvSpPr>
        <p:spPr>
          <a:xfrm>
            <a:off x="6160926" y="2700338"/>
            <a:ext cx="1016645" cy="225028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A3D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78%</a:t>
            </a:r>
            <a:endParaRPr lang="en-US" sz="600" dirty="0"/>
          </a:p>
        </p:txBody>
      </p:sp>
      <p:sp>
        <p:nvSpPr>
          <p:cNvPr id="78" name="Text 75"/>
          <p:cNvSpPr/>
          <p:nvPr/>
        </p:nvSpPr>
        <p:spPr>
          <a:xfrm>
            <a:off x="7177571" y="2700338"/>
            <a:ext cx="882030" cy="225028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</a:t>
            </a:r>
            <a:endParaRPr lang="en-US" sz="600" dirty="0"/>
          </a:p>
        </p:txBody>
      </p:sp>
      <p:sp>
        <p:nvSpPr>
          <p:cNvPr id="79" name="Text 76"/>
          <p:cNvSpPr/>
          <p:nvPr/>
        </p:nvSpPr>
        <p:spPr>
          <a:xfrm>
            <a:off x="8059601" y="2700338"/>
            <a:ext cx="798649" cy="225028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49-58</a:t>
            </a:r>
            <a:endParaRPr lang="en-US" sz="600" dirty="0"/>
          </a:p>
        </p:txBody>
      </p:sp>
      <p:sp>
        <p:nvSpPr>
          <p:cNvPr id="80" name="Shape 77"/>
          <p:cNvSpPr/>
          <p:nvPr/>
        </p:nvSpPr>
        <p:spPr>
          <a:xfrm>
            <a:off x="3886200" y="2925366"/>
            <a:ext cx="4972050" cy="22502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1" name="Text 78"/>
          <p:cNvSpPr/>
          <p:nvPr/>
        </p:nvSpPr>
        <p:spPr>
          <a:xfrm>
            <a:off x="3886200" y="2925366"/>
            <a:ext cx="951681" cy="225028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5102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$5,362</a:t>
            </a:r>
            <a:endParaRPr lang="en-US" sz="600" dirty="0"/>
          </a:p>
        </p:txBody>
      </p:sp>
      <p:sp>
        <p:nvSpPr>
          <p:cNvPr id="82" name="Text 79"/>
          <p:cNvSpPr/>
          <p:nvPr/>
        </p:nvSpPr>
        <p:spPr>
          <a:xfrm>
            <a:off x="4837881" y="2925366"/>
            <a:ext cx="728830" cy="225028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$3,830</a:t>
            </a:r>
            <a:endParaRPr lang="en-US" sz="600" dirty="0"/>
          </a:p>
        </p:txBody>
      </p:sp>
      <p:sp>
        <p:nvSpPr>
          <p:cNvPr id="83" name="Text 80"/>
          <p:cNvSpPr/>
          <p:nvPr/>
        </p:nvSpPr>
        <p:spPr>
          <a:xfrm>
            <a:off x="5566711" y="2925366"/>
            <a:ext cx="594215" cy="225028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$1,532</a:t>
            </a:r>
            <a:endParaRPr lang="en-US" sz="600" dirty="0"/>
          </a:p>
        </p:txBody>
      </p:sp>
      <p:sp>
        <p:nvSpPr>
          <p:cNvPr id="84" name="Text 81"/>
          <p:cNvSpPr/>
          <p:nvPr/>
        </p:nvSpPr>
        <p:spPr>
          <a:xfrm>
            <a:off x="6160926" y="2925366"/>
            <a:ext cx="1016645" cy="225028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29%</a:t>
            </a:r>
            <a:endParaRPr lang="en-US" sz="600" dirty="0"/>
          </a:p>
        </p:txBody>
      </p:sp>
      <p:sp>
        <p:nvSpPr>
          <p:cNvPr id="85" name="Text 82"/>
          <p:cNvSpPr/>
          <p:nvPr/>
        </p:nvSpPr>
        <p:spPr>
          <a:xfrm>
            <a:off x="7177571" y="2925366"/>
            <a:ext cx="882030" cy="225028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</a:t>
            </a:r>
            <a:endParaRPr lang="en-US" sz="600" dirty="0"/>
          </a:p>
        </p:txBody>
      </p:sp>
      <p:sp>
        <p:nvSpPr>
          <p:cNvPr id="86" name="Text 83"/>
          <p:cNvSpPr/>
          <p:nvPr/>
        </p:nvSpPr>
        <p:spPr>
          <a:xfrm>
            <a:off x="8059601" y="2925366"/>
            <a:ext cx="798649" cy="225028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49-58</a:t>
            </a:r>
            <a:endParaRPr lang="en-US" sz="600" dirty="0"/>
          </a:p>
        </p:txBody>
      </p:sp>
      <p:sp>
        <p:nvSpPr>
          <p:cNvPr id="87" name="Text 84"/>
          <p:cNvSpPr/>
          <p:nvPr/>
        </p:nvSpPr>
        <p:spPr>
          <a:xfrm>
            <a:off x="3886200" y="3150394"/>
            <a:ext cx="951681" cy="225028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5102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$6,256</a:t>
            </a:r>
            <a:endParaRPr lang="en-US" sz="600" dirty="0"/>
          </a:p>
        </p:txBody>
      </p:sp>
      <p:sp>
        <p:nvSpPr>
          <p:cNvPr id="88" name="Text 85"/>
          <p:cNvSpPr/>
          <p:nvPr/>
        </p:nvSpPr>
        <p:spPr>
          <a:xfrm>
            <a:off x="4837881" y="3150394"/>
            <a:ext cx="728830" cy="225028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$5,168</a:t>
            </a:r>
            <a:endParaRPr lang="en-US" sz="600" dirty="0"/>
          </a:p>
        </p:txBody>
      </p:sp>
      <p:sp>
        <p:nvSpPr>
          <p:cNvPr id="89" name="Text 86"/>
          <p:cNvSpPr/>
          <p:nvPr/>
        </p:nvSpPr>
        <p:spPr>
          <a:xfrm>
            <a:off x="5566711" y="3150394"/>
            <a:ext cx="594215" cy="225028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$1,088</a:t>
            </a:r>
            <a:endParaRPr lang="en-US" sz="600" dirty="0"/>
          </a:p>
        </p:txBody>
      </p:sp>
      <p:sp>
        <p:nvSpPr>
          <p:cNvPr id="90" name="Text 87"/>
          <p:cNvSpPr/>
          <p:nvPr/>
        </p:nvSpPr>
        <p:spPr>
          <a:xfrm>
            <a:off x="6160926" y="3150394"/>
            <a:ext cx="1016645" cy="225028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17%</a:t>
            </a:r>
            <a:endParaRPr lang="en-US" sz="600" dirty="0"/>
          </a:p>
        </p:txBody>
      </p:sp>
      <p:sp>
        <p:nvSpPr>
          <p:cNvPr id="91" name="Text 88"/>
          <p:cNvSpPr/>
          <p:nvPr/>
        </p:nvSpPr>
        <p:spPr>
          <a:xfrm>
            <a:off x="7177571" y="3150394"/>
            <a:ext cx="882030" cy="225028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</a:t>
            </a:r>
            <a:endParaRPr lang="en-US" sz="600" dirty="0"/>
          </a:p>
        </p:txBody>
      </p:sp>
      <p:sp>
        <p:nvSpPr>
          <p:cNvPr id="92" name="Text 89"/>
          <p:cNvSpPr/>
          <p:nvPr/>
        </p:nvSpPr>
        <p:spPr>
          <a:xfrm>
            <a:off x="8059601" y="3150394"/>
            <a:ext cx="798649" cy="225028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39-48</a:t>
            </a:r>
            <a:endParaRPr lang="en-US" sz="600" dirty="0"/>
          </a:p>
        </p:txBody>
      </p:sp>
      <p:sp>
        <p:nvSpPr>
          <p:cNvPr id="93" name="Shape 90"/>
          <p:cNvSpPr/>
          <p:nvPr/>
        </p:nvSpPr>
        <p:spPr>
          <a:xfrm>
            <a:off x="3886200" y="3375422"/>
            <a:ext cx="4972050" cy="22502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94" name="Text 91"/>
          <p:cNvSpPr/>
          <p:nvPr/>
        </p:nvSpPr>
        <p:spPr>
          <a:xfrm>
            <a:off x="3886200" y="3375422"/>
            <a:ext cx="951681" cy="225028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5102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$9,720</a:t>
            </a:r>
            <a:endParaRPr lang="en-US" sz="600" dirty="0"/>
          </a:p>
        </p:txBody>
      </p:sp>
      <p:sp>
        <p:nvSpPr>
          <p:cNvPr id="95" name="Text 92"/>
          <p:cNvSpPr/>
          <p:nvPr/>
        </p:nvSpPr>
        <p:spPr>
          <a:xfrm>
            <a:off x="4837881" y="3375422"/>
            <a:ext cx="728830" cy="225028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$4,860</a:t>
            </a:r>
            <a:endParaRPr lang="en-US" sz="600" dirty="0"/>
          </a:p>
        </p:txBody>
      </p:sp>
      <p:sp>
        <p:nvSpPr>
          <p:cNvPr id="96" name="Text 93"/>
          <p:cNvSpPr/>
          <p:nvPr/>
        </p:nvSpPr>
        <p:spPr>
          <a:xfrm>
            <a:off x="5566711" y="3375422"/>
            <a:ext cx="594215" cy="225028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$4,860</a:t>
            </a:r>
            <a:endParaRPr lang="en-US" sz="600" dirty="0"/>
          </a:p>
        </p:txBody>
      </p:sp>
      <p:sp>
        <p:nvSpPr>
          <p:cNvPr id="97" name="Text 94"/>
          <p:cNvSpPr/>
          <p:nvPr/>
        </p:nvSpPr>
        <p:spPr>
          <a:xfrm>
            <a:off x="6160926" y="3375422"/>
            <a:ext cx="1016645" cy="225028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50%</a:t>
            </a:r>
            <a:endParaRPr lang="en-US" sz="600" dirty="0"/>
          </a:p>
        </p:txBody>
      </p:sp>
      <p:sp>
        <p:nvSpPr>
          <p:cNvPr id="98" name="Text 95"/>
          <p:cNvSpPr/>
          <p:nvPr/>
        </p:nvSpPr>
        <p:spPr>
          <a:xfrm>
            <a:off x="7177571" y="3375422"/>
            <a:ext cx="882030" cy="225028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</a:t>
            </a:r>
            <a:endParaRPr lang="en-US" sz="600" dirty="0"/>
          </a:p>
        </p:txBody>
      </p:sp>
      <p:sp>
        <p:nvSpPr>
          <p:cNvPr id="99" name="Text 96"/>
          <p:cNvSpPr/>
          <p:nvPr/>
        </p:nvSpPr>
        <p:spPr>
          <a:xfrm>
            <a:off x="8059601" y="3375422"/>
            <a:ext cx="798649" cy="225028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59-68</a:t>
            </a:r>
            <a:endParaRPr lang="en-US" sz="600" dirty="0"/>
          </a:p>
        </p:txBody>
      </p:sp>
      <p:sp>
        <p:nvSpPr>
          <p:cNvPr id="100" name="Text 97"/>
          <p:cNvSpPr/>
          <p:nvPr/>
        </p:nvSpPr>
        <p:spPr>
          <a:xfrm>
            <a:off x="3886200" y="3600450"/>
            <a:ext cx="951681" cy="225028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5102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$1,809</a:t>
            </a:r>
            <a:endParaRPr lang="en-US" sz="600" dirty="0"/>
          </a:p>
        </p:txBody>
      </p:sp>
      <p:sp>
        <p:nvSpPr>
          <p:cNvPr id="101" name="Text 98"/>
          <p:cNvSpPr/>
          <p:nvPr/>
        </p:nvSpPr>
        <p:spPr>
          <a:xfrm>
            <a:off x="4837881" y="3600450"/>
            <a:ext cx="728830" cy="225028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$1,407</a:t>
            </a:r>
            <a:endParaRPr lang="en-US" sz="600" dirty="0"/>
          </a:p>
        </p:txBody>
      </p:sp>
      <p:sp>
        <p:nvSpPr>
          <p:cNvPr id="102" name="Text 99"/>
          <p:cNvSpPr/>
          <p:nvPr/>
        </p:nvSpPr>
        <p:spPr>
          <a:xfrm>
            <a:off x="5566711" y="3600450"/>
            <a:ext cx="594215" cy="225028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$402</a:t>
            </a:r>
            <a:endParaRPr lang="en-US" sz="600" dirty="0"/>
          </a:p>
        </p:txBody>
      </p:sp>
      <p:sp>
        <p:nvSpPr>
          <p:cNvPr id="103" name="Text 100"/>
          <p:cNvSpPr/>
          <p:nvPr/>
        </p:nvSpPr>
        <p:spPr>
          <a:xfrm>
            <a:off x="6160926" y="3600450"/>
            <a:ext cx="1016645" cy="225028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22%</a:t>
            </a:r>
            <a:endParaRPr lang="en-US" sz="600" dirty="0"/>
          </a:p>
        </p:txBody>
      </p:sp>
      <p:sp>
        <p:nvSpPr>
          <p:cNvPr id="104" name="Text 101"/>
          <p:cNvSpPr/>
          <p:nvPr/>
        </p:nvSpPr>
        <p:spPr>
          <a:xfrm>
            <a:off x="7177571" y="3600450"/>
            <a:ext cx="882030" cy="225028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59</a:t>
            </a:r>
            <a:endParaRPr lang="en-US" sz="600" dirty="0"/>
          </a:p>
        </p:txBody>
      </p:sp>
      <p:sp>
        <p:nvSpPr>
          <p:cNvPr id="105" name="Text 102"/>
          <p:cNvSpPr/>
          <p:nvPr/>
        </p:nvSpPr>
        <p:spPr>
          <a:xfrm>
            <a:off x="8059601" y="3600450"/>
            <a:ext cx="798649" cy="225028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59-68</a:t>
            </a:r>
            <a:endParaRPr lang="en-US" sz="600" dirty="0"/>
          </a:p>
        </p:txBody>
      </p:sp>
      <p:sp>
        <p:nvSpPr>
          <p:cNvPr id="106" name="Text 103"/>
          <p:cNvSpPr/>
          <p:nvPr/>
        </p:nvSpPr>
        <p:spPr>
          <a:xfrm>
            <a:off x="3886200" y="3971925"/>
            <a:ext cx="4972050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64748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Insight:</a:t>
            </a: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Margin variance is significant (9% to 78%), highlighting the importance of product mix over pure volume in driving bottom-line growth.</a:t>
            </a:r>
            <a:endParaRPr lang="en-US" sz="750" dirty="0"/>
          </a:p>
        </p:txBody>
      </p:sp>
      <p:sp>
        <p:nvSpPr>
          <p:cNvPr id="107" name="Shape 104"/>
          <p:cNvSpPr/>
          <p:nvPr/>
        </p:nvSpPr>
        <p:spPr>
          <a:xfrm>
            <a:off x="285750" y="4604147"/>
            <a:ext cx="8572500" cy="25360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08" name="Shape 105"/>
          <p:cNvSpPr/>
          <p:nvPr/>
        </p:nvSpPr>
        <p:spPr>
          <a:xfrm>
            <a:off x="285750" y="4604147"/>
            <a:ext cx="85725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0" name="Text 107"/>
          <p:cNvSpPr/>
          <p:nvPr/>
        </p:nvSpPr>
        <p:spPr>
          <a:xfrm>
            <a:off x="8576072" y="4754166"/>
            <a:ext cx="28217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3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686800" cy="48863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162877" y="149304"/>
            <a:ext cx="8361044" cy="164203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100" b="1" dirty="0">
                <a:solidFill>
                  <a:srgbClr val="072033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Unibic and Little Hearts Lead Revenue; Unibic Dominates Profit with 78% Margin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162877" y="394946"/>
            <a:ext cx="8361044" cy="532745"/>
          </a:xfrm>
          <a:prstGeom prst="rect">
            <a:avLst/>
          </a:prstGeom>
          <a:solidFill>
            <a:srgbClr val="0B1D36"/>
          </a:solidFill>
          <a:ln/>
        </p:spPr>
      </p:sp>
      <p:sp>
        <p:nvSpPr>
          <p:cNvPr id="6" name="Text 3"/>
          <p:cNvSpPr/>
          <p:nvPr/>
        </p:nvSpPr>
        <p:spPr>
          <a:xfrm>
            <a:off x="298609" y="503531"/>
            <a:ext cx="1895148" cy="200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3D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$13.9M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98609" y="730881"/>
            <a:ext cx="1895148" cy="88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50" kern="0" spc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BRAND REVENUE (UNIBIC)</a:t>
            </a:r>
            <a:endParaRPr lang="en-US" sz="550" dirty="0"/>
          </a:p>
        </p:txBody>
      </p:sp>
      <p:sp>
        <p:nvSpPr>
          <p:cNvPr id="8" name="Text 5"/>
          <p:cNvSpPr/>
          <p:nvPr/>
        </p:nvSpPr>
        <p:spPr>
          <a:xfrm>
            <a:off x="2363420" y="503531"/>
            <a:ext cx="1895148" cy="200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3D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78%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363420" y="730881"/>
            <a:ext cx="1895148" cy="88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50" kern="0" spc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HIGHEST PROFIT MARGIN</a:t>
            </a:r>
            <a:endParaRPr lang="en-US" sz="550" dirty="0"/>
          </a:p>
        </p:txBody>
      </p:sp>
      <p:sp>
        <p:nvSpPr>
          <p:cNvPr id="10" name="Text 7"/>
          <p:cNvSpPr/>
          <p:nvPr/>
        </p:nvSpPr>
        <p:spPr>
          <a:xfrm>
            <a:off x="4428232" y="503531"/>
            <a:ext cx="1895147" cy="200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3D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321K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428232" y="730881"/>
            <a:ext cx="1895147" cy="88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50" kern="0" spc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UNITS (LITTLE HEARTS)</a:t>
            </a:r>
            <a:endParaRPr lang="en-US" sz="550" dirty="0"/>
          </a:p>
        </p:txBody>
      </p:sp>
      <p:sp>
        <p:nvSpPr>
          <p:cNvPr id="12" name="Text 9"/>
          <p:cNvSpPr/>
          <p:nvPr/>
        </p:nvSpPr>
        <p:spPr>
          <a:xfrm>
            <a:off x="6493043" y="503531"/>
            <a:ext cx="1895147" cy="200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3D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$61.6M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93043" y="730881"/>
            <a:ext cx="1895147" cy="88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50" kern="0" spc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GRAND TOTAL REVENUE</a:t>
            </a:r>
            <a:endParaRPr lang="en-US" sz="550" dirty="0"/>
          </a:p>
        </p:txBody>
      </p:sp>
      <p:sp>
        <p:nvSpPr>
          <p:cNvPr id="14" name="Shape 11"/>
          <p:cNvSpPr/>
          <p:nvPr/>
        </p:nvSpPr>
        <p:spPr>
          <a:xfrm>
            <a:off x="162877" y="1036276"/>
            <a:ext cx="4943322" cy="176450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170" y="1090569"/>
            <a:ext cx="4834736" cy="1655921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228357" y="1036276"/>
            <a:ext cx="3295565" cy="1764506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7" name="Shape 13"/>
          <p:cNvSpPr/>
          <p:nvPr/>
        </p:nvSpPr>
        <p:spPr>
          <a:xfrm>
            <a:off x="8495347" y="1036276"/>
            <a:ext cx="28575" cy="1764506"/>
          </a:xfrm>
          <a:prstGeom prst="rect">
            <a:avLst/>
          </a:prstGeom>
          <a:solidFill>
            <a:srgbClr val="A3D827"/>
          </a:solidFill>
          <a:ln/>
        </p:spPr>
      </p:sp>
      <p:sp>
        <p:nvSpPr>
          <p:cNvPr id="18" name="Text 14"/>
          <p:cNvSpPr/>
          <p:nvPr/>
        </p:nvSpPr>
        <p:spPr>
          <a:xfrm>
            <a:off x="5309796" y="1117715"/>
            <a:ext cx="3132687" cy="128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B1D36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Efficiency Leader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5309796" y="1287379"/>
            <a:ext cx="3132687" cy="238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Unibic achieves the highest revenue and highest margin, contributing disproportionately to net income.</a:t>
            </a:r>
            <a:endParaRPr lang="en-US" sz="650" dirty="0"/>
          </a:p>
        </p:txBody>
      </p:sp>
      <p:sp>
        <p:nvSpPr>
          <p:cNvPr id="20" name="Text 16"/>
          <p:cNvSpPr/>
          <p:nvPr/>
        </p:nvSpPr>
        <p:spPr>
          <a:xfrm>
            <a:off x="5309796" y="1606984"/>
            <a:ext cx="3132687" cy="128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B1D36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Volume Leader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5309796" y="1776648"/>
            <a:ext cx="3132687" cy="238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Little Hearts leads in quantity sold (321,645 units), indicating strong market penetration but lower per-unit profitability.</a:t>
            </a:r>
            <a:endParaRPr lang="en-US" sz="650" dirty="0"/>
          </a:p>
        </p:txBody>
      </p:sp>
      <p:sp>
        <p:nvSpPr>
          <p:cNvPr id="22" name="Text 18"/>
          <p:cNvSpPr/>
          <p:nvPr/>
        </p:nvSpPr>
        <p:spPr>
          <a:xfrm>
            <a:off x="5309796" y="2096252"/>
            <a:ext cx="3132687" cy="128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B1D36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Growth Opportunity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5309796" y="2265916"/>
            <a:ext cx="3132687" cy="238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Oreo and Little Hearts share a 50% margin; increasing average order value for these brands could significantly boost profit.</a:t>
            </a:r>
            <a:endParaRPr lang="en-US" sz="650" dirty="0"/>
          </a:p>
        </p:txBody>
      </p:sp>
      <p:sp>
        <p:nvSpPr>
          <p:cNvPr id="24" name="Shape 20"/>
          <p:cNvSpPr/>
          <p:nvPr/>
        </p:nvSpPr>
        <p:spPr>
          <a:xfrm>
            <a:off x="162877" y="3603665"/>
            <a:ext cx="4139803" cy="87546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1"/>
          <p:cNvSpPr/>
          <p:nvPr/>
        </p:nvSpPr>
        <p:spPr>
          <a:xfrm>
            <a:off x="162877" y="3603665"/>
            <a:ext cx="1110133" cy="169664"/>
          </a:xfrm>
          <a:prstGeom prst="rect">
            <a:avLst/>
          </a:prstGeom>
          <a:solidFill>
            <a:srgbClr val="0B1D36"/>
          </a:solidFill>
          <a:ln/>
        </p:spPr>
      </p:sp>
      <p:sp>
        <p:nvSpPr>
          <p:cNvPr id="26" name="Text 22"/>
          <p:cNvSpPr/>
          <p:nvPr/>
        </p:nvSpPr>
        <p:spPr>
          <a:xfrm>
            <a:off x="162877" y="3603665"/>
            <a:ext cx="1110133" cy="169664"/>
          </a:xfrm>
          <a:prstGeom prst="rect">
            <a:avLst/>
          </a:prstGeom>
          <a:noFill/>
          <a:ln/>
        </p:spPr>
        <p:txBody>
          <a:bodyPr wrap="non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Brand</a:t>
            </a:r>
            <a:endParaRPr lang="en-US" sz="550" dirty="0"/>
          </a:p>
        </p:txBody>
      </p:sp>
      <p:sp>
        <p:nvSpPr>
          <p:cNvPr id="27" name="Shape 23"/>
          <p:cNvSpPr/>
          <p:nvPr/>
        </p:nvSpPr>
        <p:spPr>
          <a:xfrm>
            <a:off x="1273011" y="3603665"/>
            <a:ext cx="1632964" cy="169664"/>
          </a:xfrm>
          <a:prstGeom prst="rect">
            <a:avLst/>
          </a:prstGeom>
          <a:solidFill>
            <a:srgbClr val="0B1D36"/>
          </a:solidFill>
          <a:ln/>
        </p:spPr>
      </p:sp>
      <p:sp>
        <p:nvSpPr>
          <p:cNvPr id="28" name="Text 24"/>
          <p:cNvSpPr/>
          <p:nvPr/>
        </p:nvSpPr>
        <p:spPr>
          <a:xfrm>
            <a:off x="1273011" y="3603665"/>
            <a:ext cx="1632964" cy="169664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Revenue By Brand</a:t>
            </a:r>
            <a:endParaRPr lang="en-US" sz="550" dirty="0"/>
          </a:p>
        </p:txBody>
      </p:sp>
      <p:sp>
        <p:nvSpPr>
          <p:cNvPr id="29" name="Shape 25"/>
          <p:cNvSpPr/>
          <p:nvPr/>
        </p:nvSpPr>
        <p:spPr>
          <a:xfrm>
            <a:off x="2905974" y="3603665"/>
            <a:ext cx="1396706" cy="169664"/>
          </a:xfrm>
          <a:prstGeom prst="rect">
            <a:avLst/>
          </a:prstGeom>
          <a:solidFill>
            <a:srgbClr val="0B1D36"/>
          </a:solidFill>
          <a:ln/>
        </p:spPr>
      </p:sp>
      <p:sp>
        <p:nvSpPr>
          <p:cNvPr id="30" name="Text 26"/>
          <p:cNvSpPr/>
          <p:nvPr/>
        </p:nvSpPr>
        <p:spPr>
          <a:xfrm>
            <a:off x="2905974" y="3603665"/>
            <a:ext cx="1396706" cy="169664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Profit By Brand</a:t>
            </a:r>
            <a:endParaRPr lang="en-US" sz="550" dirty="0"/>
          </a:p>
        </p:txBody>
      </p:sp>
      <p:sp>
        <p:nvSpPr>
          <p:cNvPr id="31" name="Text 27"/>
          <p:cNvSpPr/>
          <p:nvPr/>
        </p:nvSpPr>
        <p:spPr>
          <a:xfrm>
            <a:off x="162877" y="3773329"/>
            <a:ext cx="1110133" cy="173057"/>
          </a:xfrm>
          <a:prstGeom prst="rect">
            <a:avLst/>
          </a:prstGeom>
          <a:noFill/>
          <a:ln/>
        </p:spPr>
        <p:txBody>
          <a:bodyPr wrap="non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0B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Unibic</a:t>
            </a:r>
            <a:endParaRPr lang="en-US" sz="550" dirty="0"/>
          </a:p>
        </p:txBody>
      </p:sp>
      <p:sp>
        <p:nvSpPr>
          <p:cNvPr id="32" name="Text 28"/>
          <p:cNvSpPr/>
          <p:nvPr/>
        </p:nvSpPr>
        <p:spPr>
          <a:xfrm>
            <a:off x="1273011" y="3773329"/>
            <a:ext cx="1632964" cy="173057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0B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$13,973,760</a:t>
            </a:r>
            <a:endParaRPr lang="en-US" sz="550" dirty="0"/>
          </a:p>
        </p:txBody>
      </p:sp>
      <p:sp>
        <p:nvSpPr>
          <p:cNvPr id="33" name="Text 29"/>
          <p:cNvSpPr/>
          <p:nvPr/>
        </p:nvSpPr>
        <p:spPr>
          <a:xfrm>
            <a:off x="2905974" y="3773329"/>
            <a:ext cx="1396706" cy="173057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A3D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$10,868,480</a:t>
            </a:r>
            <a:endParaRPr lang="en-US" sz="550" dirty="0"/>
          </a:p>
        </p:txBody>
      </p:sp>
      <p:sp>
        <p:nvSpPr>
          <p:cNvPr id="34" name="Text 30"/>
          <p:cNvSpPr/>
          <p:nvPr/>
        </p:nvSpPr>
        <p:spPr>
          <a:xfrm>
            <a:off x="162877" y="3946386"/>
            <a:ext cx="1110133" cy="176451"/>
          </a:xfrm>
          <a:prstGeom prst="rect">
            <a:avLst/>
          </a:prstGeom>
          <a:noFill/>
          <a:ln/>
        </p:spPr>
        <p:txBody>
          <a:bodyPr wrap="non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0B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Little Hearts</a:t>
            </a:r>
            <a:endParaRPr lang="en-US" sz="550" dirty="0"/>
          </a:p>
        </p:txBody>
      </p:sp>
      <p:sp>
        <p:nvSpPr>
          <p:cNvPr id="35" name="Text 31"/>
          <p:cNvSpPr/>
          <p:nvPr/>
        </p:nvSpPr>
        <p:spPr>
          <a:xfrm>
            <a:off x="1273011" y="3946386"/>
            <a:ext cx="1632964" cy="176451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0B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$11,579,220</a:t>
            </a:r>
            <a:endParaRPr lang="en-US" sz="550" dirty="0"/>
          </a:p>
        </p:txBody>
      </p:sp>
      <p:sp>
        <p:nvSpPr>
          <p:cNvPr id="36" name="Text 32"/>
          <p:cNvSpPr/>
          <p:nvPr/>
        </p:nvSpPr>
        <p:spPr>
          <a:xfrm>
            <a:off x="2905974" y="3946386"/>
            <a:ext cx="1396706" cy="176451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0B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$5,789,610</a:t>
            </a:r>
            <a:endParaRPr lang="en-US" sz="550" dirty="0"/>
          </a:p>
        </p:txBody>
      </p:sp>
      <p:sp>
        <p:nvSpPr>
          <p:cNvPr id="37" name="Text 33"/>
          <p:cNvSpPr/>
          <p:nvPr/>
        </p:nvSpPr>
        <p:spPr>
          <a:xfrm>
            <a:off x="162877" y="4122837"/>
            <a:ext cx="1110133" cy="176451"/>
          </a:xfrm>
          <a:prstGeom prst="rect">
            <a:avLst/>
          </a:prstGeom>
          <a:noFill/>
          <a:ln/>
        </p:spPr>
        <p:txBody>
          <a:bodyPr wrap="non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0B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Oreo</a:t>
            </a:r>
            <a:endParaRPr lang="en-US" sz="550" dirty="0"/>
          </a:p>
        </p:txBody>
      </p:sp>
      <p:sp>
        <p:nvSpPr>
          <p:cNvPr id="38" name="Text 34"/>
          <p:cNvSpPr/>
          <p:nvPr/>
        </p:nvSpPr>
        <p:spPr>
          <a:xfrm>
            <a:off x="1273011" y="4122837"/>
            <a:ext cx="1632964" cy="176451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0B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$8,983,660</a:t>
            </a:r>
            <a:endParaRPr lang="en-US" sz="550" dirty="0"/>
          </a:p>
        </p:txBody>
      </p:sp>
      <p:sp>
        <p:nvSpPr>
          <p:cNvPr id="39" name="Text 35"/>
          <p:cNvSpPr/>
          <p:nvPr/>
        </p:nvSpPr>
        <p:spPr>
          <a:xfrm>
            <a:off x="2905974" y="4122837"/>
            <a:ext cx="1396706" cy="176451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0B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$4,491,830</a:t>
            </a:r>
            <a:endParaRPr lang="en-US" sz="550" dirty="0"/>
          </a:p>
        </p:txBody>
      </p:sp>
      <p:sp>
        <p:nvSpPr>
          <p:cNvPr id="40" name="Text 36"/>
          <p:cNvSpPr/>
          <p:nvPr/>
        </p:nvSpPr>
        <p:spPr>
          <a:xfrm>
            <a:off x="162877" y="4299287"/>
            <a:ext cx="1110133" cy="176450"/>
          </a:xfrm>
          <a:prstGeom prst="rect">
            <a:avLst/>
          </a:prstGeom>
          <a:noFill/>
          <a:ln/>
        </p:spPr>
        <p:txBody>
          <a:bodyPr wrap="non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0B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Tiger</a:t>
            </a:r>
            <a:endParaRPr lang="en-US" sz="550" dirty="0"/>
          </a:p>
        </p:txBody>
      </p:sp>
      <p:sp>
        <p:nvSpPr>
          <p:cNvPr id="41" name="Text 37"/>
          <p:cNvSpPr/>
          <p:nvPr/>
        </p:nvSpPr>
        <p:spPr>
          <a:xfrm>
            <a:off x="1273011" y="4299287"/>
            <a:ext cx="1632964" cy="176450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0B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$6,606,313</a:t>
            </a:r>
            <a:endParaRPr lang="en-US" sz="550" dirty="0"/>
          </a:p>
        </p:txBody>
      </p:sp>
      <p:sp>
        <p:nvSpPr>
          <p:cNvPr id="42" name="Text 38"/>
          <p:cNvSpPr/>
          <p:nvPr/>
        </p:nvSpPr>
        <p:spPr>
          <a:xfrm>
            <a:off x="2905974" y="4299287"/>
            <a:ext cx="1396706" cy="176450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0B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$1,148,924</a:t>
            </a:r>
            <a:endParaRPr lang="en-US" sz="550" dirty="0"/>
          </a:p>
        </p:txBody>
      </p:sp>
      <p:sp>
        <p:nvSpPr>
          <p:cNvPr id="43" name="Shape 39"/>
          <p:cNvSpPr/>
          <p:nvPr/>
        </p:nvSpPr>
        <p:spPr>
          <a:xfrm>
            <a:off x="4384119" y="3603665"/>
            <a:ext cx="4139803" cy="87546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40"/>
          <p:cNvSpPr/>
          <p:nvPr/>
        </p:nvSpPr>
        <p:spPr>
          <a:xfrm>
            <a:off x="4384119" y="3603665"/>
            <a:ext cx="981135" cy="169664"/>
          </a:xfrm>
          <a:prstGeom prst="rect">
            <a:avLst/>
          </a:prstGeom>
          <a:solidFill>
            <a:srgbClr val="0B1D36"/>
          </a:solidFill>
          <a:ln/>
        </p:spPr>
      </p:sp>
      <p:sp>
        <p:nvSpPr>
          <p:cNvPr id="45" name="Text 41"/>
          <p:cNvSpPr/>
          <p:nvPr/>
        </p:nvSpPr>
        <p:spPr>
          <a:xfrm>
            <a:off x="4384119" y="3603665"/>
            <a:ext cx="981135" cy="169664"/>
          </a:xfrm>
          <a:prstGeom prst="rect">
            <a:avLst/>
          </a:prstGeom>
          <a:noFill/>
          <a:ln/>
        </p:spPr>
        <p:txBody>
          <a:bodyPr wrap="non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Brand</a:t>
            </a:r>
            <a:endParaRPr lang="en-US" sz="550" dirty="0"/>
          </a:p>
        </p:txBody>
      </p:sp>
      <p:sp>
        <p:nvSpPr>
          <p:cNvPr id="46" name="Shape 42"/>
          <p:cNvSpPr/>
          <p:nvPr/>
        </p:nvSpPr>
        <p:spPr>
          <a:xfrm>
            <a:off x="5365255" y="3603665"/>
            <a:ext cx="1265959" cy="169664"/>
          </a:xfrm>
          <a:prstGeom prst="rect">
            <a:avLst/>
          </a:prstGeom>
          <a:solidFill>
            <a:srgbClr val="0B1D36"/>
          </a:solidFill>
          <a:ln/>
        </p:spPr>
      </p:sp>
      <p:sp>
        <p:nvSpPr>
          <p:cNvPr id="47" name="Text 43"/>
          <p:cNvSpPr/>
          <p:nvPr/>
        </p:nvSpPr>
        <p:spPr>
          <a:xfrm>
            <a:off x="5365255" y="3603665"/>
            <a:ext cx="1265959" cy="169664"/>
          </a:xfrm>
          <a:prstGeom prst="rect">
            <a:avLst/>
          </a:prstGeom>
          <a:noFill/>
          <a:ln/>
        </p:spPr>
        <p:txBody>
          <a:bodyPr wrap="non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Profit Margin %</a:t>
            </a:r>
            <a:endParaRPr lang="en-US" sz="550" dirty="0"/>
          </a:p>
        </p:txBody>
      </p:sp>
      <p:sp>
        <p:nvSpPr>
          <p:cNvPr id="48" name="Shape 44"/>
          <p:cNvSpPr/>
          <p:nvPr/>
        </p:nvSpPr>
        <p:spPr>
          <a:xfrm>
            <a:off x="6631214" y="3603665"/>
            <a:ext cx="1892708" cy="169664"/>
          </a:xfrm>
          <a:prstGeom prst="rect">
            <a:avLst/>
          </a:prstGeom>
          <a:solidFill>
            <a:srgbClr val="0B1D36"/>
          </a:solidFill>
          <a:ln/>
        </p:spPr>
      </p:sp>
      <p:sp>
        <p:nvSpPr>
          <p:cNvPr id="49" name="Text 45"/>
          <p:cNvSpPr/>
          <p:nvPr/>
        </p:nvSpPr>
        <p:spPr>
          <a:xfrm>
            <a:off x="6631214" y="3603665"/>
            <a:ext cx="1892708" cy="169664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Quantity Sold by Product</a:t>
            </a:r>
            <a:endParaRPr lang="en-US" sz="550" dirty="0"/>
          </a:p>
        </p:txBody>
      </p:sp>
      <p:sp>
        <p:nvSpPr>
          <p:cNvPr id="50" name="Text 46"/>
          <p:cNvSpPr/>
          <p:nvPr/>
        </p:nvSpPr>
        <p:spPr>
          <a:xfrm>
            <a:off x="4384119" y="3773329"/>
            <a:ext cx="981135" cy="173057"/>
          </a:xfrm>
          <a:prstGeom prst="rect">
            <a:avLst/>
          </a:prstGeom>
          <a:noFill/>
          <a:ln/>
        </p:spPr>
        <p:txBody>
          <a:bodyPr wrap="non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0B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Unibic</a:t>
            </a:r>
            <a:endParaRPr lang="en-US" sz="550" dirty="0"/>
          </a:p>
        </p:txBody>
      </p:sp>
      <p:sp>
        <p:nvSpPr>
          <p:cNvPr id="51" name="Text 47"/>
          <p:cNvSpPr/>
          <p:nvPr/>
        </p:nvSpPr>
        <p:spPr>
          <a:xfrm>
            <a:off x="5365255" y="3773329"/>
            <a:ext cx="1265959" cy="173057"/>
          </a:xfrm>
          <a:prstGeom prst="rect">
            <a:avLst/>
          </a:prstGeom>
          <a:noFill/>
          <a:ln/>
        </p:spPr>
        <p:txBody>
          <a:bodyPr wrap="non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0B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78%</a:t>
            </a:r>
            <a:endParaRPr lang="en-US" sz="550" dirty="0"/>
          </a:p>
        </p:txBody>
      </p:sp>
      <p:sp>
        <p:nvSpPr>
          <p:cNvPr id="52" name="Text 48"/>
          <p:cNvSpPr/>
          <p:nvPr/>
        </p:nvSpPr>
        <p:spPr>
          <a:xfrm>
            <a:off x="6631214" y="3773329"/>
            <a:ext cx="1892708" cy="173057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0B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310,528</a:t>
            </a:r>
            <a:endParaRPr lang="en-US" sz="550" dirty="0"/>
          </a:p>
        </p:txBody>
      </p:sp>
      <p:sp>
        <p:nvSpPr>
          <p:cNvPr id="53" name="Text 49"/>
          <p:cNvSpPr/>
          <p:nvPr/>
        </p:nvSpPr>
        <p:spPr>
          <a:xfrm>
            <a:off x="4384119" y="3946386"/>
            <a:ext cx="981135" cy="176451"/>
          </a:xfrm>
          <a:prstGeom prst="rect">
            <a:avLst/>
          </a:prstGeom>
          <a:noFill/>
          <a:ln/>
        </p:spPr>
        <p:txBody>
          <a:bodyPr wrap="non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0B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Little Hearts</a:t>
            </a:r>
            <a:endParaRPr lang="en-US" sz="550" dirty="0"/>
          </a:p>
        </p:txBody>
      </p:sp>
      <p:sp>
        <p:nvSpPr>
          <p:cNvPr id="54" name="Text 50"/>
          <p:cNvSpPr/>
          <p:nvPr/>
        </p:nvSpPr>
        <p:spPr>
          <a:xfrm>
            <a:off x="5365255" y="3946386"/>
            <a:ext cx="1265959" cy="176451"/>
          </a:xfrm>
          <a:prstGeom prst="rect">
            <a:avLst/>
          </a:prstGeom>
          <a:noFill/>
          <a:ln/>
        </p:spPr>
        <p:txBody>
          <a:bodyPr wrap="non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0B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50%</a:t>
            </a:r>
            <a:endParaRPr lang="en-US" sz="550" dirty="0"/>
          </a:p>
        </p:txBody>
      </p:sp>
      <p:sp>
        <p:nvSpPr>
          <p:cNvPr id="55" name="Text 51"/>
          <p:cNvSpPr/>
          <p:nvPr/>
        </p:nvSpPr>
        <p:spPr>
          <a:xfrm>
            <a:off x="6631214" y="3946386"/>
            <a:ext cx="1892708" cy="176451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A3D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321,645</a:t>
            </a:r>
            <a:endParaRPr lang="en-US" sz="550" dirty="0"/>
          </a:p>
        </p:txBody>
      </p:sp>
      <p:sp>
        <p:nvSpPr>
          <p:cNvPr id="56" name="Text 52"/>
          <p:cNvSpPr/>
          <p:nvPr/>
        </p:nvSpPr>
        <p:spPr>
          <a:xfrm>
            <a:off x="4384119" y="4122837"/>
            <a:ext cx="981135" cy="176451"/>
          </a:xfrm>
          <a:prstGeom prst="rect">
            <a:avLst/>
          </a:prstGeom>
          <a:noFill/>
          <a:ln/>
        </p:spPr>
        <p:txBody>
          <a:bodyPr wrap="non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0B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Oreo</a:t>
            </a:r>
            <a:endParaRPr lang="en-US" sz="550" dirty="0"/>
          </a:p>
        </p:txBody>
      </p:sp>
      <p:sp>
        <p:nvSpPr>
          <p:cNvPr id="57" name="Text 53"/>
          <p:cNvSpPr/>
          <p:nvPr/>
        </p:nvSpPr>
        <p:spPr>
          <a:xfrm>
            <a:off x="5365255" y="4122837"/>
            <a:ext cx="1265959" cy="176451"/>
          </a:xfrm>
          <a:prstGeom prst="rect">
            <a:avLst/>
          </a:prstGeom>
          <a:noFill/>
          <a:ln/>
        </p:spPr>
        <p:txBody>
          <a:bodyPr wrap="non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0B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50%</a:t>
            </a:r>
            <a:endParaRPr lang="en-US" sz="550" dirty="0"/>
          </a:p>
        </p:txBody>
      </p:sp>
      <p:sp>
        <p:nvSpPr>
          <p:cNvPr id="58" name="Text 54"/>
          <p:cNvSpPr/>
          <p:nvPr/>
        </p:nvSpPr>
        <p:spPr>
          <a:xfrm>
            <a:off x="6631214" y="4122837"/>
            <a:ext cx="1892708" cy="176451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0B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320,845</a:t>
            </a:r>
            <a:endParaRPr lang="en-US" sz="550" dirty="0"/>
          </a:p>
        </p:txBody>
      </p:sp>
      <p:sp>
        <p:nvSpPr>
          <p:cNvPr id="59" name="Text 55"/>
          <p:cNvSpPr/>
          <p:nvPr/>
        </p:nvSpPr>
        <p:spPr>
          <a:xfrm>
            <a:off x="4384119" y="4299287"/>
            <a:ext cx="981135" cy="176450"/>
          </a:xfrm>
          <a:prstGeom prst="rect">
            <a:avLst/>
          </a:prstGeom>
          <a:noFill/>
          <a:ln/>
        </p:spPr>
        <p:txBody>
          <a:bodyPr wrap="non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0B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Sunfeast</a:t>
            </a:r>
            <a:endParaRPr lang="en-US" sz="550" dirty="0"/>
          </a:p>
        </p:txBody>
      </p:sp>
      <p:sp>
        <p:nvSpPr>
          <p:cNvPr id="60" name="Text 56"/>
          <p:cNvSpPr/>
          <p:nvPr/>
        </p:nvSpPr>
        <p:spPr>
          <a:xfrm>
            <a:off x="5365255" y="4299287"/>
            <a:ext cx="1265959" cy="176450"/>
          </a:xfrm>
          <a:prstGeom prst="rect">
            <a:avLst/>
          </a:prstGeom>
          <a:noFill/>
          <a:ln/>
        </p:spPr>
        <p:txBody>
          <a:bodyPr wrap="non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0B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40%</a:t>
            </a:r>
            <a:endParaRPr lang="en-US" sz="550" dirty="0"/>
          </a:p>
        </p:txBody>
      </p:sp>
      <p:sp>
        <p:nvSpPr>
          <p:cNvPr id="61" name="Text 57"/>
          <p:cNvSpPr/>
          <p:nvPr/>
        </p:nvSpPr>
        <p:spPr>
          <a:xfrm>
            <a:off x="6631214" y="4299287"/>
            <a:ext cx="1892708" cy="176450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0B2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297,163</a:t>
            </a:r>
            <a:endParaRPr lang="en-US" sz="550" dirty="0"/>
          </a:p>
        </p:txBody>
      </p:sp>
      <p:sp>
        <p:nvSpPr>
          <p:cNvPr id="63" name="Text 59"/>
          <p:cNvSpPr/>
          <p:nvPr/>
        </p:nvSpPr>
        <p:spPr>
          <a:xfrm>
            <a:off x="8276213" y="4648795"/>
            <a:ext cx="247709" cy="882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4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875" y="142875"/>
            <a:ext cx="8858250" cy="18071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142875" y="142875"/>
            <a:ext cx="35719" cy="180715"/>
          </a:xfrm>
          <a:prstGeom prst="rect">
            <a:avLst/>
          </a:prstGeom>
          <a:solidFill>
            <a:srgbClr val="1A6B7C"/>
          </a:solidFill>
          <a:ln/>
        </p:spPr>
      </p:sp>
      <p:sp>
        <p:nvSpPr>
          <p:cNvPr id="5" name="Text 2"/>
          <p:cNvSpPr/>
          <p:nvPr/>
        </p:nvSpPr>
        <p:spPr>
          <a:xfrm>
            <a:off x="142875" y="142875"/>
            <a:ext cx="8858250" cy="180715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051024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Male Demographics Drive 84% of Revenue; 69+ Age Group is the High-Value Segment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142875" y="409315"/>
            <a:ext cx="8858250" cy="542925"/>
          </a:xfrm>
          <a:prstGeom prst="rect">
            <a:avLst/>
          </a:prstGeom>
          <a:solidFill>
            <a:srgbClr val="0B1D36"/>
          </a:solidFill>
          <a:ln/>
        </p:spPr>
      </p:sp>
      <p:sp>
        <p:nvSpPr>
          <p:cNvPr id="7" name="Text 4"/>
          <p:cNvSpPr/>
          <p:nvPr/>
        </p:nvSpPr>
        <p:spPr>
          <a:xfrm>
            <a:off x="285750" y="523615"/>
            <a:ext cx="200918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3D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84%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85750" y="745071"/>
            <a:ext cx="2009180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50" kern="0" spc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MALE REVENUE CONTRIBUTION</a:t>
            </a:r>
            <a:endParaRPr lang="en-US" sz="550" dirty="0"/>
          </a:p>
        </p:txBody>
      </p:sp>
      <p:sp>
        <p:nvSpPr>
          <p:cNvPr id="9" name="Text 6"/>
          <p:cNvSpPr/>
          <p:nvPr/>
        </p:nvSpPr>
        <p:spPr>
          <a:xfrm>
            <a:off x="2473523" y="523615"/>
            <a:ext cx="200918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3D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$14.2M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473523" y="745071"/>
            <a:ext cx="2009180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50" kern="0" spc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FROM 69+ GROUP</a:t>
            </a:r>
            <a:endParaRPr lang="en-US" sz="550" dirty="0"/>
          </a:p>
        </p:txBody>
      </p:sp>
      <p:sp>
        <p:nvSpPr>
          <p:cNvPr id="11" name="Text 8"/>
          <p:cNvSpPr/>
          <p:nvPr/>
        </p:nvSpPr>
        <p:spPr>
          <a:xfrm>
            <a:off x="4661297" y="523615"/>
            <a:ext cx="200918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3D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690K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661297" y="745071"/>
            <a:ext cx="2009180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50" kern="0" spc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UNITS SOLD TO 69+ SEGMENT</a:t>
            </a:r>
            <a:endParaRPr lang="en-US" sz="550" dirty="0"/>
          </a:p>
        </p:txBody>
      </p:sp>
      <p:sp>
        <p:nvSpPr>
          <p:cNvPr id="13" name="Text 10"/>
          <p:cNvSpPr/>
          <p:nvPr/>
        </p:nvSpPr>
        <p:spPr>
          <a:xfrm>
            <a:off x="6849070" y="523615"/>
            <a:ext cx="200918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3D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4.8%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849070" y="745071"/>
            <a:ext cx="2009180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50" kern="0" spc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FEMALE MARKET SHARE</a:t>
            </a:r>
            <a:endParaRPr lang="en-US" sz="550" dirty="0"/>
          </a:p>
        </p:txBody>
      </p:sp>
      <p:sp>
        <p:nvSpPr>
          <p:cNvPr id="15" name="Text 12"/>
          <p:cNvSpPr/>
          <p:nvPr/>
        </p:nvSpPr>
        <p:spPr>
          <a:xfrm>
            <a:off x="142875" y="1052252"/>
            <a:ext cx="4364831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6B7C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Revenue by Gender</a:t>
            </a:r>
            <a:endParaRPr lang="en-US" sz="9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875" y="1298711"/>
            <a:ext cx="4364831" cy="11430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142875" y="2527436"/>
            <a:ext cx="1011845" cy="217884"/>
          </a:xfrm>
          <a:prstGeom prst="rect">
            <a:avLst/>
          </a:prstGeom>
          <a:solidFill>
            <a:srgbClr val="0B1D36"/>
          </a:solidFill>
          <a:ln/>
        </p:spPr>
      </p:sp>
      <p:sp>
        <p:nvSpPr>
          <p:cNvPr id="18" name="Text 14"/>
          <p:cNvSpPr/>
          <p:nvPr/>
        </p:nvSpPr>
        <p:spPr>
          <a:xfrm>
            <a:off x="142875" y="2527436"/>
            <a:ext cx="1011845" cy="217884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Gender</a:t>
            </a:r>
            <a:endParaRPr lang="en-US" sz="600" dirty="0"/>
          </a:p>
        </p:txBody>
      </p:sp>
      <p:sp>
        <p:nvSpPr>
          <p:cNvPr id="19" name="Shape 15"/>
          <p:cNvSpPr/>
          <p:nvPr/>
        </p:nvSpPr>
        <p:spPr>
          <a:xfrm>
            <a:off x="1154720" y="2527436"/>
            <a:ext cx="2238115" cy="217884"/>
          </a:xfrm>
          <a:prstGeom prst="rect">
            <a:avLst/>
          </a:prstGeom>
          <a:solidFill>
            <a:srgbClr val="0B1D36"/>
          </a:solidFill>
          <a:ln/>
        </p:spPr>
      </p:sp>
      <p:sp>
        <p:nvSpPr>
          <p:cNvPr id="20" name="Text 16"/>
          <p:cNvSpPr/>
          <p:nvPr/>
        </p:nvSpPr>
        <p:spPr>
          <a:xfrm>
            <a:off x="1154720" y="2527436"/>
            <a:ext cx="2238115" cy="21788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Revenue by Gender</a:t>
            </a:r>
            <a:endParaRPr lang="en-US" sz="600" dirty="0"/>
          </a:p>
        </p:txBody>
      </p:sp>
      <p:sp>
        <p:nvSpPr>
          <p:cNvPr id="21" name="Shape 17"/>
          <p:cNvSpPr/>
          <p:nvPr/>
        </p:nvSpPr>
        <p:spPr>
          <a:xfrm>
            <a:off x="3392835" y="2527436"/>
            <a:ext cx="1114871" cy="217884"/>
          </a:xfrm>
          <a:prstGeom prst="rect">
            <a:avLst/>
          </a:prstGeom>
          <a:solidFill>
            <a:srgbClr val="0B1D36"/>
          </a:solidFill>
          <a:ln/>
        </p:spPr>
      </p:sp>
      <p:sp>
        <p:nvSpPr>
          <p:cNvPr id="22" name="Text 18"/>
          <p:cNvSpPr/>
          <p:nvPr/>
        </p:nvSpPr>
        <p:spPr>
          <a:xfrm>
            <a:off x="3392835" y="2527436"/>
            <a:ext cx="1114871" cy="217884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% Share</a:t>
            </a:r>
            <a:endParaRPr lang="en-US" sz="600" dirty="0"/>
          </a:p>
        </p:txBody>
      </p:sp>
      <p:sp>
        <p:nvSpPr>
          <p:cNvPr id="23" name="Text 19"/>
          <p:cNvSpPr/>
          <p:nvPr/>
        </p:nvSpPr>
        <p:spPr>
          <a:xfrm>
            <a:off x="142875" y="2745321"/>
            <a:ext cx="1011845" cy="192881"/>
          </a:xfrm>
          <a:prstGeom prst="rect">
            <a:avLst/>
          </a:prstGeom>
          <a:noFill/>
          <a:ln/>
        </p:spPr>
        <p:txBody>
          <a:bodyPr wrap="non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Male</a:t>
            </a:r>
            <a:endParaRPr lang="en-US" sz="600" dirty="0"/>
          </a:p>
        </p:txBody>
      </p:sp>
      <p:sp>
        <p:nvSpPr>
          <p:cNvPr id="24" name="Text 20"/>
          <p:cNvSpPr/>
          <p:nvPr/>
        </p:nvSpPr>
        <p:spPr>
          <a:xfrm>
            <a:off x="1154720" y="2745321"/>
            <a:ext cx="2238115" cy="192881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A3D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$51,966,838</a:t>
            </a:r>
            <a:endParaRPr lang="en-US" sz="600" dirty="0"/>
          </a:p>
        </p:txBody>
      </p:sp>
      <p:sp>
        <p:nvSpPr>
          <p:cNvPr id="25" name="Text 21"/>
          <p:cNvSpPr/>
          <p:nvPr/>
        </p:nvSpPr>
        <p:spPr>
          <a:xfrm>
            <a:off x="3392835" y="2745321"/>
            <a:ext cx="1114871" cy="192881"/>
          </a:xfrm>
          <a:prstGeom prst="rect">
            <a:avLst/>
          </a:prstGeom>
          <a:noFill/>
          <a:ln/>
        </p:spPr>
        <p:txBody>
          <a:bodyPr wrap="non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84.4%</a:t>
            </a:r>
            <a:endParaRPr lang="en-US" sz="600" dirty="0"/>
          </a:p>
        </p:txBody>
      </p:sp>
      <p:sp>
        <p:nvSpPr>
          <p:cNvPr id="26" name="Shape 22"/>
          <p:cNvSpPr/>
          <p:nvPr/>
        </p:nvSpPr>
        <p:spPr>
          <a:xfrm>
            <a:off x="142875" y="2938202"/>
            <a:ext cx="4364831" cy="196453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7" name="Text 23"/>
          <p:cNvSpPr/>
          <p:nvPr/>
        </p:nvSpPr>
        <p:spPr>
          <a:xfrm>
            <a:off x="142875" y="2938202"/>
            <a:ext cx="1011845" cy="196453"/>
          </a:xfrm>
          <a:prstGeom prst="rect">
            <a:avLst/>
          </a:prstGeom>
          <a:noFill/>
          <a:ln/>
        </p:spPr>
        <p:txBody>
          <a:bodyPr wrap="non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Female</a:t>
            </a:r>
            <a:endParaRPr lang="en-US" sz="600" dirty="0"/>
          </a:p>
        </p:txBody>
      </p:sp>
      <p:sp>
        <p:nvSpPr>
          <p:cNvPr id="28" name="Text 24"/>
          <p:cNvSpPr/>
          <p:nvPr/>
        </p:nvSpPr>
        <p:spPr>
          <a:xfrm>
            <a:off x="1154720" y="2938202"/>
            <a:ext cx="2238115" cy="196453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$5,844,566</a:t>
            </a:r>
            <a:endParaRPr lang="en-US" sz="600" dirty="0"/>
          </a:p>
        </p:txBody>
      </p:sp>
      <p:sp>
        <p:nvSpPr>
          <p:cNvPr id="29" name="Text 25"/>
          <p:cNvSpPr/>
          <p:nvPr/>
        </p:nvSpPr>
        <p:spPr>
          <a:xfrm>
            <a:off x="3392835" y="2938202"/>
            <a:ext cx="1114871" cy="196453"/>
          </a:xfrm>
          <a:prstGeom prst="rect">
            <a:avLst/>
          </a:prstGeom>
          <a:noFill/>
          <a:ln/>
        </p:spPr>
        <p:txBody>
          <a:bodyPr wrap="non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9.5%</a:t>
            </a:r>
            <a:endParaRPr lang="en-US" sz="600" dirty="0"/>
          </a:p>
        </p:txBody>
      </p:sp>
      <p:sp>
        <p:nvSpPr>
          <p:cNvPr id="30" name="Text 26"/>
          <p:cNvSpPr/>
          <p:nvPr/>
        </p:nvSpPr>
        <p:spPr>
          <a:xfrm>
            <a:off x="142875" y="3134655"/>
            <a:ext cx="1011845" cy="196453"/>
          </a:xfrm>
          <a:prstGeom prst="rect">
            <a:avLst/>
          </a:prstGeom>
          <a:noFill/>
          <a:ln/>
        </p:spPr>
        <p:txBody>
          <a:bodyPr wrap="non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</a:t>
            </a:r>
            <a:endParaRPr lang="en-US" sz="600" dirty="0"/>
          </a:p>
        </p:txBody>
      </p:sp>
      <p:sp>
        <p:nvSpPr>
          <p:cNvPr id="31" name="Text 27"/>
          <p:cNvSpPr/>
          <p:nvPr/>
        </p:nvSpPr>
        <p:spPr>
          <a:xfrm>
            <a:off x="1154720" y="3134655"/>
            <a:ext cx="2238115" cy="196453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$3,756,479</a:t>
            </a:r>
            <a:endParaRPr lang="en-US" sz="600" dirty="0"/>
          </a:p>
        </p:txBody>
      </p:sp>
      <p:sp>
        <p:nvSpPr>
          <p:cNvPr id="32" name="Text 28"/>
          <p:cNvSpPr/>
          <p:nvPr/>
        </p:nvSpPr>
        <p:spPr>
          <a:xfrm>
            <a:off x="3392835" y="3134655"/>
            <a:ext cx="1114871" cy="196453"/>
          </a:xfrm>
          <a:prstGeom prst="rect">
            <a:avLst/>
          </a:prstGeom>
          <a:noFill/>
          <a:ln/>
        </p:spPr>
        <p:txBody>
          <a:bodyPr wrap="non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6.1%</a:t>
            </a:r>
            <a:endParaRPr lang="en-US" sz="600" dirty="0"/>
          </a:p>
        </p:txBody>
      </p:sp>
      <p:sp>
        <p:nvSpPr>
          <p:cNvPr id="33" name="Text 29"/>
          <p:cNvSpPr/>
          <p:nvPr/>
        </p:nvSpPr>
        <p:spPr>
          <a:xfrm>
            <a:off x="4636294" y="1052252"/>
            <a:ext cx="4364831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6B7C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Revenue by Age Group</a:t>
            </a:r>
            <a:endParaRPr lang="en-US" sz="900" dirty="0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294" y="1298711"/>
            <a:ext cx="4364831" cy="1143000"/>
          </a:xfrm>
          <a:prstGeom prst="rect">
            <a:avLst/>
          </a:prstGeom>
        </p:spPr>
      </p:pic>
      <p:sp>
        <p:nvSpPr>
          <p:cNvPr id="35" name="Shape 30"/>
          <p:cNvSpPr/>
          <p:nvPr/>
        </p:nvSpPr>
        <p:spPr>
          <a:xfrm>
            <a:off x="4636294" y="2527436"/>
            <a:ext cx="1461176" cy="217884"/>
          </a:xfrm>
          <a:prstGeom prst="rect">
            <a:avLst/>
          </a:prstGeom>
          <a:solidFill>
            <a:srgbClr val="0B1D36"/>
          </a:solidFill>
          <a:ln/>
        </p:spPr>
      </p:sp>
      <p:sp>
        <p:nvSpPr>
          <p:cNvPr id="36" name="Text 31"/>
          <p:cNvSpPr/>
          <p:nvPr/>
        </p:nvSpPr>
        <p:spPr>
          <a:xfrm>
            <a:off x="4636294" y="2527436"/>
            <a:ext cx="1461176" cy="21788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Age Group</a:t>
            </a:r>
            <a:endParaRPr lang="en-US" sz="600" dirty="0"/>
          </a:p>
        </p:txBody>
      </p:sp>
      <p:sp>
        <p:nvSpPr>
          <p:cNvPr id="37" name="Shape 32"/>
          <p:cNvSpPr/>
          <p:nvPr/>
        </p:nvSpPr>
        <p:spPr>
          <a:xfrm>
            <a:off x="6097470" y="2527436"/>
            <a:ext cx="1620403" cy="217884"/>
          </a:xfrm>
          <a:prstGeom prst="rect">
            <a:avLst/>
          </a:prstGeom>
          <a:solidFill>
            <a:srgbClr val="0B1D36"/>
          </a:solidFill>
          <a:ln/>
        </p:spPr>
      </p:sp>
      <p:sp>
        <p:nvSpPr>
          <p:cNvPr id="38" name="Text 33"/>
          <p:cNvSpPr/>
          <p:nvPr/>
        </p:nvSpPr>
        <p:spPr>
          <a:xfrm>
            <a:off x="6097470" y="2527436"/>
            <a:ext cx="1620403" cy="21788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Revenue</a:t>
            </a:r>
            <a:endParaRPr lang="en-US" sz="600" dirty="0"/>
          </a:p>
        </p:txBody>
      </p:sp>
      <p:sp>
        <p:nvSpPr>
          <p:cNvPr id="39" name="Shape 34"/>
          <p:cNvSpPr/>
          <p:nvPr/>
        </p:nvSpPr>
        <p:spPr>
          <a:xfrm>
            <a:off x="7717873" y="2527436"/>
            <a:ext cx="1283252" cy="217884"/>
          </a:xfrm>
          <a:prstGeom prst="rect">
            <a:avLst/>
          </a:prstGeom>
          <a:solidFill>
            <a:srgbClr val="0B1D36"/>
          </a:solidFill>
          <a:ln/>
        </p:spPr>
      </p:sp>
      <p:sp>
        <p:nvSpPr>
          <p:cNvPr id="40" name="Text 35"/>
          <p:cNvSpPr/>
          <p:nvPr/>
        </p:nvSpPr>
        <p:spPr>
          <a:xfrm>
            <a:off x="7717873" y="2527436"/>
            <a:ext cx="1283252" cy="217884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Unit Sold</a:t>
            </a:r>
            <a:endParaRPr lang="en-US" sz="600" dirty="0"/>
          </a:p>
        </p:txBody>
      </p:sp>
      <p:sp>
        <p:nvSpPr>
          <p:cNvPr id="41" name="Text 36"/>
          <p:cNvSpPr/>
          <p:nvPr/>
        </p:nvSpPr>
        <p:spPr>
          <a:xfrm>
            <a:off x="4636294" y="2745321"/>
            <a:ext cx="1461176" cy="192881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18-28</a:t>
            </a:r>
            <a:endParaRPr lang="en-US" sz="600" dirty="0"/>
          </a:p>
        </p:txBody>
      </p:sp>
      <p:sp>
        <p:nvSpPr>
          <p:cNvPr id="42" name="Text 37"/>
          <p:cNvSpPr/>
          <p:nvPr/>
        </p:nvSpPr>
        <p:spPr>
          <a:xfrm>
            <a:off x="6097470" y="2745321"/>
            <a:ext cx="1620403" cy="192881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$8,586,611</a:t>
            </a:r>
            <a:endParaRPr lang="en-US" sz="600" dirty="0"/>
          </a:p>
        </p:txBody>
      </p:sp>
      <p:sp>
        <p:nvSpPr>
          <p:cNvPr id="43" name="Text 38"/>
          <p:cNvSpPr/>
          <p:nvPr/>
        </p:nvSpPr>
        <p:spPr>
          <a:xfrm>
            <a:off x="7717873" y="2745321"/>
            <a:ext cx="1283252" cy="192881"/>
          </a:xfrm>
          <a:prstGeom prst="rect">
            <a:avLst/>
          </a:prstGeom>
          <a:noFill/>
          <a:ln/>
        </p:spPr>
        <p:txBody>
          <a:bodyPr wrap="non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426,212</a:t>
            </a:r>
            <a:endParaRPr lang="en-US" sz="600" dirty="0"/>
          </a:p>
        </p:txBody>
      </p:sp>
      <p:sp>
        <p:nvSpPr>
          <p:cNvPr id="44" name="Shape 39"/>
          <p:cNvSpPr/>
          <p:nvPr/>
        </p:nvSpPr>
        <p:spPr>
          <a:xfrm>
            <a:off x="4636294" y="2938202"/>
            <a:ext cx="4364831" cy="196453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45" name="Text 40"/>
          <p:cNvSpPr/>
          <p:nvPr/>
        </p:nvSpPr>
        <p:spPr>
          <a:xfrm>
            <a:off x="4636294" y="2938202"/>
            <a:ext cx="1461176" cy="196453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49-58</a:t>
            </a:r>
            <a:endParaRPr lang="en-US" sz="600" dirty="0"/>
          </a:p>
        </p:txBody>
      </p:sp>
      <p:sp>
        <p:nvSpPr>
          <p:cNvPr id="46" name="Text 41"/>
          <p:cNvSpPr/>
          <p:nvPr/>
        </p:nvSpPr>
        <p:spPr>
          <a:xfrm>
            <a:off x="6097470" y="2938202"/>
            <a:ext cx="1620403" cy="196453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$9,482,226</a:t>
            </a:r>
            <a:endParaRPr lang="en-US" sz="600" dirty="0"/>
          </a:p>
        </p:txBody>
      </p:sp>
      <p:sp>
        <p:nvSpPr>
          <p:cNvPr id="47" name="Text 42"/>
          <p:cNvSpPr/>
          <p:nvPr/>
        </p:nvSpPr>
        <p:spPr>
          <a:xfrm>
            <a:off x="7717873" y="2938202"/>
            <a:ext cx="1283252" cy="196453"/>
          </a:xfrm>
          <a:prstGeom prst="rect">
            <a:avLst/>
          </a:prstGeom>
          <a:noFill/>
          <a:ln/>
        </p:spPr>
        <p:txBody>
          <a:bodyPr wrap="non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500,108</a:t>
            </a:r>
            <a:endParaRPr lang="en-US" sz="600" dirty="0"/>
          </a:p>
        </p:txBody>
      </p:sp>
      <p:sp>
        <p:nvSpPr>
          <p:cNvPr id="48" name="Text 43"/>
          <p:cNvSpPr/>
          <p:nvPr/>
        </p:nvSpPr>
        <p:spPr>
          <a:xfrm>
            <a:off x="4636294" y="3134655"/>
            <a:ext cx="1461176" cy="196453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69+</a:t>
            </a:r>
            <a:endParaRPr lang="en-US" sz="600" dirty="0"/>
          </a:p>
        </p:txBody>
      </p:sp>
      <p:sp>
        <p:nvSpPr>
          <p:cNvPr id="49" name="Text 44"/>
          <p:cNvSpPr/>
          <p:nvPr/>
        </p:nvSpPr>
        <p:spPr>
          <a:xfrm>
            <a:off x="6097470" y="3134655"/>
            <a:ext cx="1620403" cy="196453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A3D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$14,213,075</a:t>
            </a:r>
            <a:endParaRPr lang="en-US" sz="600" dirty="0"/>
          </a:p>
        </p:txBody>
      </p:sp>
      <p:sp>
        <p:nvSpPr>
          <p:cNvPr id="50" name="Text 45"/>
          <p:cNvSpPr/>
          <p:nvPr/>
        </p:nvSpPr>
        <p:spPr>
          <a:xfrm>
            <a:off x="7717873" y="3134655"/>
            <a:ext cx="1283252" cy="196453"/>
          </a:xfrm>
          <a:prstGeom prst="rect">
            <a:avLst/>
          </a:prstGeom>
          <a:noFill/>
          <a:ln/>
        </p:spPr>
        <p:txBody>
          <a:bodyPr wrap="non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690,924</a:t>
            </a:r>
            <a:endParaRPr lang="en-US" sz="600" dirty="0"/>
          </a:p>
        </p:txBody>
      </p:sp>
      <p:sp>
        <p:nvSpPr>
          <p:cNvPr id="51" name="Shape 46"/>
          <p:cNvSpPr/>
          <p:nvPr/>
        </p:nvSpPr>
        <p:spPr>
          <a:xfrm>
            <a:off x="4636294" y="3406118"/>
            <a:ext cx="4364831" cy="555036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52" name="Shape 47"/>
          <p:cNvSpPr/>
          <p:nvPr/>
        </p:nvSpPr>
        <p:spPr>
          <a:xfrm>
            <a:off x="4636294" y="3406118"/>
            <a:ext cx="4364831" cy="21431"/>
          </a:xfrm>
          <a:prstGeom prst="rect">
            <a:avLst/>
          </a:prstGeom>
          <a:solidFill>
            <a:srgbClr val="1A6B7C"/>
          </a:solidFill>
          <a:ln/>
        </p:spPr>
      </p:sp>
      <p:sp>
        <p:nvSpPr>
          <p:cNvPr id="53" name="Text 48"/>
          <p:cNvSpPr/>
          <p:nvPr/>
        </p:nvSpPr>
        <p:spPr>
          <a:xfrm>
            <a:off x="4722019" y="3491843"/>
            <a:ext cx="4193381" cy="36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05102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Strategic Takeaway:</a:t>
            </a:r>
            <a:r>
              <a:rPr lang="en-US" sz="650" dirty="0">
                <a:solidFill>
                  <a:srgbClr val="0510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aging demographic (69+) represents the most valuable segment in terms of both volume and revenue. Loyalty programs should prioritize this group while exploring growth tactics for the under-indexed female market.</a:t>
            </a:r>
            <a:endParaRPr lang="en-US" sz="650" dirty="0"/>
          </a:p>
        </p:txBody>
      </p:sp>
      <p:sp>
        <p:nvSpPr>
          <p:cNvPr id="54" name="Shape 49"/>
          <p:cNvSpPr/>
          <p:nvPr/>
        </p:nvSpPr>
        <p:spPr>
          <a:xfrm>
            <a:off x="142875" y="4814888"/>
            <a:ext cx="8858250" cy="1857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5" name="Shape 50"/>
          <p:cNvSpPr/>
          <p:nvPr/>
        </p:nvSpPr>
        <p:spPr>
          <a:xfrm>
            <a:off x="142875" y="4814888"/>
            <a:ext cx="885825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Text 52"/>
          <p:cNvSpPr/>
          <p:nvPr/>
        </p:nvSpPr>
        <p:spPr>
          <a:xfrm>
            <a:off x="8743950" y="4907756"/>
            <a:ext cx="257175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5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875" y="142875"/>
            <a:ext cx="8858250" cy="17284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142875" y="142875"/>
            <a:ext cx="35719" cy="172845"/>
          </a:xfrm>
          <a:prstGeom prst="rect">
            <a:avLst/>
          </a:prstGeom>
          <a:solidFill>
            <a:srgbClr val="1A6B7C"/>
          </a:solidFill>
          <a:ln/>
        </p:spPr>
      </p:sp>
      <p:sp>
        <p:nvSpPr>
          <p:cNvPr id="5" name="Text 2"/>
          <p:cNvSpPr/>
          <p:nvPr/>
        </p:nvSpPr>
        <p:spPr>
          <a:xfrm>
            <a:off x="142875" y="142875"/>
            <a:ext cx="8858250" cy="172845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100" b="1" dirty="0">
                <a:solidFill>
                  <a:srgbClr val="051024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Top 3 Sales Representatives Drive 50%+ of Total Revenue and Profitability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142875" y="401445"/>
            <a:ext cx="8858250" cy="575072"/>
          </a:xfrm>
          <a:prstGeom prst="rect">
            <a:avLst/>
          </a:prstGeom>
          <a:solidFill>
            <a:srgbClr val="0B1D36"/>
          </a:solidFill>
          <a:ln/>
        </p:spPr>
      </p:sp>
      <p:sp>
        <p:nvSpPr>
          <p:cNvPr id="7" name="Text 4"/>
          <p:cNvSpPr/>
          <p:nvPr/>
        </p:nvSpPr>
        <p:spPr>
          <a:xfrm>
            <a:off x="285750" y="515745"/>
            <a:ext cx="2009180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3D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$10.9M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85750" y="769348"/>
            <a:ext cx="2009180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50" kern="0" spc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REP REVENUE (TRAVIS DOYLE)</a:t>
            </a:r>
            <a:endParaRPr lang="en-US" sz="550" dirty="0"/>
          </a:p>
        </p:txBody>
      </p:sp>
      <p:sp>
        <p:nvSpPr>
          <p:cNvPr id="9" name="Text 6"/>
          <p:cNvSpPr/>
          <p:nvPr/>
        </p:nvSpPr>
        <p:spPr>
          <a:xfrm>
            <a:off x="2473523" y="515745"/>
            <a:ext cx="2009180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3D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17.7%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473523" y="769348"/>
            <a:ext cx="2009180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50" kern="0" spc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TRAVIS DOYLE % CONTRIBUTION</a:t>
            </a:r>
            <a:endParaRPr lang="en-US" sz="550" dirty="0"/>
          </a:p>
        </p:txBody>
      </p:sp>
      <p:sp>
        <p:nvSpPr>
          <p:cNvPr id="11" name="Text 8"/>
          <p:cNvSpPr/>
          <p:nvPr/>
        </p:nvSpPr>
        <p:spPr>
          <a:xfrm>
            <a:off x="4661297" y="515745"/>
            <a:ext cx="2009180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3D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$4.8M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61297" y="769348"/>
            <a:ext cx="2009180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50" kern="0" spc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REP PROFIT</a:t>
            </a:r>
            <a:endParaRPr lang="en-US" sz="550" dirty="0"/>
          </a:p>
        </p:txBody>
      </p:sp>
      <p:sp>
        <p:nvSpPr>
          <p:cNvPr id="13" name="Text 10"/>
          <p:cNvSpPr/>
          <p:nvPr/>
        </p:nvSpPr>
        <p:spPr>
          <a:xfrm>
            <a:off x="6849070" y="515745"/>
            <a:ext cx="2009180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3D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Concentrated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849070" y="769348"/>
            <a:ext cx="2009180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50" kern="0" spc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RISK</a:t>
            </a:r>
            <a:endParaRPr lang="en-US" sz="550" dirty="0"/>
          </a:p>
        </p:txBody>
      </p:sp>
      <p:sp>
        <p:nvSpPr>
          <p:cNvPr id="15" name="Text 12"/>
          <p:cNvSpPr/>
          <p:nvPr/>
        </p:nvSpPr>
        <p:spPr>
          <a:xfrm>
            <a:off x="142875" y="1076530"/>
            <a:ext cx="4801270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6B7C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Performance by Representative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142875" y="1322989"/>
            <a:ext cx="1920497" cy="321469"/>
          </a:xfrm>
          <a:prstGeom prst="rect">
            <a:avLst/>
          </a:prstGeom>
          <a:solidFill>
            <a:srgbClr val="0B1D36"/>
          </a:solidFill>
          <a:ln/>
        </p:spPr>
      </p:sp>
      <p:sp>
        <p:nvSpPr>
          <p:cNvPr id="17" name="Text 14"/>
          <p:cNvSpPr/>
          <p:nvPr/>
        </p:nvSpPr>
        <p:spPr>
          <a:xfrm>
            <a:off x="142875" y="1322989"/>
            <a:ext cx="1920497" cy="32146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Sales Representative</a:t>
            </a:r>
            <a:endParaRPr lang="en-US" sz="600" dirty="0"/>
          </a:p>
        </p:txBody>
      </p:sp>
      <p:sp>
        <p:nvSpPr>
          <p:cNvPr id="18" name="Shape 15"/>
          <p:cNvSpPr/>
          <p:nvPr/>
        </p:nvSpPr>
        <p:spPr>
          <a:xfrm>
            <a:off x="2063372" y="1322989"/>
            <a:ext cx="960220" cy="321469"/>
          </a:xfrm>
          <a:prstGeom prst="rect">
            <a:avLst/>
          </a:prstGeom>
          <a:solidFill>
            <a:srgbClr val="0B1D36"/>
          </a:solidFill>
          <a:ln/>
        </p:spPr>
      </p:sp>
      <p:sp>
        <p:nvSpPr>
          <p:cNvPr id="19" name="Text 16"/>
          <p:cNvSpPr/>
          <p:nvPr/>
        </p:nvSpPr>
        <p:spPr>
          <a:xfrm>
            <a:off x="2063372" y="1322989"/>
            <a:ext cx="960220" cy="32146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Total Revenue by Sales Rep</a:t>
            </a:r>
            <a:endParaRPr lang="en-US" sz="600" dirty="0"/>
          </a:p>
        </p:txBody>
      </p:sp>
      <p:sp>
        <p:nvSpPr>
          <p:cNvPr id="20" name="Shape 17"/>
          <p:cNvSpPr/>
          <p:nvPr/>
        </p:nvSpPr>
        <p:spPr>
          <a:xfrm>
            <a:off x="3023592" y="1322989"/>
            <a:ext cx="960220" cy="321469"/>
          </a:xfrm>
          <a:prstGeom prst="rect">
            <a:avLst/>
          </a:prstGeom>
          <a:solidFill>
            <a:srgbClr val="0B1D36"/>
          </a:solidFill>
          <a:ln/>
        </p:spPr>
      </p:sp>
      <p:sp>
        <p:nvSpPr>
          <p:cNvPr id="21" name="Text 18"/>
          <p:cNvSpPr/>
          <p:nvPr/>
        </p:nvSpPr>
        <p:spPr>
          <a:xfrm>
            <a:off x="3023592" y="1322989"/>
            <a:ext cx="960220" cy="32146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Profit by Sales Rep</a:t>
            </a:r>
            <a:endParaRPr lang="en-US" sz="600" dirty="0"/>
          </a:p>
        </p:txBody>
      </p:sp>
      <p:sp>
        <p:nvSpPr>
          <p:cNvPr id="22" name="Shape 19"/>
          <p:cNvSpPr/>
          <p:nvPr/>
        </p:nvSpPr>
        <p:spPr>
          <a:xfrm>
            <a:off x="3983813" y="1322989"/>
            <a:ext cx="960332" cy="321469"/>
          </a:xfrm>
          <a:prstGeom prst="rect">
            <a:avLst/>
          </a:prstGeom>
          <a:solidFill>
            <a:srgbClr val="0B1D36"/>
          </a:solidFill>
          <a:ln/>
        </p:spPr>
      </p:sp>
      <p:sp>
        <p:nvSpPr>
          <p:cNvPr id="23" name="Text 20"/>
          <p:cNvSpPr/>
          <p:nvPr/>
        </p:nvSpPr>
        <p:spPr>
          <a:xfrm>
            <a:off x="3983813" y="1322989"/>
            <a:ext cx="960332" cy="321469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%Contribution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142875" y="1644458"/>
            <a:ext cx="1920497" cy="192881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B1D3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Travis Doyle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2063372" y="1644458"/>
            <a:ext cx="960220" cy="192881"/>
          </a:xfrm>
          <a:prstGeom prst="rect">
            <a:avLst/>
          </a:prstGeom>
          <a:noFill/>
          <a:ln/>
        </p:spPr>
        <p:txBody>
          <a:bodyPr wrap="non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A3D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$10,880,651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3023592" y="1644458"/>
            <a:ext cx="960220" cy="192881"/>
          </a:xfrm>
          <a:prstGeom prst="rect">
            <a:avLst/>
          </a:prstGeom>
          <a:noFill/>
          <a:ln/>
        </p:spPr>
        <p:txBody>
          <a:bodyPr wrap="non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0B1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$4,777,896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3983813" y="1644458"/>
            <a:ext cx="960332" cy="192881"/>
          </a:xfrm>
          <a:prstGeom prst="rect">
            <a:avLst/>
          </a:prstGeom>
          <a:noFill/>
          <a:ln/>
        </p:spPr>
        <p:txBody>
          <a:bodyPr wrap="non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0B1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17.67%</a:t>
            </a:r>
            <a:endParaRPr lang="en-US" sz="600" dirty="0"/>
          </a:p>
        </p:txBody>
      </p:sp>
      <p:sp>
        <p:nvSpPr>
          <p:cNvPr id="28" name="Shape 25"/>
          <p:cNvSpPr/>
          <p:nvPr/>
        </p:nvSpPr>
        <p:spPr>
          <a:xfrm>
            <a:off x="142875" y="1837339"/>
            <a:ext cx="4801270" cy="196453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9" name="Text 26"/>
          <p:cNvSpPr/>
          <p:nvPr/>
        </p:nvSpPr>
        <p:spPr>
          <a:xfrm>
            <a:off x="142875" y="1837339"/>
            <a:ext cx="1920497" cy="196453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B1D3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Joseph Hill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2063372" y="1837339"/>
            <a:ext cx="960220" cy="196453"/>
          </a:xfrm>
          <a:prstGeom prst="rect">
            <a:avLst/>
          </a:prstGeom>
          <a:noFill/>
          <a:ln/>
        </p:spPr>
        <p:txBody>
          <a:bodyPr wrap="non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0B1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$10,539,847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3023592" y="1837339"/>
            <a:ext cx="960220" cy="196453"/>
          </a:xfrm>
          <a:prstGeom prst="rect">
            <a:avLst/>
          </a:prstGeom>
          <a:noFill/>
          <a:ln/>
        </p:spPr>
        <p:txBody>
          <a:bodyPr wrap="non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0B1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$4,629,281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3983813" y="1837339"/>
            <a:ext cx="960332" cy="196453"/>
          </a:xfrm>
          <a:prstGeom prst="rect">
            <a:avLst/>
          </a:prstGeom>
          <a:noFill/>
          <a:ln/>
        </p:spPr>
        <p:txBody>
          <a:bodyPr wrap="non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0B1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17.12%</a:t>
            </a:r>
            <a:endParaRPr lang="en-US" sz="600" dirty="0"/>
          </a:p>
        </p:txBody>
      </p:sp>
      <p:sp>
        <p:nvSpPr>
          <p:cNvPr id="33" name="Text 30"/>
          <p:cNvSpPr/>
          <p:nvPr/>
        </p:nvSpPr>
        <p:spPr>
          <a:xfrm>
            <a:off x="142875" y="2033792"/>
            <a:ext cx="1920497" cy="196453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B1D3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April Watkins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2063372" y="2033792"/>
            <a:ext cx="960220" cy="196453"/>
          </a:xfrm>
          <a:prstGeom prst="rect">
            <a:avLst/>
          </a:prstGeom>
          <a:noFill/>
          <a:ln/>
        </p:spPr>
        <p:txBody>
          <a:bodyPr wrap="non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0B1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$9,402,955</a:t>
            </a:r>
            <a:endParaRPr lang="en-US" sz="600" dirty="0"/>
          </a:p>
        </p:txBody>
      </p:sp>
      <p:sp>
        <p:nvSpPr>
          <p:cNvPr id="35" name="Text 32"/>
          <p:cNvSpPr/>
          <p:nvPr/>
        </p:nvSpPr>
        <p:spPr>
          <a:xfrm>
            <a:off x="3023592" y="2033792"/>
            <a:ext cx="960220" cy="196453"/>
          </a:xfrm>
          <a:prstGeom prst="rect">
            <a:avLst/>
          </a:prstGeom>
          <a:noFill/>
          <a:ln/>
        </p:spPr>
        <p:txBody>
          <a:bodyPr wrap="non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0B1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$3,987,214</a:t>
            </a:r>
            <a:endParaRPr lang="en-US" sz="600" dirty="0"/>
          </a:p>
        </p:txBody>
      </p:sp>
      <p:sp>
        <p:nvSpPr>
          <p:cNvPr id="36" name="Text 33"/>
          <p:cNvSpPr/>
          <p:nvPr/>
        </p:nvSpPr>
        <p:spPr>
          <a:xfrm>
            <a:off x="3983813" y="2033792"/>
            <a:ext cx="960332" cy="196453"/>
          </a:xfrm>
          <a:prstGeom prst="rect">
            <a:avLst/>
          </a:prstGeom>
          <a:noFill/>
          <a:ln/>
        </p:spPr>
        <p:txBody>
          <a:bodyPr wrap="non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0B1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15.27%</a:t>
            </a:r>
            <a:endParaRPr lang="en-US" sz="600" dirty="0"/>
          </a:p>
        </p:txBody>
      </p:sp>
      <p:sp>
        <p:nvSpPr>
          <p:cNvPr id="37" name="Shape 34"/>
          <p:cNvSpPr/>
          <p:nvPr/>
        </p:nvSpPr>
        <p:spPr>
          <a:xfrm>
            <a:off x="142875" y="2230245"/>
            <a:ext cx="4801270" cy="196453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8" name="Text 35"/>
          <p:cNvSpPr/>
          <p:nvPr/>
        </p:nvSpPr>
        <p:spPr>
          <a:xfrm>
            <a:off x="142875" y="2230245"/>
            <a:ext cx="1920497" cy="196453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B1D3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Susan Dean</a:t>
            </a:r>
            <a:endParaRPr lang="en-US" sz="600" dirty="0"/>
          </a:p>
        </p:txBody>
      </p:sp>
      <p:sp>
        <p:nvSpPr>
          <p:cNvPr id="39" name="Text 36"/>
          <p:cNvSpPr/>
          <p:nvPr/>
        </p:nvSpPr>
        <p:spPr>
          <a:xfrm>
            <a:off x="2063372" y="2230245"/>
            <a:ext cx="960220" cy="196453"/>
          </a:xfrm>
          <a:prstGeom prst="rect">
            <a:avLst/>
          </a:prstGeom>
          <a:noFill/>
          <a:ln/>
        </p:spPr>
        <p:txBody>
          <a:bodyPr wrap="non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0B1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$8,667,028</a:t>
            </a:r>
            <a:endParaRPr lang="en-US" sz="600" dirty="0"/>
          </a:p>
        </p:txBody>
      </p:sp>
      <p:sp>
        <p:nvSpPr>
          <p:cNvPr id="40" name="Text 37"/>
          <p:cNvSpPr/>
          <p:nvPr/>
        </p:nvSpPr>
        <p:spPr>
          <a:xfrm>
            <a:off x="3023592" y="2230245"/>
            <a:ext cx="960220" cy="196453"/>
          </a:xfrm>
          <a:prstGeom prst="rect">
            <a:avLst/>
          </a:prstGeom>
          <a:noFill/>
          <a:ln/>
        </p:spPr>
        <p:txBody>
          <a:bodyPr wrap="non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0B1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$3,812,100</a:t>
            </a:r>
            <a:endParaRPr lang="en-US" sz="600" dirty="0"/>
          </a:p>
        </p:txBody>
      </p:sp>
      <p:sp>
        <p:nvSpPr>
          <p:cNvPr id="41" name="Text 38"/>
          <p:cNvSpPr/>
          <p:nvPr/>
        </p:nvSpPr>
        <p:spPr>
          <a:xfrm>
            <a:off x="3983813" y="2230245"/>
            <a:ext cx="960332" cy="196453"/>
          </a:xfrm>
          <a:prstGeom prst="rect">
            <a:avLst/>
          </a:prstGeom>
          <a:noFill/>
          <a:ln/>
        </p:spPr>
        <p:txBody>
          <a:bodyPr wrap="non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0B1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14.08%</a:t>
            </a:r>
            <a:endParaRPr lang="en-US" sz="600" dirty="0"/>
          </a:p>
        </p:txBody>
      </p:sp>
      <p:sp>
        <p:nvSpPr>
          <p:cNvPr id="42" name="Text 39"/>
          <p:cNvSpPr/>
          <p:nvPr/>
        </p:nvSpPr>
        <p:spPr>
          <a:xfrm>
            <a:off x="142875" y="2426698"/>
            <a:ext cx="1920497" cy="196453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B1D3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Sara Robertson</a:t>
            </a:r>
            <a:endParaRPr lang="en-US" sz="600" dirty="0"/>
          </a:p>
        </p:txBody>
      </p:sp>
      <p:sp>
        <p:nvSpPr>
          <p:cNvPr id="43" name="Text 40"/>
          <p:cNvSpPr/>
          <p:nvPr/>
        </p:nvSpPr>
        <p:spPr>
          <a:xfrm>
            <a:off x="2063372" y="2426698"/>
            <a:ext cx="960220" cy="196453"/>
          </a:xfrm>
          <a:prstGeom prst="rect">
            <a:avLst/>
          </a:prstGeom>
          <a:noFill/>
          <a:ln/>
        </p:spPr>
        <p:txBody>
          <a:bodyPr wrap="non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0B1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$7,697,702</a:t>
            </a:r>
            <a:endParaRPr lang="en-US" sz="600" dirty="0"/>
          </a:p>
        </p:txBody>
      </p:sp>
      <p:sp>
        <p:nvSpPr>
          <p:cNvPr id="44" name="Text 41"/>
          <p:cNvSpPr/>
          <p:nvPr/>
        </p:nvSpPr>
        <p:spPr>
          <a:xfrm>
            <a:off x="3023592" y="2426698"/>
            <a:ext cx="960220" cy="196453"/>
          </a:xfrm>
          <a:prstGeom prst="rect">
            <a:avLst/>
          </a:prstGeom>
          <a:noFill/>
          <a:ln/>
        </p:spPr>
        <p:txBody>
          <a:bodyPr wrap="non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0B1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$3,368,343</a:t>
            </a:r>
            <a:endParaRPr lang="en-US" sz="600" dirty="0"/>
          </a:p>
        </p:txBody>
      </p:sp>
      <p:sp>
        <p:nvSpPr>
          <p:cNvPr id="45" name="Text 42"/>
          <p:cNvSpPr/>
          <p:nvPr/>
        </p:nvSpPr>
        <p:spPr>
          <a:xfrm>
            <a:off x="3983813" y="2426698"/>
            <a:ext cx="960332" cy="196453"/>
          </a:xfrm>
          <a:prstGeom prst="rect">
            <a:avLst/>
          </a:prstGeom>
          <a:noFill/>
          <a:ln/>
        </p:spPr>
        <p:txBody>
          <a:bodyPr wrap="non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0B1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12.50%</a:t>
            </a:r>
            <a:endParaRPr lang="en-US" sz="600" dirty="0"/>
          </a:p>
        </p:txBody>
      </p:sp>
      <p:sp>
        <p:nvSpPr>
          <p:cNvPr id="46" name="Shape 43"/>
          <p:cNvSpPr/>
          <p:nvPr/>
        </p:nvSpPr>
        <p:spPr>
          <a:xfrm>
            <a:off x="142875" y="2623152"/>
            <a:ext cx="4801270" cy="196453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47" name="Text 44"/>
          <p:cNvSpPr/>
          <p:nvPr/>
        </p:nvSpPr>
        <p:spPr>
          <a:xfrm>
            <a:off x="142875" y="2623152"/>
            <a:ext cx="1920497" cy="196453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B1D3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Katie Stanton</a:t>
            </a:r>
            <a:endParaRPr lang="en-US" sz="600" dirty="0"/>
          </a:p>
        </p:txBody>
      </p:sp>
      <p:sp>
        <p:nvSpPr>
          <p:cNvPr id="48" name="Text 45"/>
          <p:cNvSpPr/>
          <p:nvPr/>
        </p:nvSpPr>
        <p:spPr>
          <a:xfrm>
            <a:off x="2063372" y="2623152"/>
            <a:ext cx="960220" cy="196453"/>
          </a:xfrm>
          <a:prstGeom prst="rect">
            <a:avLst/>
          </a:prstGeom>
          <a:noFill/>
          <a:ln/>
        </p:spPr>
        <p:txBody>
          <a:bodyPr wrap="non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0B1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$6,935,990</a:t>
            </a:r>
            <a:endParaRPr lang="en-US" sz="600" dirty="0"/>
          </a:p>
        </p:txBody>
      </p:sp>
      <p:sp>
        <p:nvSpPr>
          <p:cNvPr id="49" name="Text 46"/>
          <p:cNvSpPr/>
          <p:nvPr/>
        </p:nvSpPr>
        <p:spPr>
          <a:xfrm>
            <a:off x="3023592" y="2623152"/>
            <a:ext cx="960220" cy="196453"/>
          </a:xfrm>
          <a:prstGeom prst="rect">
            <a:avLst/>
          </a:prstGeom>
          <a:noFill/>
          <a:ln/>
        </p:spPr>
        <p:txBody>
          <a:bodyPr wrap="non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0B1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$3,071,980</a:t>
            </a:r>
            <a:endParaRPr lang="en-US" sz="600" dirty="0"/>
          </a:p>
        </p:txBody>
      </p:sp>
      <p:sp>
        <p:nvSpPr>
          <p:cNvPr id="50" name="Text 47"/>
          <p:cNvSpPr/>
          <p:nvPr/>
        </p:nvSpPr>
        <p:spPr>
          <a:xfrm>
            <a:off x="3983813" y="2623152"/>
            <a:ext cx="960332" cy="196453"/>
          </a:xfrm>
          <a:prstGeom prst="rect">
            <a:avLst/>
          </a:prstGeom>
          <a:noFill/>
          <a:ln/>
        </p:spPr>
        <p:txBody>
          <a:bodyPr wrap="non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0B1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11.27%</a:t>
            </a:r>
            <a:endParaRPr lang="en-US" sz="600" dirty="0"/>
          </a:p>
        </p:txBody>
      </p:sp>
      <p:sp>
        <p:nvSpPr>
          <p:cNvPr id="51" name="Text 48"/>
          <p:cNvSpPr/>
          <p:nvPr/>
        </p:nvSpPr>
        <p:spPr>
          <a:xfrm>
            <a:off x="5072732" y="1076530"/>
            <a:ext cx="3928393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6B7C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Revenue Contribution Share</a:t>
            </a:r>
            <a:endParaRPr lang="en-US" sz="900" dirty="0"/>
          </a:p>
        </p:txBody>
      </p:sp>
      <p:pic>
        <p:nvPicPr>
          <p:cNvPr id="5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2732" y="1322989"/>
            <a:ext cx="3925491" cy="1571625"/>
          </a:xfrm>
          <a:prstGeom prst="rect">
            <a:avLst/>
          </a:prstGeom>
        </p:spPr>
      </p:pic>
      <p:sp>
        <p:nvSpPr>
          <p:cNvPr id="53" name="Shape 49"/>
          <p:cNvSpPr/>
          <p:nvPr/>
        </p:nvSpPr>
        <p:spPr>
          <a:xfrm>
            <a:off x="5072732" y="2980339"/>
            <a:ext cx="3928393" cy="589973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54" name="Shape 50"/>
          <p:cNvSpPr/>
          <p:nvPr/>
        </p:nvSpPr>
        <p:spPr>
          <a:xfrm>
            <a:off x="5072732" y="2980339"/>
            <a:ext cx="28575" cy="589973"/>
          </a:xfrm>
          <a:prstGeom prst="rect">
            <a:avLst/>
          </a:prstGeom>
          <a:solidFill>
            <a:srgbClr val="A3D827"/>
          </a:solidFill>
          <a:ln/>
        </p:spPr>
      </p:sp>
      <p:sp>
        <p:nvSpPr>
          <p:cNvPr id="55" name="Text 51"/>
          <p:cNvSpPr/>
          <p:nvPr/>
        </p:nvSpPr>
        <p:spPr>
          <a:xfrm>
            <a:off x="5072732" y="2980339"/>
            <a:ext cx="3928393" cy="589973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b="1" dirty="0">
                <a:solidFill>
                  <a:srgbClr val="0B1D3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Insight:</a:t>
            </a:r>
            <a:r>
              <a:rPr lang="en-US" sz="650" dirty="0">
                <a:solidFill>
                  <a:srgbClr val="0B1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revenue is highly concentrated. The bottom three reps (Katie, Tracy, Elizabeth) contribute less combined revenue than Travis Doyle alone. Coaching should focus on low-performing tiers to elevate the brand average.</a:t>
            </a:r>
            <a:endParaRPr lang="en-US" sz="650" dirty="0"/>
          </a:p>
        </p:txBody>
      </p:sp>
      <p:sp>
        <p:nvSpPr>
          <p:cNvPr id="56" name="Shape 52"/>
          <p:cNvSpPr/>
          <p:nvPr/>
        </p:nvSpPr>
        <p:spPr>
          <a:xfrm>
            <a:off x="142875" y="4829175"/>
            <a:ext cx="885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7" name="Shape 53"/>
          <p:cNvSpPr/>
          <p:nvPr/>
        </p:nvSpPr>
        <p:spPr>
          <a:xfrm>
            <a:off x="142875" y="4829175"/>
            <a:ext cx="885825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9" name="Text 55"/>
          <p:cNvSpPr/>
          <p:nvPr/>
        </p:nvSpPr>
        <p:spPr>
          <a:xfrm>
            <a:off x="8740378" y="4907756"/>
            <a:ext cx="260747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6</a:t>
            </a:r>
            <a:endParaRPr lang="en-US" sz="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875" y="142875"/>
            <a:ext cx="8858250" cy="16497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142875" y="142875"/>
            <a:ext cx="42863" cy="164976"/>
          </a:xfrm>
          <a:prstGeom prst="rect">
            <a:avLst/>
          </a:prstGeom>
          <a:solidFill>
            <a:srgbClr val="1A6B7C"/>
          </a:solidFill>
          <a:ln/>
        </p:spPr>
      </p:sp>
      <p:sp>
        <p:nvSpPr>
          <p:cNvPr id="5" name="Text 2"/>
          <p:cNvSpPr/>
          <p:nvPr/>
        </p:nvSpPr>
        <p:spPr>
          <a:xfrm>
            <a:off x="142875" y="142875"/>
            <a:ext cx="8858250" cy="164976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1100" b="1" dirty="0">
                <a:solidFill>
                  <a:srgbClr val="072034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San Antonio is the Clear Leader in Volume and Profit; Houston Requires Margin Focus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142875" y="379288"/>
            <a:ext cx="8858250" cy="525066"/>
          </a:xfrm>
          <a:prstGeom prst="rect">
            <a:avLst/>
          </a:prstGeom>
          <a:solidFill>
            <a:srgbClr val="0B1D36"/>
          </a:solidFill>
          <a:ln/>
        </p:spPr>
      </p:sp>
      <p:sp>
        <p:nvSpPr>
          <p:cNvPr id="7" name="Text 4"/>
          <p:cNvSpPr/>
          <p:nvPr/>
        </p:nvSpPr>
        <p:spPr>
          <a:xfrm>
            <a:off x="285750" y="493588"/>
            <a:ext cx="200918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3D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$7.34M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85750" y="697185"/>
            <a:ext cx="2009180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50" kern="0" spc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MARKET REVENUE (SAN ANTONIO)</a:t>
            </a:r>
            <a:endParaRPr lang="en-US" sz="550" dirty="0"/>
          </a:p>
        </p:txBody>
      </p:sp>
      <p:sp>
        <p:nvSpPr>
          <p:cNvPr id="9" name="Text 6"/>
          <p:cNvSpPr/>
          <p:nvPr/>
        </p:nvSpPr>
        <p:spPr>
          <a:xfrm>
            <a:off x="2473523" y="493588"/>
            <a:ext cx="200918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3D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45.8%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473523" y="697185"/>
            <a:ext cx="2009180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50" kern="0" spc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 ANTONIO PROFIT MARGIN</a:t>
            </a:r>
            <a:endParaRPr lang="en-US" sz="550" dirty="0"/>
          </a:p>
        </p:txBody>
      </p:sp>
      <p:sp>
        <p:nvSpPr>
          <p:cNvPr id="11" name="Text 8"/>
          <p:cNvSpPr/>
          <p:nvPr/>
        </p:nvSpPr>
        <p:spPr>
          <a:xfrm>
            <a:off x="4661297" y="493588"/>
            <a:ext cx="200918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3D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41.2%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661297" y="697185"/>
            <a:ext cx="2009180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50" kern="0" spc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LOWEST MARGIN (HOUSTON)</a:t>
            </a:r>
            <a:endParaRPr lang="en-US" sz="550" dirty="0"/>
          </a:p>
        </p:txBody>
      </p:sp>
      <p:sp>
        <p:nvSpPr>
          <p:cNvPr id="13" name="Text 10"/>
          <p:cNvSpPr/>
          <p:nvPr/>
        </p:nvSpPr>
        <p:spPr>
          <a:xfrm>
            <a:off x="6849070" y="493588"/>
            <a:ext cx="200918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3D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849070" y="697185"/>
            <a:ext cx="2009180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50" kern="0" spc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MARKET REGIONS</a:t>
            </a:r>
            <a:endParaRPr lang="en-US" sz="550" dirty="0"/>
          </a:p>
        </p:txBody>
      </p:sp>
      <p:sp>
        <p:nvSpPr>
          <p:cNvPr id="15" name="Text 12"/>
          <p:cNvSpPr/>
          <p:nvPr/>
        </p:nvSpPr>
        <p:spPr>
          <a:xfrm>
            <a:off x="142875" y="990079"/>
            <a:ext cx="574357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B1D3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Revenue and Margin by Location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142875" y="1175817"/>
            <a:ext cx="5743575" cy="157162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25" y="1232967"/>
            <a:ext cx="5629275" cy="1457325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142875" y="2847454"/>
            <a:ext cx="925730" cy="171450"/>
          </a:xfrm>
          <a:prstGeom prst="rect">
            <a:avLst/>
          </a:prstGeom>
          <a:solidFill>
            <a:srgbClr val="0B1D36"/>
          </a:solidFill>
          <a:ln/>
        </p:spPr>
      </p:sp>
      <p:sp>
        <p:nvSpPr>
          <p:cNvPr id="19" name="Text 15"/>
          <p:cNvSpPr/>
          <p:nvPr/>
        </p:nvSpPr>
        <p:spPr>
          <a:xfrm>
            <a:off x="142875" y="2847454"/>
            <a:ext cx="925730" cy="171450"/>
          </a:xfrm>
          <a:prstGeom prst="rect">
            <a:avLst/>
          </a:prstGeom>
          <a:noFill/>
          <a:ln/>
        </p:spPr>
        <p:txBody>
          <a:bodyPr wrap="none" lIns="51054" tIns="51054" rIns="51054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Location</a:t>
            </a:r>
            <a:endParaRPr lang="en-US" sz="500" dirty="0"/>
          </a:p>
        </p:txBody>
      </p:sp>
      <p:sp>
        <p:nvSpPr>
          <p:cNvPr id="20" name="Shape 16"/>
          <p:cNvSpPr/>
          <p:nvPr/>
        </p:nvSpPr>
        <p:spPr>
          <a:xfrm>
            <a:off x="1068605" y="2847454"/>
            <a:ext cx="1479872" cy="171450"/>
          </a:xfrm>
          <a:prstGeom prst="rect">
            <a:avLst/>
          </a:prstGeom>
          <a:solidFill>
            <a:srgbClr val="0B1D36"/>
          </a:solidFill>
          <a:ln/>
        </p:spPr>
      </p:sp>
      <p:sp>
        <p:nvSpPr>
          <p:cNvPr id="21" name="Text 17"/>
          <p:cNvSpPr/>
          <p:nvPr/>
        </p:nvSpPr>
        <p:spPr>
          <a:xfrm>
            <a:off x="1068605" y="2847454"/>
            <a:ext cx="1479872" cy="171450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Revenue by Location</a:t>
            </a:r>
            <a:endParaRPr lang="en-US" sz="500" dirty="0"/>
          </a:p>
        </p:txBody>
      </p:sp>
      <p:sp>
        <p:nvSpPr>
          <p:cNvPr id="22" name="Shape 18"/>
          <p:cNvSpPr/>
          <p:nvPr/>
        </p:nvSpPr>
        <p:spPr>
          <a:xfrm>
            <a:off x="2548477" y="2847454"/>
            <a:ext cx="977857" cy="171450"/>
          </a:xfrm>
          <a:prstGeom prst="rect">
            <a:avLst/>
          </a:prstGeom>
          <a:solidFill>
            <a:srgbClr val="0B1D36"/>
          </a:solidFill>
          <a:ln/>
        </p:spPr>
      </p:sp>
      <p:sp>
        <p:nvSpPr>
          <p:cNvPr id="23" name="Text 19"/>
          <p:cNvSpPr/>
          <p:nvPr/>
        </p:nvSpPr>
        <p:spPr>
          <a:xfrm>
            <a:off x="2548477" y="2847454"/>
            <a:ext cx="977857" cy="171450"/>
          </a:xfrm>
          <a:prstGeom prst="rect">
            <a:avLst/>
          </a:prstGeom>
          <a:noFill/>
          <a:ln/>
        </p:spPr>
        <p:txBody>
          <a:bodyPr wrap="none" lIns="51054" tIns="51054" rIns="51054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Sum of Profit</a:t>
            </a:r>
            <a:endParaRPr lang="en-US" sz="500" dirty="0"/>
          </a:p>
        </p:txBody>
      </p:sp>
      <p:sp>
        <p:nvSpPr>
          <p:cNvPr id="24" name="Shape 20"/>
          <p:cNvSpPr/>
          <p:nvPr/>
        </p:nvSpPr>
        <p:spPr>
          <a:xfrm>
            <a:off x="3526334" y="2847454"/>
            <a:ext cx="1884052" cy="171450"/>
          </a:xfrm>
          <a:prstGeom prst="rect">
            <a:avLst/>
          </a:prstGeom>
          <a:solidFill>
            <a:srgbClr val="0B1D36"/>
          </a:solidFill>
          <a:ln/>
        </p:spPr>
      </p:sp>
      <p:sp>
        <p:nvSpPr>
          <p:cNvPr id="25" name="Text 21"/>
          <p:cNvSpPr/>
          <p:nvPr/>
        </p:nvSpPr>
        <p:spPr>
          <a:xfrm>
            <a:off x="3526334" y="2847454"/>
            <a:ext cx="1884052" cy="171450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%Profit Margin by Location</a:t>
            </a:r>
            <a:endParaRPr lang="en-US" sz="500" dirty="0"/>
          </a:p>
        </p:txBody>
      </p:sp>
      <p:sp>
        <p:nvSpPr>
          <p:cNvPr id="26" name="Shape 22"/>
          <p:cNvSpPr/>
          <p:nvPr/>
        </p:nvSpPr>
        <p:spPr>
          <a:xfrm>
            <a:off x="5410386" y="2847454"/>
            <a:ext cx="476064" cy="171450"/>
          </a:xfrm>
          <a:prstGeom prst="rect">
            <a:avLst/>
          </a:prstGeom>
          <a:solidFill>
            <a:srgbClr val="0B1D36"/>
          </a:solidFill>
          <a:ln/>
        </p:spPr>
      </p:sp>
      <p:sp>
        <p:nvSpPr>
          <p:cNvPr id="27" name="Text 23"/>
          <p:cNvSpPr/>
          <p:nvPr/>
        </p:nvSpPr>
        <p:spPr>
          <a:xfrm>
            <a:off x="5410386" y="2847454"/>
            <a:ext cx="476064" cy="171450"/>
          </a:xfrm>
          <a:prstGeom prst="rect">
            <a:avLst/>
          </a:prstGeom>
          <a:noFill/>
          <a:ln/>
        </p:spPr>
        <p:txBody>
          <a:bodyPr wrap="none" lIns="51054" tIns="51054" rIns="51054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Rank</a:t>
            </a:r>
            <a:endParaRPr lang="en-US" sz="500" dirty="0"/>
          </a:p>
        </p:txBody>
      </p:sp>
      <p:sp>
        <p:nvSpPr>
          <p:cNvPr id="28" name="Text 24"/>
          <p:cNvSpPr/>
          <p:nvPr/>
        </p:nvSpPr>
        <p:spPr>
          <a:xfrm>
            <a:off x="142875" y="3018904"/>
            <a:ext cx="925730" cy="146447"/>
          </a:xfrm>
          <a:prstGeom prst="rect">
            <a:avLst/>
          </a:prstGeom>
          <a:noFill/>
          <a:ln/>
        </p:spPr>
        <p:txBody>
          <a:bodyPr wrap="none" lIns="51054" tIns="34036" rIns="51054" bIns="34036" rtlCol="0" anchor="ctr">
            <a:sp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0B2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 Antonio</a:t>
            </a:r>
            <a:endParaRPr lang="en-US" sz="500" dirty="0"/>
          </a:p>
        </p:txBody>
      </p:sp>
      <p:sp>
        <p:nvSpPr>
          <p:cNvPr id="29" name="Text 25"/>
          <p:cNvSpPr/>
          <p:nvPr/>
        </p:nvSpPr>
        <p:spPr>
          <a:xfrm>
            <a:off x="1068605" y="3018904"/>
            <a:ext cx="1479872" cy="146447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A3D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$7,343,282</a:t>
            </a:r>
            <a:endParaRPr lang="en-US" sz="500" dirty="0"/>
          </a:p>
        </p:txBody>
      </p:sp>
      <p:sp>
        <p:nvSpPr>
          <p:cNvPr id="30" name="Text 26"/>
          <p:cNvSpPr/>
          <p:nvPr/>
        </p:nvSpPr>
        <p:spPr>
          <a:xfrm>
            <a:off x="2548477" y="3018904"/>
            <a:ext cx="977857" cy="146447"/>
          </a:xfrm>
          <a:prstGeom prst="rect">
            <a:avLst/>
          </a:prstGeom>
          <a:noFill/>
          <a:ln/>
        </p:spPr>
        <p:txBody>
          <a:bodyPr wrap="none" lIns="51054" tIns="34036" rIns="51054" bIns="34036" rtlCol="0" anchor="ctr">
            <a:sp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0B2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$3,365,775</a:t>
            </a:r>
            <a:endParaRPr lang="en-US" sz="500" dirty="0"/>
          </a:p>
        </p:txBody>
      </p:sp>
      <p:sp>
        <p:nvSpPr>
          <p:cNvPr id="31" name="Text 27"/>
          <p:cNvSpPr/>
          <p:nvPr/>
        </p:nvSpPr>
        <p:spPr>
          <a:xfrm>
            <a:off x="3526334" y="3018904"/>
            <a:ext cx="1884052" cy="146447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0B2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45.8%</a:t>
            </a:r>
            <a:endParaRPr lang="en-US" sz="500" dirty="0"/>
          </a:p>
        </p:txBody>
      </p:sp>
      <p:sp>
        <p:nvSpPr>
          <p:cNvPr id="32" name="Text 28"/>
          <p:cNvSpPr/>
          <p:nvPr/>
        </p:nvSpPr>
        <p:spPr>
          <a:xfrm>
            <a:off x="5410386" y="3018904"/>
            <a:ext cx="476064" cy="146447"/>
          </a:xfrm>
          <a:prstGeom prst="rect">
            <a:avLst/>
          </a:prstGeom>
          <a:noFill/>
          <a:ln/>
        </p:spPr>
        <p:txBody>
          <a:bodyPr wrap="none" lIns="51054" tIns="34036" rIns="51054" bIns="34036" rtlCol="0" anchor="ctr">
            <a:sp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0B2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500" dirty="0"/>
          </a:p>
        </p:txBody>
      </p:sp>
      <p:sp>
        <p:nvSpPr>
          <p:cNvPr id="33" name="Text 29"/>
          <p:cNvSpPr/>
          <p:nvPr/>
        </p:nvSpPr>
        <p:spPr>
          <a:xfrm>
            <a:off x="142875" y="3165351"/>
            <a:ext cx="925730" cy="150019"/>
          </a:xfrm>
          <a:prstGeom prst="rect">
            <a:avLst/>
          </a:prstGeom>
          <a:noFill/>
          <a:ln/>
        </p:spPr>
        <p:txBody>
          <a:bodyPr wrap="none" lIns="51054" tIns="34036" rIns="51054" bIns="34036" rtlCol="0" anchor="ctr">
            <a:sp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0B2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Angeles</a:t>
            </a:r>
            <a:endParaRPr lang="en-US" sz="500" dirty="0"/>
          </a:p>
        </p:txBody>
      </p:sp>
      <p:sp>
        <p:nvSpPr>
          <p:cNvPr id="34" name="Text 30"/>
          <p:cNvSpPr/>
          <p:nvPr/>
        </p:nvSpPr>
        <p:spPr>
          <a:xfrm>
            <a:off x="1068605" y="3165351"/>
            <a:ext cx="1479872" cy="150019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0B2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$6,066,717</a:t>
            </a:r>
            <a:endParaRPr lang="en-US" sz="500" dirty="0"/>
          </a:p>
        </p:txBody>
      </p:sp>
      <p:sp>
        <p:nvSpPr>
          <p:cNvPr id="35" name="Text 31"/>
          <p:cNvSpPr/>
          <p:nvPr/>
        </p:nvSpPr>
        <p:spPr>
          <a:xfrm>
            <a:off x="2548477" y="3165351"/>
            <a:ext cx="977857" cy="150019"/>
          </a:xfrm>
          <a:prstGeom prst="rect">
            <a:avLst/>
          </a:prstGeom>
          <a:noFill/>
          <a:ln/>
        </p:spPr>
        <p:txBody>
          <a:bodyPr wrap="none" lIns="51054" tIns="34036" rIns="51054" bIns="34036" rtlCol="0" anchor="ctr">
            <a:sp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0B2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$2,702,399</a:t>
            </a:r>
            <a:endParaRPr lang="en-US" sz="500" dirty="0"/>
          </a:p>
        </p:txBody>
      </p:sp>
      <p:sp>
        <p:nvSpPr>
          <p:cNvPr id="36" name="Text 32"/>
          <p:cNvSpPr/>
          <p:nvPr/>
        </p:nvSpPr>
        <p:spPr>
          <a:xfrm>
            <a:off x="3526334" y="3165351"/>
            <a:ext cx="1884052" cy="150019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0B2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44.5%</a:t>
            </a:r>
            <a:endParaRPr lang="en-US" sz="500" dirty="0"/>
          </a:p>
        </p:txBody>
      </p:sp>
      <p:sp>
        <p:nvSpPr>
          <p:cNvPr id="37" name="Text 33"/>
          <p:cNvSpPr/>
          <p:nvPr/>
        </p:nvSpPr>
        <p:spPr>
          <a:xfrm>
            <a:off x="5410386" y="3165351"/>
            <a:ext cx="476064" cy="150019"/>
          </a:xfrm>
          <a:prstGeom prst="rect">
            <a:avLst/>
          </a:prstGeom>
          <a:noFill/>
          <a:ln/>
        </p:spPr>
        <p:txBody>
          <a:bodyPr wrap="none" lIns="51054" tIns="34036" rIns="51054" bIns="34036" rtlCol="0" anchor="ctr">
            <a:sp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0B2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500" dirty="0"/>
          </a:p>
        </p:txBody>
      </p:sp>
      <p:sp>
        <p:nvSpPr>
          <p:cNvPr id="38" name="Text 34"/>
          <p:cNvSpPr/>
          <p:nvPr/>
        </p:nvSpPr>
        <p:spPr>
          <a:xfrm>
            <a:off x="142875" y="3315370"/>
            <a:ext cx="925730" cy="150019"/>
          </a:xfrm>
          <a:prstGeom prst="rect">
            <a:avLst/>
          </a:prstGeom>
          <a:noFill/>
          <a:ln/>
        </p:spPr>
        <p:txBody>
          <a:bodyPr wrap="none" lIns="51054" tIns="34036" rIns="51054" bIns="34036" rtlCol="0" anchor="ctr">
            <a:sp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0B2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Dallas</a:t>
            </a:r>
            <a:endParaRPr lang="en-US" sz="500" dirty="0"/>
          </a:p>
        </p:txBody>
      </p:sp>
      <p:sp>
        <p:nvSpPr>
          <p:cNvPr id="39" name="Text 35"/>
          <p:cNvSpPr/>
          <p:nvPr/>
        </p:nvSpPr>
        <p:spPr>
          <a:xfrm>
            <a:off x="1068605" y="3315370"/>
            <a:ext cx="1479872" cy="150019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0B2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$6,128,566</a:t>
            </a:r>
            <a:endParaRPr lang="en-US" sz="500" dirty="0"/>
          </a:p>
        </p:txBody>
      </p:sp>
      <p:sp>
        <p:nvSpPr>
          <p:cNvPr id="40" name="Text 36"/>
          <p:cNvSpPr/>
          <p:nvPr/>
        </p:nvSpPr>
        <p:spPr>
          <a:xfrm>
            <a:off x="2548477" y="3315370"/>
            <a:ext cx="977857" cy="150019"/>
          </a:xfrm>
          <a:prstGeom prst="rect">
            <a:avLst/>
          </a:prstGeom>
          <a:noFill/>
          <a:ln/>
        </p:spPr>
        <p:txBody>
          <a:bodyPr wrap="none" lIns="51054" tIns="34036" rIns="51054" bIns="34036" rtlCol="0" anchor="ctr">
            <a:sp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0B2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$2,715,580</a:t>
            </a:r>
            <a:endParaRPr lang="en-US" sz="500" dirty="0"/>
          </a:p>
        </p:txBody>
      </p:sp>
      <p:sp>
        <p:nvSpPr>
          <p:cNvPr id="41" name="Text 37"/>
          <p:cNvSpPr/>
          <p:nvPr/>
        </p:nvSpPr>
        <p:spPr>
          <a:xfrm>
            <a:off x="3526334" y="3315370"/>
            <a:ext cx="1884052" cy="150019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0B2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44.3%</a:t>
            </a:r>
            <a:endParaRPr lang="en-US" sz="500" dirty="0"/>
          </a:p>
        </p:txBody>
      </p:sp>
      <p:sp>
        <p:nvSpPr>
          <p:cNvPr id="42" name="Text 38"/>
          <p:cNvSpPr/>
          <p:nvPr/>
        </p:nvSpPr>
        <p:spPr>
          <a:xfrm>
            <a:off x="5410386" y="3315370"/>
            <a:ext cx="476064" cy="150019"/>
          </a:xfrm>
          <a:prstGeom prst="rect">
            <a:avLst/>
          </a:prstGeom>
          <a:noFill/>
          <a:ln/>
        </p:spPr>
        <p:txBody>
          <a:bodyPr wrap="none" lIns="51054" tIns="34036" rIns="51054" bIns="34036" rtlCol="0" anchor="ctr">
            <a:sp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0B2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500" dirty="0"/>
          </a:p>
        </p:txBody>
      </p:sp>
      <p:sp>
        <p:nvSpPr>
          <p:cNvPr id="43" name="Text 39"/>
          <p:cNvSpPr/>
          <p:nvPr/>
        </p:nvSpPr>
        <p:spPr>
          <a:xfrm>
            <a:off x="142875" y="3465388"/>
            <a:ext cx="925730" cy="150019"/>
          </a:xfrm>
          <a:prstGeom prst="rect">
            <a:avLst/>
          </a:prstGeom>
          <a:noFill/>
          <a:ln/>
        </p:spPr>
        <p:txBody>
          <a:bodyPr wrap="none" lIns="51054" tIns="34036" rIns="51054" bIns="34036" rtlCol="0" anchor="ctr">
            <a:sp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0B2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 Jose</a:t>
            </a:r>
            <a:endParaRPr lang="en-US" sz="500" dirty="0"/>
          </a:p>
        </p:txBody>
      </p:sp>
      <p:sp>
        <p:nvSpPr>
          <p:cNvPr id="44" name="Text 40"/>
          <p:cNvSpPr/>
          <p:nvPr/>
        </p:nvSpPr>
        <p:spPr>
          <a:xfrm>
            <a:off x="1068605" y="3465388"/>
            <a:ext cx="1479872" cy="150019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0B2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$6,343,424</a:t>
            </a:r>
            <a:endParaRPr lang="en-US" sz="500" dirty="0"/>
          </a:p>
        </p:txBody>
      </p:sp>
      <p:sp>
        <p:nvSpPr>
          <p:cNvPr id="45" name="Text 41"/>
          <p:cNvSpPr/>
          <p:nvPr/>
        </p:nvSpPr>
        <p:spPr>
          <a:xfrm>
            <a:off x="2548477" y="3465388"/>
            <a:ext cx="977857" cy="150019"/>
          </a:xfrm>
          <a:prstGeom prst="rect">
            <a:avLst/>
          </a:prstGeom>
          <a:noFill/>
          <a:ln/>
        </p:spPr>
        <p:txBody>
          <a:bodyPr wrap="none" lIns="51054" tIns="34036" rIns="51054" bIns="34036" rtlCol="0" anchor="ctr">
            <a:sp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0B2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$2,793,480</a:t>
            </a:r>
            <a:endParaRPr lang="en-US" sz="500" dirty="0"/>
          </a:p>
        </p:txBody>
      </p:sp>
      <p:sp>
        <p:nvSpPr>
          <p:cNvPr id="46" name="Text 42"/>
          <p:cNvSpPr/>
          <p:nvPr/>
        </p:nvSpPr>
        <p:spPr>
          <a:xfrm>
            <a:off x="3526334" y="3465388"/>
            <a:ext cx="1884052" cy="150019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0B2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44.0%</a:t>
            </a:r>
            <a:endParaRPr lang="en-US" sz="500" dirty="0"/>
          </a:p>
        </p:txBody>
      </p:sp>
      <p:sp>
        <p:nvSpPr>
          <p:cNvPr id="47" name="Text 43"/>
          <p:cNvSpPr/>
          <p:nvPr/>
        </p:nvSpPr>
        <p:spPr>
          <a:xfrm>
            <a:off x="5410386" y="3465388"/>
            <a:ext cx="476064" cy="150019"/>
          </a:xfrm>
          <a:prstGeom prst="rect">
            <a:avLst/>
          </a:prstGeom>
          <a:noFill/>
          <a:ln/>
        </p:spPr>
        <p:txBody>
          <a:bodyPr wrap="none" lIns="51054" tIns="34036" rIns="51054" bIns="34036" rtlCol="0" anchor="ctr">
            <a:sp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0B2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500" dirty="0"/>
          </a:p>
        </p:txBody>
      </p:sp>
      <p:sp>
        <p:nvSpPr>
          <p:cNvPr id="48" name="Text 44"/>
          <p:cNvSpPr/>
          <p:nvPr/>
        </p:nvSpPr>
        <p:spPr>
          <a:xfrm>
            <a:off x="142875" y="3615407"/>
            <a:ext cx="925730" cy="150019"/>
          </a:xfrm>
          <a:prstGeom prst="rect">
            <a:avLst/>
          </a:prstGeom>
          <a:noFill/>
          <a:ln/>
        </p:spPr>
        <p:txBody>
          <a:bodyPr wrap="none" lIns="51054" tIns="34036" rIns="51054" bIns="34036" rtlCol="0" anchor="ctr">
            <a:sp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0B2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Houston</a:t>
            </a:r>
            <a:endParaRPr lang="en-US" sz="500" dirty="0"/>
          </a:p>
        </p:txBody>
      </p:sp>
      <p:sp>
        <p:nvSpPr>
          <p:cNvPr id="49" name="Text 45"/>
          <p:cNvSpPr/>
          <p:nvPr/>
        </p:nvSpPr>
        <p:spPr>
          <a:xfrm>
            <a:off x="1068605" y="3615407"/>
            <a:ext cx="1479872" cy="150019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0B2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$6,179,951</a:t>
            </a:r>
            <a:endParaRPr lang="en-US" sz="500" dirty="0"/>
          </a:p>
        </p:txBody>
      </p:sp>
      <p:sp>
        <p:nvSpPr>
          <p:cNvPr id="50" name="Text 46"/>
          <p:cNvSpPr/>
          <p:nvPr/>
        </p:nvSpPr>
        <p:spPr>
          <a:xfrm>
            <a:off x="2548477" y="3615407"/>
            <a:ext cx="977857" cy="150019"/>
          </a:xfrm>
          <a:prstGeom prst="rect">
            <a:avLst/>
          </a:prstGeom>
          <a:noFill/>
          <a:ln/>
        </p:spPr>
        <p:txBody>
          <a:bodyPr wrap="none" lIns="51054" tIns="34036" rIns="51054" bIns="34036" rtlCol="0" anchor="ctr">
            <a:sp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0B2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$2,546,501</a:t>
            </a:r>
            <a:endParaRPr lang="en-US" sz="500" dirty="0"/>
          </a:p>
        </p:txBody>
      </p:sp>
      <p:sp>
        <p:nvSpPr>
          <p:cNvPr id="51" name="Text 47"/>
          <p:cNvSpPr/>
          <p:nvPr/>
        </p:nvSpPr>
        <p:spPr>
          <a:xfrm>
            <a:off x="3526334" y="3615407"/>
            <a:ext cx="1884052" cy="150019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ctr">
            <a:sp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0B2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41.2%</a:t>
            </a:r>
            <a:endParaRPr lang="en-US" sz="500" dirty="0"/>
          </a:p>
        </p:txBody>
      </p:sp>
      <p:sp>
        <p:nvSpPr>
          <p:cNvPr id="52" name="Text 48"/>
          <p:cNvSpPr/>
          <p:nvPr/>
        </p:nvSpPr>
        <p:spPr>
          <a:xfrm>
            <a:off x="5410386" y="3615407"/>
            <a:ext cx="476064" cy="150019"/>
          </a:xfrm>
          <a:prstGeom prst="rect">
            <a:avLst/>
          </a:prstGeom>
          <a:noFill/>
          <a:ln/>
        </p:spPr>
        <p:txBody>
          <a:bodyPr wrap="none" lIns="51054" tIns="34036" rIns="51054" bIns="34036" rtlCol="0" anchor="ctr">
            <a:sp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0B2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500" dirty="0"/>
          </a:p>
        </p:txBody>
      </p:sp>
      <p:sp>
        <p:nvSpPr>
          <p:cNvPr id="53" name="Shape 49"/>
          <p:cNvSpPr/>
          <p:nvPr/>
        </p:nvSpPr>
        <p:spPr>
          <a:xfrm>
            <a:off x="6000750" y="990079"/>
            <a:ext cx="3000375" cy="567147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54" name="Shape 50"/>
          <p:cNvSpPr/>
          <p:nvPr/>
        </p:nvSpPr>
        <p:spPr>
          <a:xfrm>
            <a:off x="6000750" y="990079"/>
            <a:ext cx="28575" cy="567147"/>
          </a:xfrm>
          <a:prstGeom prst="rect">
            <a:avLst/>
          </a:prstGeom>
          <a:solidFill>
            <a:srgbClr val="1A6B7C"/>
          </a:solidFill>
          <a:ln/>
        </p:spPr>
      </p:sp>
      <p:sp>
        <p:nvSpPr>
          <p:cNvPr id="55" name="Text 51"/>
          <p:cNvSpPr/>
          <p:nvPr/>
        </p:nvSpPr>
        <p:spPr>
          <a:xfrm>
            <a:off x="6086475" y="1075804"/>
            <a:ext cx="282892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B1D3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San Antonio is the strongest market overall</a:t>
            </a:r>
            <a:endParaRPr lang="en-US" sz="700" dirty="0"/>
          </a:p>
        </p:txBody>
      </p:sp>
      <p:sp>
        <p:nvSpPr>
          <p:cNvPr id="56" name="Text 52"/>
          <p:cNvSpPr/>
          <p:nvPr/>
        </p:nvSpPr>
        <p:spPr>
          <a:xfrm>
            <a:off x="6086475" y="1240110"/>
            <a:ext cx="2828925" cy="231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highest revenue ($7.34M), highest quantity sold (345,102), highest profit ($3.37M), and highest margin (45.8%).</a:t>
            </a:r>
            <a:endParaRPr lang="en-US" sz="600" dirty="0"/>
          </a:p>
        </p:txBody>
      </p:sp>
      <p:sp>
        <p:nvSpPr>
          <p:cNvPr id="57" name="Shape 53"/>
          <p:cNvSpPr/>
          <p:nvPr/>
        </p:nvSpPr>
        <p:spPr>
          <a:xfrm>
            <a:off x="6000750" y="1628663"/>
            <a:ext cx="3000375" cy="567147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58" name="Shape 54"/>
          <p:cNvSpPr/>
          <p:nvPr/>
        </p:nvSpPr>
        <p:spPr>
          <a:xfrm>
            <a:off x="6000750" y="1628663"/>
            <a:ext cx="28575" cy="567147"/>
          </a:xfrm>
          <a:prstGeom prst="rect">
            <a:avLst/>
          </a:prstGeom>
          <a:solidFill>
            <a:srgbClr val="1A6B7C"/>
          </a:solidFill>
          <a:ln/>
        </p:spPr>
      </p:sp>
      <p:sp>
        <p:nvSpPr>
          <p:cNvPr id="59" name="Text 55"/>
          <p:cNvSpPr/>
          <p:nvPr/>
        </p:nvSpPr>
        <p:spPr>
          <a:xfrm>
            <a:off x="6086475" y="1714388"/>
            <a:ext cx="282892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B1D3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Los Angeles is the most efficient large market</a:t>
            </a:r>
            <a:endParaRPr lang="en-US" sz="700" dirty="0"/>
          </a:p>
        </p:txBody>
      </p:sp>
      <p:sp>
        <p:nvSpPr>
          <p:cNvPr id="60" name="Text 56"/>
          <p:cNvSpPr/>
          <p:nvPr/>
        </p:nvSpPr>
        <p:spPr>
          <a:xfrm>
            <a:off x="6086475" y="1878695"/>
            <a:ext cx="2828925" cy="231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it ranks only 6th in revenue but 2nd in profit margin at 44.5%, indicating strong profitability relative to sales.</a:t>
            </a:r>
            <a:endParaRPr lang="en-US" sz="600" dirty="0"/>
          </a:p>
        </p:txBody>
      </p:sp>
      <p:sp>
        <p:nvSpPr>
          <p:cNvPr id="61" name="Shape 57"/>
          <p:cNvSpPr/>
          <p:nvPr/>
        </p:nvSpPr>
        <p:spPr>
          <a:xfrm>
            <a:off x="6000750" y="2267248"/>
            <a:ext cx="3000375" cy="68284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2" name="Shape 58"/>
          <p:cNvSpPr/>
          <p:nvPr/>
        </p:nvSpPr>
        <p:spPr>
          <a:xfrm>
            <a:off x="6000750" y="2267248"/>
            <a:ext cx="28575" cy="682842"/>
          </a:xfrm>
          <a:prstGeom prst="rect">
            <a:avLst/>
          </a:prstGeom>
          <a:solidFill>
            <a:srgbClr val="1A6B7C"/>
          </a:solidFill>
          <a:ln/>
        </p:spPr>
      </p:sp>
      <p:sp>
        <p:nvSpPr>
          <p:cNvPr id="63" name="Text 59"/>
          <p:cNvSpPr/>
          <p:nvPr/>
        </p:nvSpPr>
        <p:spPr>
          <a:xfrm>
            <a:off x="6086475" y="2352973"/>
            <a:ext cx="282892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B1D3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Houston needs margin attention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6086475" y="2517279"/>
            <a:ext cx="2828925" cy="347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it ranks 4th in revenue and 4th in quantity, but last in margin at 41.2%. This suggests higher costs or weaker pricing versus other cities.</a:t>
            </a:r>
            <a:endParaRPr lang="en-US" sz="600" dirty="0"/>
          </a:p>
        </p:txBody>
      </p:sp>
      <p:sp>
        <p:nvSpPr>
          <p:cNvPr id="65" name="Shape 61"/>
          <p:cNvSpPr/>
          <p:nvPr/>
        </p:nvSpPr>
        <p:spPr>
          <a:xfrm>
            <a:off x="6000750" y="3021527"/>
            <a:ext cx="3000375" cy="567147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6" name="Shape 62"/>
          <p:cNvSpPr/>
          <p:nvPr/>
        </p:nvSpPr>
        <p:spPr>
          <a:xfrm>
            <a:off x="6000750" y="3021527"/>
            <a:ext cx="28575" cy="567147"/>
          </a:xfrm>
          <a:prstGeom prst="rect">
            <a:avLst/>
          </a:prstGeom>
          <a:solidFill>
            <a:srgbClr val="1A6B7C"/>
          </a:solidFill>
          <a:ln/>
        </p:spPr>
      </p:sp>
      <p:sp>
        <p:nvSpPr>
          <p:cNvPr id="67" name="Text 63"/>
          <p:cNvSpPr/>
          <p:nvPr/>
        </p:nvSpPr>
        <p:spPr>
          <a:xfrm>
            <a:off x="6086475" y="3107252"/>
            <a:ext cx="282892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B1D3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Dallas also performs efficiently</a:t>
            </a:r>
            <a:endParaRPr lang="en-US" sz="700" dirty="0"/>
          </a:p>
        </p:txBody>
      </p:sp>
      <p:sp>
        <p:nvSpPr>
          <p:cNvPr id="68" name="Text 64"/>
          <p:cNvSpPr/>
          <p:nvPr/>
        </p:nvSpPr>
        <p:spPr>
          <a:xfrm>
            <a:off x="6086475" y="3271558"/>
            <a:ext cx="2828925" cy="231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it ranks 5th in revenue but 3rd in margin at 44.3%. Its profit exceeds several higher-revenue locations.</a:t>
            </a:r>
            <a:endParaRPr lang="en-US" sz="600" dirty="0"/>
          </a:p>
        </p:txBody>
      </p:sp>
      <p:sp>
        <p:nvSpPr>
          <p:cNvPr id="69" name="Shape 65"/>
          <p:cNvSpPr/>
          <p:nvPr/>
        </p:nvSpPr>
        <p:spPr>
          <a:xfrm>
            <a:off x="6000750" y="3660111"/>
            <a:ext cx="3000375" cy="567147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70" name="Shape 66"/>
          <p:cNvSpPr/>
          <p:nvPr/>
        </p:nvSpPr>
        <p:spPr>
          <a:xfrm>
            <a:off x="6000750" y="3660111"/>
            <a:ext cx="28575" cy="567147"/>
          </a:xfrm>
          <a:prstGeom prst="rect">
            <a:avLst/>
          </a:prstGeom>
          <a:solidFill>
            <a:srgbClr val="1A6B7C"/>
          </a:solidFill>
          <a:ln/>
        </p:spPr>
      </p:sp>
      <p:sp>
        <p:nvSpPr>
          <p:cNvPr id="71" name="Text 67"/>
          <p:cNvSpPr/>
          <p:nvPr/>
        </p:nvSpPr>
        <p:spPr>
          <a:xfrm>
            <a:off x="6086475" y="3745836"/>
            <a:ext cx="282892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B1D3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San Jose is high-volume but not the most profitable</a:t>
            </a:r>
            <a:endParaRPr lang="en-US" sz="700" dirty="0"/>
          </a:p>
        </p:txBody>
      </p:sp>
      <p:sp>
        <p:nvSpPr>
          <p:cNvPr id="72" name="Text 68"/>
          <p:cNvSpPr/>
          <p:nvPr/>
        </p:nvSpPr>
        <p:spPr>
          <a:xfrm>
            <a:off x="6086475" y="3910143"/>
            <a:ext cx="2828925" cy="231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it ranks 2nd in revenue and 3rd in quantity, but only 4th in margin at 44.0%.</a:t>
            </a:r>
            <a:endParaRPr lang="en-US" sz="600" dirty="0"/>
          </a:p>
        </p:txBody>
      </p:sp>
      <p:sp>
        <p:nvSpPr>
          <p:cNvPr id="73" name="Shape 69"/>
          <p:cNvSpPr/>
          <p:nvPr/>
        </p:nvSpPr>
        <p:spPr>
          <a:xfrm>
            <a:off x="6000750" y="4298696"/>
            <a:ext cx="3000375" cy="572895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74" name="Shape 70"/>
          <p:cNvSpPr/>
          <p:nvPr/>
        </p:nvSpPr>
        <p:spPr>
          <a:xfrm>
            <a:off x="6000750" y="4298696"/>
            <a:ext cx="28575" cy="572895"/>
          </a:xfrm>
          <a:prstGeom prst="rect">
            <a:avLst/>
          </a:prstGeom>
          <a:solidFill>
            <a:srgbClr val="1A6B7C"/>
          </a:solidFill>
          <a:ln/>
        </p:spPr>
      </p:sp>
      <p:sp>
        <p:nvSpPr>
          <p:cNvPr id="75" name="Text 71"/>
          <p:cNvSpPr/>
          <p:nvPr/>
        </p:nvSpPr>
        <p:spPr>
          <a:xfrm>
            <a:off x="6086475" y="4384421"/>
            <a:ext cx="282892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B1D3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Chicago and Phoenix are the weakest margin markets after Houston</a:t>
            </a:r>
            <a:endParaRPr lang="en-US" sz="700" dirty="0"/>
          </a:p>
        </p:txBody>
      </p:sp>
      <p:sp>
        <p:nvSpPr>
          <p:cNvPr id="76" name="Text 72"/>
          <p:cNvSpPr/>
          <p:nvPr/>
        </p:nvSpPr>
        <p:spPr>
          <a:xfrm>
            <a:off x="6086475" y="4670171"/>
            <a:ext cx="2828925" cy="1156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at 42.0% and 42.2%, respectively.</a:t>
            </a:r>
            <a:endParaRPr lang="en-US" sz="600" dirty="0"/>
          </a:p>
        </p:txBody>
      </p:sp>
      <p:sp>
        <p:nvSpPr>
          <p:cNvPr id="77" name="Shape 73"/>
          <p:cNvSpPr/>
          <p:nvPr/>
        </p:nvSpPr>
        <p:spPr>
          <a:xfrm>
            <a:off x="142875" y="4814888"/>
            <a:ext cx="8858250" cy="1857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8" name="Shape 74"/>
          <p:cNvSpPr/>
          <p:nvPr/>
        </p:nvSpPr>
        <p:spPr>
          <a:xfrm>
            <a:off x="142875" y="4814888"/>
            <a:ext cx="885825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0" name="Text 76"/>
          <p:cNvSpPr/>
          <p:nvPr/>
        </p:nvSpPr>
        <p:spPr>
          <a:xfrm>
            <a:off x="8747522" y="4907756"/>
            <a:ext cx="253603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7</a:t>
            </a:r>
            <a:endParaRPr lang="en-US" sz="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875" y="142875"/>
            <a:ext cx="8858250" cy="17284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142875" y="142875"/>
            <a:ext cx="35719" cy="172845"/>
          </a:xfrm>
          <a:prstGeom prst="rect">
            <a:avLst/>
          </a:prstGeom>
          <a:solidFill>
            <a:srgbClr val="1A6B7C"/>
          </a:solidFill>
          <a:ln/>
        </p:spPr>
      </p:sp>
      <p:sp>
        <p:nvSpPr>
          <p:cNvPr id="5" name="Text 2"/>
          <p:cNvSpPr/>
          <p:nvPr/>
        </p:nvSpPr>
        <p:spPr>
          <a:xfrm>
            <a:off x="142875" y="142875"/>
            <a:ext cx="8858250" cy="172845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100" b="1" dirty="0">
                <a:solidFill>
                  <a:srgbClr val="051024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High-Value Buyer Behavior and Payment Mix Inform Retention Strategies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142875" y="401445"/>
            <a:ext cx="8858250" cy="578644"/>
          </a:xfrm>
          <a:prstGeom prst="rect">
            <a:avLst/>
          </a:prstGeom>
          <a:solidFill>
            <a:srgbClr val="0B1D36"/>
          </a:solidFill>
          <a:ln/>
        </p:spPr>
      </p:sp>
      <p:sp>
        <p:nvSpPr>
          <p:cNvPr id="7" name="Text 4"/>
          <p:cNvSpPr/>
          <p:nvPr/>
        </p:nvSpPr>
        <p:spPr>
          <a:xfrm>
            <a:off x="300038" y="530033"/>
            <a:ext cx="198060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1300" b="1" dirty="0">
                <a:solidFill>
                  <a:srgbClr val="A3D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$658K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00038" y="758633"/>
            <a:ext cx="1980605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50" kern="0" spc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BUYER LIFETIME VALUE</a:t>
            </a:r>
            <a:endParaRPr lang="en-US" sz="550" dirty="0"/>
          </a:p>
        </p:txBody>
      </p:sp>
      <p:sp>
        <p:nvSpPr>
          <p:cNvPr id="9" name="Text 6"/>
          <p:cNvSpPr/>
          <p:nvPr/>
        </p:nvSpPr>
        <p:spPr>
          <a:xfrm>
            <a:off x="2487811" y="530033"/>
            <a:ext cx="198060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1300" b="1" dirty="0">
                <a:solidFill>
                  <a:srgbClr val="A3D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140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487811" y="758633"/>
            <a:ext cx="1980605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50" kern="0" spc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BUYER TRANSACTIONS</a:t>
            </a:r>
            <a:endParaRPr lang="en-US" sz="550" dirty="0"/>
          </a:p>
        </p:txBody>
      </p:sp>
      <p:sp>
        <p:nvSpPr>
          <p:cNvPr id="11" name="Text 8"/>
          <p:cNvSpPr/>
          <p:nvPr/>
        </p:nvSpPr>
        <p:spPr>
          <a:xfrm>
            <a:off x="4675584" y="530033"/>
            <a:ext cx="198060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1300" b="1" dirty="0">
                <a:solidFill>
                  <a:srgbClr val="A3D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25%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675584" y="758633"/>
            <a:ext cx="1980605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50" kern="0" spc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PAYMENT SHARE</a:t>
            </a:r>
            <a:endParaRPr lang="en-US" sz="550" dirty="0"/>
          </a:p>
        </p:txBody>
      </p:sp>
      <p:sp>
        <p:nvSpPr>
          <p:cNvPr id="13" name="Text 10"/>
          <p:cNvSpPr/>
          <p:nvPr/>
        </p:nvSpPr>
        <p:spPr>
          <a:xfrm>
            <a:off x="6863358" y="530033"/>
            <a:ext cx="198060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1300" b="1" dirty="0">
                <a:solidFill>
                  <a:srgbClr val="A3D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$15.4M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863358" y="758633"/>
            <a:ext cx="1980605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50" kern="0" spc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REVENUE TOTAL</a:t>
            </a:r>
            <a:endParaRPr lang="en-US" sz="550" dirty="0"/>
          </a:p>
        </p:txBody>
      </p:sp>
      <p:sp>
        <p:nvSpPr>
          <p:cNvPr id="15" name="Shape 12"/>
          <p:cNvSpPr/>
          <p:nvPr/>
        </p:nvSpPr>
        <p:spPr>
          <a:xfrm>
            <a:off x="142875" y="1108677"/>
            <a:ext cx="4371975" cy="3620486"/>
          </a:xfrm>
          <a:prstGeom prst="rect">
            <a:avLst/>
          </a:prstGeom>
          <a:solidFill>
            <a:srgbClr val="0B1D36"/>
          </a:solidFill>
          <a:ln/>
        </p:spPr>
      </p:sp>
      <p:sp>
        <p:nvSpPr>
          <p:cNvPr id="16" name="Text 13"/>
          <p:cNvSpPr/>
          <p:nvPr/>
        </p:nvSpPr>
        <p:spPr>
          <a:xfrm>
            <a:off x="271463" y="1237264"/>
            <a:ext cx="4114800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3D827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Top Buyer Spotlight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71463" y="1501583"/>
            <a:ext cx="26074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F4F6F8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3500438" y="1501583"/>
            <a:ext cx="88582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Robert Hernandez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271463" y="1744470"/>
            <a:ext cx="38219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F4F6F8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3782616" y="1744470"/>
            <a:ext cx="60364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Philadelphia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271463" y="1987358"/>
            <a:ext cx="64293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F4F6F8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Demographics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3561159" y="1987358"/>
            <a:ext cx="82510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Female, Age 69+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271463" y="2230245"/>
            <a:ext cx="61793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F4F6F8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Revenue</a:t>
            </a:r>
            <a:endParaRPr lang="en-US" sz="650" dirty="0"/>
          </a:p>
        </p:txBody>
      </p:sp>
      <p:sp>
        <p:nvSpPr>
          <p:cNvPr id="24" name="Text 21"/>
          <p:cNvSpPr/>
          <p:nvPr/>
        </p:nvSpPr>
        <p:spPr>
          <a:xfrm>
            <a:off x="3914775" y="2230245"/>
            <a:ext cx="47148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3D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$658,053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271463" y="2473133"/>
            <a:ext cx="46791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F4F6F8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Units</a:t>
            </a:r>
            <a:endParaRPr lang="en-US" sz="650" dirty="0"/>
          </a:p>
        </p:txBody>
      </p:sp>
      <p:sp>
        <p:nvSpPr>
          <p:cNvPr id="26" name="Text 23"/>
          <p:cNvSpPr/>
          <p:nvPr/>
        </p:nvSpPr>
        <p:spPr>
          <a:xfrm>
            <a:off x="4039791" y="2473133"/>
            <a:ext cx="34647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35,222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271463" y="2830320"/>
            <a:ext cx="4114800" cy="2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i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"High-volume, repeat purchasers in the 69+ bracket are the primary revenue anchors. Retention of these individuals is critical to baseline stability."</a:t>
            </a:r>
            <a:endParaRPr lang="en-US" sz="650" dirty="0"/>
          </a:p>
        </p:txBody>
      </p:sp>
      <p:sp>
        <p:nvSpPr>
          <p:cNvPr id="28" name="Shape 25"/>
          <p:cNvSpPr/>
          <p:nvPr/>
        </p:nvSpPr>
        <p:spPr>
          <a:xfrm>
            <a:off x="4629150" y="1108677"/>
            <a:ext cx="4371975" cy="362048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6"/>
          <p:cNvSpPr/>
          <p:nvPr/>
        </p:nvSpPr>
        <p:spPr>
          <a:xfrm>
            <a:off x="4729163" y="1208689"/>
            <a:ext cx="4171950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51024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Payment Method Revenue Mix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729163" y="1440861"/>
            <a:ext cx="4171950" cy="1714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9163" y="1440861"/>
            <a:ext cx="4171950" cy="1714500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4729163" y="3269661"/>
            <a:ext cx="1168952" cy="217884"/>
          </a:xfrm>
          <a:prstGeom prst="rect">
            <a:avLst/>
          </a:prstGeom>
          <a:solidFill>
            <a:srgbClr val="1A6B7C"/>
          </a:solidFill>
          <a:ln/>
        </p:spPr>
      </p:sp>
      <p:sp>
        <p:nvSpPr>
          <p:cNvPr id="33" name="Text 29"/>
          <p:cNvSpPr/>
          <p:nvPr/>
        </p:nvSpPr>
        <p:spPr>
          <a:xfrm>
            <a:off x="4729163" y="3269661"/>
            <a:ext cx="1168952" cy="217884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Payment Method</a:t>
            </a:r>
            <a:endParaRPr lang="en-US" sz="600" dirty="0"/>
          </a:p>
        </p:txBody>
      </p:sp>
      <p:sp>
        <p:nvSpPr>
          <p:cNvPr id="34" name="Shape 30"/>
          <p:cNvSpPr/>
          <p:nvPr/>
        </p:nvSpPr>
        <p:spPr>
          <a:xfrm>
            <a:off x="5898114" y="3269661"/>
            <a:ext cx="1889466" cy="217884"/>
          </a:xfrm>
          <a:prstGeom prst="rect">
            <a:avLst/>
          </a:prstGeom>
          <a:solidFill>
            <a:srgbClr val="1A6B7C"/>
          </a:solidFill>
          <a:ln/>
        </p:spPr>
      </p:sp>
      <p:sp>
        <p:nvSpPr>
          <p:cNvPr id="35" name="Text 31"/>
          <p:cNvSpPr/>
          <p:nvPr/>
        </p:nvSpPr>
        <p:spPr>
          <a:xfrm>
            <a:off x="5898114" y="3269661"/>
            <a:ext cx="1889466" cy="21788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Revenue by Payment Method</a:t>
            </a:r>
            <a:endParaRPr lang="en-US" sz="600" dirty="0"/>
          </a:p>
        </p:txBody>
      </p:sp>
      <p:sp>
        <p:nvSpPr>
          <p:cNvPr id="36" name="Shape 32"/>
          <p:cNvSpPr/>
          <p:nvPr/>
        </p:nvSpPr>
        <p:spPr>
          <a:xfrm>
            <a:off x="7787580" y="3269661"/>
            <a:ext cx="1113532" cy="217884"/>
          </a:xfrm>
          <a:prstGeom prst="rect">
            <a:avLst/>
          </a:prstGeom>
          <a:solidFill>
            <a:srgbClr val="1A6B7C"/>
          </a:solidFill>
          <a:ln/>
        </p:spPr>
      </p:sp>
      <p:sp>
        <p:nvSpPr>
          <p:cNvPr id="37" name="Text 33"/>
          <p:cNvSpPr/>
          <p:nvPr/>
        </p:nvSpPr>
        <p:spPr>
          <a:xfrm>
            <a:off x="7787580" y="3269661"/>
            <a:ext cx="1113532" cy="217884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Count of Orders</a:t>
            </a:r>
            <a:endParaRPr lang="en-US" sz="600" dirty="0"/>
          </a:p>
        </p:txBody>
      </p:sp>
      <p:sp>
        <p:nvSpPr>
          <p:cNvPr id="38" name="Text 34"/>
          <p:cNvSpPr/>
          <p:nvPr/>
        </p:nvSpPr>
        <p:spPr>
          <a:xfrm>
            <a:off x="4729163" y="3487545"/>
            <a:ext cx="1168952" cy="192881"/>
          </a:xfrm>
          <a:prstGeom prst="rect">
            <a:avLst/>
          </a:prstGeom>
          <a:noFill/>
          <a:ln/>
        </p:spPr>
        <p:txBody>
          <a:bodyPr wrap="non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0B21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Cash</a:t>
            </a:r>
            <a:endParaRPr lang="en-US" sz="600" dirty="0"/>
          </a:p>
        </p:txBody>
      </p:sp>
      <p:sp>
        <p:nvSpPr>
          <p:cNvPr id="39" name="Text 35"/>
          <p:cNvSpPr/>
          <p:nvPr/>
        </p:nvSpPr>
        <p:spPr>
          <a:xfrm>
            <a:off x="5898114" y="3487545"/>
            <a:ext cx="1889466" cy="192881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0B21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$15,237,198</a:t>
            </a:r>
            <a:endParaRPr lang="en-US" sz="600" dirty="0"/>
          </a:p>
        </p:txBody>
      </p:sp>
      <p:sp>
        <p:nvSpPr>
          <p:cNvPr id="40" name="Text 36"/>
          <p:cNvSpPr/>
          <p:nvPr/>
        </p:nvSpPr>
        <p:spPr>
          <a:xfrm>
            <a:off x="7787580" y="3487545"/>
            <a:ext cx="1113532" cy="192881"/>
          </a:xfrm>
          <a:prstGeom prst="rect">
            <a:avLst/>
          </a:prstGeom>
          <a:noFill/>
          <a:ln/>
        </p:spPr>
        <p:txBody>
          <a:bodyPr wrap="non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0B21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2,976</a:t>
            </a:r>
            <a:endParaRPr lang="en-US" sz="600" dirty="0"/>
          </a:p>
        </p:txBody>
      </p:sp>
      <p:sp>
        <p:nvSpPr>
          <p:cNvPr id="41" name="Text 37"/>
          <p:cNvSpPr/>
          <p:nvPr/>
        </p:nvSpPr>
        <p:spPr>
          <a:xfrm>
            <a:off x="4729163" y="3680427"/>
            <a:ext cx="1168952" cy="196453"/>
          </a:xfrm>
          <a:prstGeom prst="rect">
            <a:avLst/>
          </a:prstGeom>
          <a:noFill/>
          <a:ln/>
        </p:spPr>
        <p:txBody>
          <a:bodyPr wrap="non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0B21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Payment</a:t>
            </a:r>
            <a:endParaRPr lang="en-US" sz="600" dirty="0"/>
          </a:p>
        </p:txBody>
      </p:sp>
      <p:sp>
        <p:nvSpPr>
          <p:cNvPr id="42" name="Text 38"/>
          <p:cNvSpPr/>
          <p:nvPr/>
        </p:nvSpPr>
        <p:spPr>
          <a:xfrm>
            <a:off x="5898114" y="3680427"/>
            <a:ext cx="1889466" cy="196453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0B21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$15,461,629</a:t>
            </a:r>
            <a:endParaRPr lang="en-US" sz="600" dirty="0"/>
          </a:p>
        </p:txBody>
      </p:sp>
      <p:sp>
        <p:nvSpPr>
          <p:cNvPr id="43" name="Text 39"/>
          <p:cNvSpPr/>
          <p:nvPr/>
        </p:nvSpPr>
        <p:spPr>
          <a:xfrm>
            <a:off x="7787580" y="3680427"/>
            <a:ext cx="1113532" cy="196453"/>
          </a:xfrm>
          <a:prstGeom prst="rect">
            <a:avLst/>
          </a:prstGeom>
          <a:noFill/>
          <a:ln/>
        </p:spPr>
        <p:txBody>
          <a:bodyPr wrap="non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0B21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3,038</a:t>
            </a:r>
            <a:endParaRPr lang="en-US" sz="600" dirty="0"/>
          </a:p>
        </p:txBody>
      </p:sp>
      <p:sp>
        <p:nvSpPr>
          <p:cNvPr id="44" name="Text 40"/>
          <p:cNvSpPr/>
          <p:nvPr/>
        </p:nvSpPr>
        <p:spPr>
          <a:xfrm>
            <a:off x="4729163" y="3876880"/>
            <a:ext cx="1168952" cy="196453"/>
          </a:xfrm>
          <a:prstGeom prst="rect">
            <a:avLst/>
          </a:prstGeom>
          <a:noFill/>
          <a:ln/>
        </p:spPr>
        <p:txBody>
          <a:bodyPr wrap="non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0B21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Credit Card</a:t>
            </a:r>
            <a:endParaRPr lang="en-US" sz="600" dirty="0"/>
          </a:p>
        </p:txBody>
      </p:sp>
      <p:sp>
        <p:nvSpPr>
          <p:cNvPr id="45" name="Text 41"/>
          <p:cNvSpPr/>
          <p:nvPr/>
        </p:nvSpPr>
        <p:spPr>
          <a:xfrm>
            <a:off x="5898114" y="3876880"/>
            <a:ext cx="1889466" cy="196453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0B21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$15,248,942</a:t>
            </a:r>
            <a:endParaRPr lang="en-US" sz="600" dirty="0"/>
          </a:p>
        </p:txBody>
      </p:sp>
      <p:sp>
        <p:nvSpPr>
          <p:cNvPr id="46" name="Text 42"/>
          <p:cNvSpPr/>
          <p:nvPr/>
        </p:nvSpPr>
        <p:spPr>
          <a:xfrm>
            <a:off x="7787580" y="3876880"/>
            <a:ext cx="1113532" cy="196453"/>
          </a:xfrm>
          <a:prstGeom prst="rect">
            <a:avLst/>
          </a:prstGeom>
          <a:noFill/>
          <a:ln/>
        </p:spPr>
        <p:txBody>
          <a:bodyPr wrap="non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0B21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2,978</a:t>
            </a:r>
            <a:endParaRPr lang="en-US" sz="600" dirty="0"/>
          </a:p>
        </p:txBody>
      </p:sp>
      <p:sp>
        <p:nvSpPr>
          <p:cNvPr id="47" name="Text 43"/>
          <p:cNvSpPr/>
          <p:nvPr/>
        </p:nvSpPr>
        <p:spPr>
          <a:xfrm>
            <a:off x="4729163" y="4073333"/>
            <a:ext cx="1168952" cy="196453"/>
          </a:xfrm>
          <a:prstGeom prst="rect">
            <a:avLst/>
          </a:prstGeom>
          <a:noFill/>
          <a:ln/>
        </p:spPr>
        <p:txBody>
          <a:bodyPr wrap="non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0B21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Debit Card</a:t>
            </a:r>
            <a:endParaRPr lang="en-US" sz="600" dirty="0"/>
          </a:p>
        </p:txBody>
      </p:sp>
      <p:sp>
        <p:nvSpPr>
          <p:cNvPr id="48" name="Text 44"/>
          <p:cNvSpPr/>
          <p:nvPr/>
        </p:nvSpPr>
        <p:spPr>
          <a:xfrm>
            <a:off x="5898114" y="4073333"/>
            <a:ext cx="1889466" cy="196453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0B21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$15,620,114</a:t>
            </a:r>
            <a:endParaRPr lang="en-US" sz="600" dirty="0"/>
          </a:p>
        </p:txBody>
      </p:sp>
      <p:sp>
        <p:nvSpPr>
          <p:cNvPr id="49" name="Text 45"/>
          <p:cNvSpPr/>
          <p:nvPr/>
        </p:nvSpPr>
        <p:spPr>
          <a:xfrm>
            <a:off x="7787580" y="4073333"/>
            <a:ext cx="1113532" cy="196453"/>
          </a:xfrm>
          <a:prstGeom prst="rect">
            <a:avLst/>
          </a:prstGeom>
          <a:noFill/>
          <a:ln/>
        </p:spPr>
        <p:txBody>
          <a:bodyPr wrap="none" lIns="68072" tIns="51054" rIns="68072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0B21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3,008</a:t>
            </a:r>
            <a:endParaRPr lang="en-US" sz="600" dirty="0"/>
          </a:p>
        </p:txBody>
      </p:sp>
      <p:sp>
        <p:nvSpPr>
          <p:cNvPr id="50" name="Shape 46"/>
          <p:cNvSpPr/>
          <p:nvPr/>
        </p:nvSpPr>
        <p:spPr>
          <a:xfrm>
            <a:off x="142875" y="4814888"/>
            <a:ext cx="8858250" cy="1857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1" name="Shape 47"/>
          <p:cNvSpPr/>
          <p:nvPr/>
        </p:nvSpPr>
        <p:spPr>
          <a:xfrm>
            <a:off x="142875" y="4814888"/>
            <a:ext cx="8858250" cy="7144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53" name="Text 49"/>
          <p:cNvSpPr/>
          <p:nvPr/>
        </p:nvSpPr>
        <p:spPr>
          <a:xfrm>
            <a:off x="8740378" y="4907756"/>
            <a:ext cx="260747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8</a:t>
            </a:r>
            <a:endParaRPr lang="en-US" sz="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875" y="142875"/>
            <a:ext cx="8858250" cy="16497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142875" y="142875"/>
            <a:ext cx="35719" cy="164976"/>
          </a:xfrm>
          <a:prstGeom prst="rect">
            <a:avLst/>
          </a:prstGeom>
          <a:solidFill>
            <a:srgbClr val="A3D827"/>
          </a:solidFill>
          <a:ln/>
        </p:spPr>
      </p:sp>
      <p:sp>
        <p:nvSpPr>
          <p:cNvPr id="5" name="Text 2"/>
          <p:cNvSpPr/>
          <p:nvPr/>
        </p:nvSpPr>
        <p:spPr>
          <a:xfrm>
            <a:off x="142875" y="142875"/>
            <a:ext cx="8858250" cy="164976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1100" b="1" dirty="0">
                <a:solidFill>
                  <a:srgbClr val="051024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Executive Summary: High-Margin Product Optimization and Territorial Expansion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142875" y="393576"/>
            <a:ext cx="8858250" cy="514350"/>
          </a:xfrm>
          <a:prstGeom prst="rect">
            <a:avLst/>
          </a:prstGeom>
          <a:solidFill>
            <a:srgbClr val="0B1D36"/>
          </a:solidFill>
          <a:ln/>
        </p:spPr>
      </p:sp>
      <p:sp>
        <p:nvSpPr>
          <p:cNvPr id="7" name="Text 4"/>
          <p:cNvSpPr/>
          <p:nvPr/>
        </p:nvSpPr>
        <p:spPr>
          <a:xfrm>
            <a:off x="285750" y="507876"/>
            <a:ext cx="200918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3D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$61.6M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85750" y="700757"/>
            <a:ext cx="2009180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50" kern="0" spc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Q3 REVENUE</a:t>
            </a:r>
            <a:endParaRPr lang="en-US" sz="550" dirty="0"/>
          </a:p>
        </p:txBody>
      </p:sp>
      <p:sp>
        <p:nvSpPr>
          <p:cNvPr id="9" name="Text 6"/>
          <p:cNvSpPr/>
          <p:nvPr/>
        </p:nvSpPr>
        <p:spPr>
          <a:xfrm>
            <a:off x="2473523" y="507876"/>
            <a:ext cx="200918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3D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43.5%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473523" y="700757"/>
            <a:ext cx="2009180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50" kern="0" spc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PORTFOLIO MARGIN</a:t>
            </a:r>
            <a:endParaRPr lang="en-US" sz="550" dirty="0"/>
          </a:p>
        </p:txBody>
      </p:sp>
      <p:sp>
        <p:nvSpPr>
          <p:cNvPr id="11" name="Text 8"/>
          <p:cNvSpPr/>
          <p:nvPr/>
        </p:nvSpPr>
        <p:spPr>
          <a:xfrm>
            <a:off x="4661297" y="507876"/>
            <a:ext cx="200918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3D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Unibic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661297" y="700757"/>
            <a:ext cx="2009180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50" kern="0" spc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FLAGSHIP BRAND</a:t>
            </a:r>
            <a:endParaRPr lang="en-US" sz="550" dirty="0"/>
          </a:p>
        </p:txBody>
      </p:sp>
      <p:sp>
        <p:nvSpPr>
          <p:cNvPr id="13" name="Text 10"/>
          <p:cNvSpPr/>
          <p:nvPr/>
        </p:nvSpPr>
        <p:spPr>
          <a:xfrm>
            <a:off x="6849070" y="507876"/>
            <a:ext cx="200918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3D8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San Antonio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849070" y="700757"/>
            <a:ext cx="2009180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50" kern="0" spc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ANCHOR</a:t>
            </a:r>
            <a:endParaRPr lang="en-US" sz="550" dirty="0"/>
          </a:p>
        </p:txBody>
      </p:sp>
      <p:sp>
        <p:nvSpPr>
          <p:cNvPr id="15" name="Shape 12"/>
          <p:cNvSpPr/>
          <p:nvPr/>
        </p:nvSpPr>
        <p:spPr>
          <a:xfrm>
            <a:off x="142875" y="1007938"/>
            <a:ext cx="2895563" cy="2965549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14313" y="1079376"/>
            <a:ext cx="2752688" cy="153591"/>
          </a:xfrm>
          <a:prstGeom prst="rect">
            <a:avLst/>
          </a:prstGeom>
          <a:noFill/>
          <a:ln/>
        </p:spPr>
        <p:txBody>
          <a:bodyPr wrap="square" lIns="0" tIns="0" rIns="0" bIns="34036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B1D36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Revenue By Brand</a:t>
            </a:r>
            <a:endParaRPr lang="en-US" sz="6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313" y="1290117"/>
            <a:ext cx="2752688" cy="261193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3124163" y="1007938"/>
            <a:ext cx="2895619" cy="2965549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195600" y="1079376"/>
            <a:ext cx="2752744" cy="153591"/>
          </a:xfrm>
          <a:prstGeom prst="rect">
            <a:avLst/>
          </a:prstGeom>
          <a:noFill/>
          <a:ln/>
        </p:spPr>
        <p:txBody>
          <a:bodyPr wrap="square" lIns="0" tIns="0" rIns="0" bIns="34036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B1D36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Revenue by Gender</a:t>
            </a:r>
            <a:endParaRPr lang="en-US" sz="65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5600" y="1290117"/>
            <a:ext cx="2752744" cy="2611934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105506" y="1007938"/>
            <a:ext cx="2895619" cy="2965549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176944" y="1079376"/>
            <a:ext cx="2752744" cy="153591"/>
          </a:xfrm>
          <a:prstGeom prst="rect">
            <a:avLst/>
          </a:prstGeom>
          <a:noFill/>
          <a:ln/>
        </p:spPr>
        <p:txBody>
          <a:bodyPr wrap="square" lIns="0" tIns="0" rIns="0" bIns="34036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B1D36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Revenue by Location</a:t>
            </a:r>
            <a:endParaRPr lang="en-US" sz="65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6944" y="1290117"/>
            <a:ext cx="2752744" cy="2611934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142875" y="4059213"/>
            <a:ext cx="8858250" cy="698525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5" name="Shape 19"/>
          <p:cNvSpPr/>
          <p:nvPr/>
        </p:nvSpPr>
        <p:spPr>
          <a:xfrm>
            <a:off x="142875" y="4059213"/>
            <a:ext cx="8858250" cy="21431"/>
          </a:xfrm>
          <a:prstGeom prst="rect">
            <a:avLst/>
          </a:prstGeom>
          <a:solidFill>
            <a:srgbClr val="1A6B7C"/>
          </a:solidFill>
          <a:ln/>
        </p:spPr>
      </p:sp>
      <p:sp>
        <p:nvSpPr>
          <p:cNvPr id="26" name="Text 20"/>
          <p:cNvSpPr/>
          <p:nvPr/>
        </p:nvSpPr>
        <p:spPr>
          <a:xfrm>
            <a:off x="228600" y="4166369"/>
            <a:ext cx="281938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B1D36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1. Product Strategy</a:t>
            </a:r>
            <a:endParaRPr lang="en-US" sz="700" dirty="0"/>
          </a:p>
        </p:txBody>
      </p:sp>
      <p:sp>
        <p:nvSpPr>
          <p:cNvPr id="27" name="Text 21"/>
          <p:cNvSpPr/>
          <p:nvPr/>
        </p:nvSpPr>
        <p:spPr>
          <a:xfrm>
            <a:off x="228600" y="4337819"/>
            <a:ext cx="2819381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 and expand Unibic, the clear leader. Use Little Hearts volume to build profitable bundles and review lower-margin brands.</a:t>
            </a:r>
            <a:endParaRPr lang="en-US" sz="600" dirty="0"/>
          </a:p>
        </p:txBody>
      </p:sp>
      <p:sp>
        <p:nvSpPr>
          <p:cNvPr id="28" name="Text 22"/>
          <p:cNvSpPr/>
          <p:nvPr/>
        </p:nvSpPr>
        <p:spPr>
          <a:xfrm>
            <a:off x="3162281" y="4166369"/>
            <a:ext cx="281938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B1D36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2. Market Strategy</a:t>
            </a:r>
            <a:endParaRPr lang="en-US" sz="700" dirty="0"/>
          </a:p>
        </p:txBody>
      </p:sp>
      <p:sp>
        <p:nvSpPr>
          <p:cNvPr id="29" name="Text 23"/>
          <p:cNvSpPr/>
          <p:nvPr/>
        </p:nvSpPr>
        <p:spPr>
          <a:xfrm>
            <a:off x="3162281" y="4337819"/>
            <a:ext cx="2819381" cy="334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 and expand San Antonio. Study Los Angeles and Dallas for pricing or product mix practices; investigate Houston costs and discounts.</a:t>
            </a:r>
            <a:endParaRPr lang="en-US" sz="600" dirty="0"/>
          </a:p>
        </p:txBody>
      </p:sp>
      <p:sp>
        <p:nvSpPr>
          <p:cNvPr id="30" name="Text 24"/>
          <p:cNvSpPr/>
          <p:nvPr/>
        </p:nvSpPr>
        <p:spPr>
          <a:xfrm>
            <a:off x="6095963" y="4166369"/>
            <a:ext cx="281938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B1D36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3. Demographic Strategy</a:t>
            </a:r>
            <a:endParaRPr lang="en-US" sz="700" dirty="0"/>
          </a:p>
        </p:txBody>
      </p:sp>
      <p:sp>
        <p:nvSpPr>
          <p:cNvPr id="31" name="Text 25"/>
          <p:cNvSpPr/>
          <p:nvPr/>
        </p:nvSpPr>
        <p:spPr>
          <a:xfrm>
            <a:off x="6095963" y="4337819"/>
            <a:ext cx="2819381" cy="334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Prioritize the 69+ high-value segment and review payment preferences by Gender and Age Group before launching targeted campaigns.</a:t>
            </a:r>
            <a:endParaRPr lang="en-US" sz="600" dirty="0"/>
          </a:p>
        </p:txBody>
      </p:sp>
      <p:sp>
        <p:nvSpPr>
          <p:cNvPr id="32" name="Shape 26"/>
          <p:cNvSpPr/>
          <p:nvPr/>
        </p:nvSpPr>
        <p:spPr>
          <a:xfrm>
            <a:off x="142875" y="4829175"/>
            <a:ext cx="885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3" name="Shape 27"/>
          <p:cNvSpPr/>
          <p:nvPr/>
        </p:nvSpPr>
        <p:spPr>
          <a:xfrm>
            <a:off x="142875" y="4829175"/>
            <a:ext cx="885825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Text 29"/>
          <p:cNvSpPr/>
          <p:nvPr/>
        </p:nvSpPr>
        <p:spPr>
          <a:xfrm>
            <a:off x="8740378" y="4907756"/>
            <a:ext cx="260747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9</a:t>
            </a:r>
            <a:endParaRPr lang="en-US" sz="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0CFD07-C6AF-653A-E15F-8EBE7B576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406"/>
            <a:ext cx="9144000" cy="493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88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1520</Words>
  <Application>Microsoft Office PowerPoint</Application>
  <PresentationFormat>On-screen Show (16:9)</PresentationFormat>
  <Paragraphs>462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Inter</vt:lpstr>
      <vt:lpstr>Inter Bold</vt:lpstr>
      <vt:lpstr>Inter SemiBold</vt:lpstr>
      <vt:lpstr>Merriweather Bold</vt:lpstr>
      <vt:lpstr>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Guru Vignesh</cp:lastModifiedBy>
  <cp:revision>2</cp:revision>
  <dcterms:created xsi:type="dcterms:W3CDTF">2026-09-30T17:51:52Z</dcterms:created>
  <dcterms:modified xsi:type="dcterms:W3CDTF">2026-09-30T17:59:01Z</dcterms:modified>
</cp:coreProperties>
</file>